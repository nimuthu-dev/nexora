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8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308" r:id="rId22"/>
    <p:sldId id="309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1"/>
    <p:restoredTop sz="96405"/>
  </p:normalViewPr>
  <p:slideViewPr>
    <p:cSldViewPr snapToGrid="0" showGuides="1">
      <p:cViewPr varScale="1">
        <p:scale>
          <a:sx n="126" d="100"/>
          <a:sy n="126" d="100"/>
        </p:scale>
        <p:origin x="888" y="200"/>
      </p:cViewPr>
      <p:guideLst>
        <p:guide orient="horz" pos="2160"/>
        <p:guide pos="5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CBB9B-FF7A-5E44-8EC7-6A99ECB7B45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ECC75-709D-C94D-B84D-52B86A3F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51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80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39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09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59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83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0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96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5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17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8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45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71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94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13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802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90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64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500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876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384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147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240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972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508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646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447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076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244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836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376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276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742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594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048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679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708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736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435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242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299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650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373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921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494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916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255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816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ECC75-709D-C94D-B84D-52B86A3F5EE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24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1E20-05F8-B9A8-3CD9-25303A42A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E5FB4-EAF5-F40D-B8A4-15F1E6434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5A3BB-F672-DAC5-809D-2A6C6F50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5BCC-EE85-6542-9AD8-20E8F21EE2F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3CC49-6269-373B-7BB0-039AAADC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B116-E7A4-5890-CB00-9D587BBE4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0AB1-DC0D-5F40-ABDD-05355D3A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EE55D-E640-9A87-4581-115A1819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18CFA-0287-EA36-4788-A01F6075F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DF34D-D137-4459-ECEF-DFF3F8DF4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5BCC-EE85-6542-9AD8-20E8F21EE2F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2E8F7-9FCD-C36C-690A-64B918F21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A5BE4-F734-F557-B842-5650FE5E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0AB1-DC0D-5F40-ABDD-05355D3A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3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D370C-B3C1-DE4E-26C0-AB1E6E54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6CFF4-0F23-295C-0B7C-6F3415B00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A36BC-562C-437E-C669-4E6024F5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5BCC-EE85-6542-9AD8-20E8F21EE2F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A3973-F80A-A68D-160E-66563A62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81F1E-7B3E-B220-55F6-C8258B94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0AB1-DC0D-5F40-ABDD-05355D3A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50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EEBD-D348-1E06-6927-87E75864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84C9B-667E-7EB4-D946-09FB75217C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97D4B-BF7F-8416-527D-FBE80E6AA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F59B5-A2A6-A409-4772-BE6351398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5BCC-EE85-6542-9AD8-20E8F21EE2F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6AD7F-28B9-16D6-B0DB-0E0078200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5903E-7D5F-5543-5321-E16A2C87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0AB1-DC0D-5F40-ABDD-05355D3A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78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D729-6E6B-09DF-F313-FCF9325B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2D55D-2C56-945F-BA18-D306818CD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AA7F7-B308-402C-7665-E9B027A3D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02D26D-E528-CD21-A564-77C08AF342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4C207-BCEC-53EF-D2E2-CB75EDF6F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016781-E853-E7F6-6BC9-F6C18AFB6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5BCC-EE85-6542-9AD8-20E8F21EE2F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B1991A-F1AA-45EE-590B-37AE4B97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71F546-E560-17B3-7B8A-0CEA64F4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0AB1-DC0D-5F40-ABDD-05355D3A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74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8CF0-D9FA-AFAA-F00F-831AF521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2DFB-A583-56A4-D2F6-0CA2D1F9A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5BCC-EE85-6542-9AD8-20E8F21EE2F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16C3C-2238-504A-1A98-763CB16B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C186A-6449-3DA8-6842-9711C602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0AB1-DC0D-5F40-ABDD-05355D3A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34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74BA78-3683-71C9-FA94-A2E6663E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5BCC-EE85-6542-9AD8-20E8F21EE2F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78A232-5D00-0B13-8A3F-40FA09833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01A52-C1CB-2F76-051E-97E14AF4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0AB1-DC0D-5F40-ABDD-05355D3A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05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1257-24CA-0297-AA17-6EC758754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F2796-1ABC-AE9A-8EF2-9DDDE241E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5E69A9-F100-B402-7F84-6230A8C5A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CC353-0241-873E-1934-BE8F9204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5BCC-EE85-6542-9AD8-20E8F21EE2F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92246-C39E-A650-09EE-23873BD3D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3D7A3-B6A1-22A7-4A62-F474D6406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0AB1-DC0D-5F40-ABDD-05355D3A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0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5CAF-36AA-EF43-5929-7EA653FC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C9BFE-81A9-044A-FF15-6C35D6DF79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08927-6F87-21E4-7C84-B9D5AE2BE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31D41-AA94-7EE0-E682-D666DFA1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5BCC-EE85-6542-9AD8-20E8F21EE2F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8BF56-4599-2CEE-41A2-60D4B26C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FE589-154A-D12A-1030-B4A62E5D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0AB1-DC0D-5F40-ABDD-05355D3A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75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3C81-5921-CFEE-F987-67AACC05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9A044-CFBB-05AE-276C-C4C746946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E59BB-2C09-9BD0-DBAE-46AFC733A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5BCC-EE85-6542-9AD8-20E8F21EE2F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DDE15-DBC4-F2B8-4428-68ED2E6D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0B7FD-3E61-FBC6-F03A-2D3C59512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0AB1-DC0D-5F40-ABDD-05355D3A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5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30189-F3CB-1A93-7850-C36D8D8E23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1A32F-F8A8-B12A-E8F4-700078712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9153B-0DAD-7BDE-E852-187028EF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5BCC-EE85-6542-9AD8-20E8F21EE2F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D20E-A940-E0C6-79DA-E530F29D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ACF9F-3BCA-90D0-DF8B-B9F6A028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0AB1-DC0D-5F40-ABDD-05355D3A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62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56DE6-6EA2-544D-10FC-4F3EB9E85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47225-650A-667C-AD5B-5F804836B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F3BE5-B64B-6B50-E4BF-0368BEE6E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B5BCC-EE85-6542-9AD8-20E8F21EE2F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AB45E-0DD8-5DC8-41CF-93D4831A6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3BDB7-29DC-BA1C-2551-8D20CC2F9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50AB1-DC0D-5F40-ABDD-05355D3A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4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D60B2D-B34E-04EC-5F15-37E4C5EDF44E}"/>
              </a:ext>
            </a:extLst>
          </p:cNvPr>
          <p:cNvSpPr txBox="1"/>
          <p:nvPr/>
        </p:nvSpPr>
        <p:spPr>
          <a:xfrm>
            <a:off x="852311" y="1524380"/>
            <a:ext cx="10289821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</a:rPr>
              <a:t>As well as holding dynamic content as a single variable we can group our related variables together.</a:t>
            </a:r>
          </a:p>
          <a:p>
            <a:endParaRPr lang="en-GB" sz="2400" dirty="0"/>
          </a:p>
          <a:p>
            <a:r>
              <a:rPr lang="en-GB" sz="2400" dirty="0">
                <a:effectLst/>
              </a:rPr>
              <a:t>This allows us to store and manage our data more efficiently.</a:t>
            </a:r>
          </a:p>
          <a:p>
            <a:endParaRPr lang="en-GB" sz="2400" dirty="0"/>
          </a:p>
          <a:p>
            <a:r>
              <a:rPr lang="en-GB" sz="2400" dirty="0">
                <a:effectLst/>
              </a:rPr>
              <a:t>In Python the primary data types for storing groups of related variables are..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</a:rPr>
              <a:t>Lists - for when we want to access and modify our variables dynamically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Tuples – for when we stored data  to be protected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Dictionaries – When we want to store data values with an accompanying ‘key’</a:t>
            </a:r>
          </a:p>
          <a:p>
            <a:endParaRPr lang="en-GB" sz="2400" dirty="0"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E004E-ED76-593F-58F7-04B69DBD1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4COSC001W: Lecture Week 7 </a:t>
            </a:r>
            <a:br>
              <a:rPr lang="en-US" sz="2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Lists, Tuples, Dictionaries</a:t>
            </a:r>
            <a:br>
              <a:rPr lang="en-GB" sz="2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90082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63600" y="1462416"/>
            <a:ext cx="9895840" cy="310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Lists are used to store multiple items in a single variable.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Each value has its index (starting at zero) and can appear in the list multiple times.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list is defined as a comma-separated list of values, enclosed in square brackets: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ourierNew"/>
              </a:rPr>
              <a:t>x =[18, 20, 25, 29, 31] </a:t>
            </a:r>
            <a:endParaRPr lang="en-GB" sz="2400" dirty="0"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D9AA2-7ED5-9B10-03A4-BB54C0F31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40" y="29400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0191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 indexing (1)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63600" y="1175048"/>
            <a:ext cx="98958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CourierNew"/>
              </a:rPr>
              <a:t>x =[18, 20, 25, 29, 31] </a:t>
            </a:r>
            <a:endParaRPr lang="en-GB" sz="2400" dirty="0">
              <a:solidFill>
                <a:srgbClr val="3D3D3D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access the list elements use indices. The first element has index zero, the second one has index 1, etc.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ourierNew"/>
              </a:rPr>
              <a:t>print(x[0]) </a:t>
            </a:r>
            <a:r>
              <a:rPr lang="en-GB" sz="2400" dirty="0">
                <a:solidFill>
                  <a:srgbClr val="3551A5"/>
                </a:solidFill>
                <a:effectLst/>
                <a:latin typeface="CourierNew"/>
              </a:rPr>
              <a:t>#18 </a:t>
            </a:r>
          </a:p>
          <a:p>
            <a:r>
              <a:rPr lang="en-GB" sz="2400" dirty="0">
                <a:effectLst/>
                <a:latin typeface="CourierNew"/>
              </a:rPr>
              <a:t>print(x[1]) </a:t>
            </a:r>
            <a:r>
              <a:rPr lang="en-GB" sz="2400" dirty="0">
                <a:solidFill>
                  <a:srgbClr val="3551A5"/>
                </a:solidFill>
                <a:effectLst/>
                <a:latin typeface="CourierNew"/>
              </a:rPr>
              <a:t>#20</a:t>
            </a:r>
          </a:p>
          <a:p>
            <a:br>
              <a:rPr lang="en-GB" sz="2400" dirty="0">
                <a:solidFill>
                  <a:srgbClr val="3551A5"/>
                </a:solidFill>
                <a:effectLst/>
                <a:latin typeface="CourierNew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Negative indices: -1 to access the last element, -2 for the • the second-to-last element, and so on.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ourierNew"/>
              </a:rPr>
              <a:t>print(x[-1]) </a:t>
            </a:r>
            <a:r>
              <a:rPr lang="en-GB" sz="2400" dirty="0">
                <a:solidFill>
                  <a:srgbClr val="3551A5"/>
                </a:solidFill>
                <a:effectLst/>
                <a:latin typeface="CourierNew"/>
              </a:rPr>
              <a:t>#31 </a:t>
            </a:r>
          </a:p>
          <a:p>
            <a:r>
              <a:rPr lang="en-GB" sz="2400" dirty="0">
                <a:effectLst/>
                <a:latin typeface="CourierNew"/>
              </a:rPr>
              <a:t>print(x[-2]) </a:t>
            </a:r>
            <a:r>
              <a:rPr lang="en-GB" sz="2400" dirty="0">
                <a:solidFill>
                  <a:srgbClr val="3551A5"/>
                </a:solidFill>
                <a:effectLst/>
                <a:latin typeface="CourierNew"/>
              </a:rPr>
              <a:t>#29 </a:t>
            </a:r>
          </a:p>
          <a:p>
            <a:endParaRPr lang="en-GB" sz="2400" dirty="0">
              <a:solidFill>
                <a:srgbClr val="3551A5"/>
              </a:solidFill>
              <a:latin typeface="CourierNew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Indexing a non-existent list element will result in an error. </a:t>
            </a:r>
            <a:r>
              <a:rPr lang="en-GB" sz="2400" dirty="0">
                <a:effectLst/>
                <a:latin typeface="CourierNew"/>
              </a:rPr>
              <a:t>print(x[5]) </a:t>
            </a:r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551A5"/>
                </a:solidFill>
                <a:effectLst/>
                <a:latin typeface="CourierNew"/>
              </a:rPr>
              <a:t>#</a:t>
            </a:r>
            <a:r>
              <a:rPr lang="en-GB" sz="2400" dirty="0" err="1">
                <a:solidFill>
                  <a:srgbClr val="3551A5"/>
                </a:solidFill>
                <a:effectLst/>
                <a:latin typeface="CourierNew"/>
              </a:rPr>
              <a:t>IndexError</a:t>
            </a:r>
            <a:r>
              <a:rPr lang="en-GB" sz="2400" dirty="0">
                <a:solidFill>
                  <a:srgbClr val="3551A5"/>
                </a:solidFill>
                <a:effectLst/>
                <a:latin typeface="CourierNew"/>
              </a:rPr>
              <a:t>: list index out of range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86536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 indexing (2)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63600" y="1330336"/>
            <a:ext cx="8727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CourierNew"/>
              </a:rPr>
              <a:t>x =[18, 20, 25, 29, 31]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same indexing that we have used to read the elements of a list can be used to change them: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GB" sz="2400" dirty="0">
              <a:solidFill>
                <a:srgbClr val="3D3D3D"/>
              </a:solidFill>
              <a:effectLst/>
              <a:latin typeface="Calibri" panose="020F0502020204030204" pitchFamily="34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x[3] = 26 </a:t>
            </a:r>
            <a:endParaRPr lang="en-GB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400" dirty="0">
                <a:effectLst/>
                <a:latin typeface="CourierNew"/>
              </a:rPr>
              <a:t>x[-1] = 33 </a:t>
            </a:r>
          </a:p>
          <a:p>
            <a:r>
              <a:rPr lang="en-GB" sz="2400" dirty="0">
                <a:effectLst/>
                <a:latin typeface="CourierNew"/>
              </a:rPr>
              <a:t>print(x) </a:t>
            </a:r>
          </a:p>
          <a:p>
            <a:r>
              <a:rPr lang="en-GB" sz="2400" dirty="0">
                <a:solidFill>
                  <a:srgbClr val="3551A5"/>
                </a:solidFill>
                <a:effectLst/>
                <a:latin typeface="CourierNew"/>
              </a:rPr>
              <a:t>#[18, 20, 25, 26, 33]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1639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 Elements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63600" y="1330336"/>
            <a:ext cx="87274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some languages the elements of a list have to be of a same type. However, in Python, the list </a:t>
            </a:r>
            <a:r>
              <a:rPr lang="en-GB" sz="2400" i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elements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 be any type.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[10, 20, 30, 40]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['apple', 'pear', 'banana’] </a:t>
            </a:r>
            <a:endParaRPr lang="en-GB" sz="2400" dirty="0">
              <a:solidFill>
                <a:srgbClr val="3D3D3D"/>
              </a:solidFill>
              <a:latin typeface="ArialMT"/>
            </a:endParaRPr>
          </a:p>
          <a:p>
            <a:endParaRPr lang="en-GB" sz="2400" dirty="0">
              <a:solidFill>
                <a:srgbClr val="3D3D3D"/>
              </a:solidFill>
              <a:latin typeface="ArialMT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can be mixed type:</a:t>
            </a:r>
            <a:br>
              <a:rPr lang="en-GB" sz="2400" dirty="0">
                <a:solidFill>
                  <a:srgbClr val="3D3D3D"/>
                </a:solidFill>
                <a:effectLst/>
                <a:latin typeface="Calibri" panose="020F0502020204030204" pitchFamily="34" charset="0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['spam', 2.0, 5, [10, 20]]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alibri" panose="020F0502020204030204" pitchFamily="34" charset="0"/>
              </a:rPr>
              <a:t>A string, a float, an integer, and </a:t>
            </a:r>
            <a:r>
              <a:rPr lang="en-GB" sz="2400" b="1" dirty="0">
                <a:solidFill>
                  <a:srgbClr val="3D3D3D"/>
                </a:solidFill>
                <a:effectLst/>
                <a:latin typeface="Calibri" panose="020F0502020204030204" pitchFamily="34" charset="0"/>
              </a:rPr>
              <a:t>another list </a:t>
            </a:r>
            <a:endParaRPr lang="en-GB" sz="2400" b="1" dirty="0">
              <a:solidFill>
                <a:srgbClr val="3D3D3D"/>
              </a:solidFill>
              <a:latin typeface="ArialMT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alibri" panose="020F0502020204030204" pitchFamily="34" charset="0"/>
              </a:rPr>
              <a:t>Lists inside lists are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known as nested lists.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746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Lists Vs. Strings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02640" y="1330336"/>
            <a:ext cx="109321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Both lists and strings are </a:t>
            </a:r>
            <a:r>
              <a:rPr lang="en-GB" sz="2400" b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sequences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and the [ ] operator is used to access an element in any sequence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There are two differences between lists and strings: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Lists can hold values of any type, whereas strings 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sequences of characters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Strings are </a:t>
            </a:r>
            <a:r>
              <a:rPr lang="en-GB" sz="2400" i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immutable -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 cannot change the characters in the sequence: </a:t>
            </a:r>
          </a:p>
          <a:p>
            <a:endParaRPr lang="en-GB" sz="2400" dirty="0">
              <a:solidFill>
                <a:srgbClr val="3D3D3D"/>
              </a:solidFill>
              <a:effectLst/>
              <a:latin typeface="CourierNew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greeting = "Hello, world!"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greeting[0] = 'J'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 ERROR! </a:t>
            </a:r>
          </a:p>
          <a:p>
            <a:endParaRPr lang="en-GB" sz="2400" dirty="0">
              <a:solidFill>
                <a:srgbClr val="3D3D3D"/>
              </a:solidFill>
              <a:effectLst/>
              <a:latin typeface="ArialMT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Lists are </a:t>
            </a:r>
            <a:r>
              <a:rPr lang="en-GB" sz="2400" i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mutable: </a:t>
            </a:r>
            <a:endParaRPr lang="en-GB" sz="2400" dirty="0">
              <a:solidFill>
                <a:srgbClr val="3D3D3D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numbers = [42, 123]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numbers[1] = 5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 [42, 5] </a:t>
            </a:r>
            <a:endParaRPr lang="en-GB" sz="2400" dirty="0">
              <a:solidFill>
                <a:srgbClr val="3D3D3D"/>
              </a:solidFill>
              <a:effectLst/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2672392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Looping Over the Index Values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02640" y="1330336"/>
            <a:ext cx="109321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can loop through the list items in values by referring to their index number. Use the </a:t>
            </a:r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range()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</a:t>
            </a:r>
            <a:r>
              <a:rPr lang="en-GB" sz="2400" dirty="0" err="1">
                <a:solidFill>
                  <a:srgbClr val="3D3D3D"/>
                </a:solidFill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len</a:t>
            </a:r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()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functions to create the </a:t>
            </a:r>
            <a:r>
              <a:rPr lang="en-GB" sz="2400" dirty="0" err="1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iterable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GB" sz="2400" dirty="0">
              <a:effectLst/>
              <a:latin typeface="CourierNew"/>
            </a:endParaRPr>
          </a:p>
          <a:p>
            <a:r>
              <a:rPr lang="en-GB" sz="2400" dirty="0">
                <a:effectLst/>
                <a:latin typeface="CourierNew"/>
              </a:rPr>
              <a:t>for </a:t>
            </a:r>
            <a:r>
              <a:rPr lang="en-GB" sz="2400" dirty="0" err="1">
                <a:effectLst/>
                <a:latin typeface="CourierNew"/>
              </a:rPr>
              <a:t>i</a:t>
            </a:r>
            <a:r>
              <a:rPr lang="en-GB" sz="2400" dirty="0">
                <a:effectLst/>
                <a:latin typeface="CourierNew"/>
              </a:rPr>
              <a:t> in range(</a:t>
            </a:r>
            <a:r>
              <a:rPr lang="en-GB" sz="2400" dirty="0" err="1">
                <a:effectLst/>
                <a:latin typeface="CourierNew"/>
              </a:rPr>
              <a:t>len</a:t>
            </a:r>
            <a:r>
              <a:rPr lang="en-GB" sz="2400" dirty="0">
                <a:effectLst/>
                <a:latin typeface="CourierNew"/>
              </a:rPr>
              <a:t>(values)): </a:t>
            </a:r>
          </a:p>
          <a:p>
            <a:r>
              <a:rPr lang="en-GB" sz="2400" dirty="0">
                <a:latin typeface="CourierNew"/>
              </a:rPr>
              <a:t>	</a:t>
            </a:r>
            <a:r>
              <a:rPr lang="en-GB" sz="2400" dirty="0">
                <a:effectLst/>
                <a:latin typeface="CourierNew"/>
              </a:rPr>
              <a:t>print(</a:t>
            </a:r>
            <a:r>
              <a:rPr lang="en-GB" sz="2400" dirty="0" err="1">
                <a:effectLst/>
                <a:latin typeface="CourierNew"/>
              </a:rPr>
              <a:t>i</a:t>
            </a:r>
            <a:r>
              <a:rPr lang="en-GB" sz="2400" dirty="0">
                <a:effectLst/>
                <a:latin typeface="CourierNew"/>
              </a:rPr>
              <a:t>, values[</a:t>
            </a:r>
            <a:r>
              <a:rPr lang="en-GB" sz="2400" dirty="0" err="1">
                <a:effectLst/>
                <a:latin typeface="CourierNew"/>
              </a:rPr>
              <a:t>i</a:t>
            </a:r>
            <a:r>
              <a:rPr lang="en-GB" sz="2400" dirty="0">
                <a:effectLst/>
                <a:latin typeface="CourierNew"/>
              </a:rPr>
              <a:t>]) </a:t>
            </a:r>
            <a:endParaRPr lang="en-GB" sz="2400" dirty="0">
              <a:solidFill>
                <a:srgbClr val="3D3D3D"/>
              </a:solidFill>
              <a:effectLst/>
              <a:latin typeface="ArialMT"/>
            </a:endParaRPr>
          </a:p>
          <a:p>
            <a:endParaRPr lang="en-GB" sz="2400" dirty="0">
              <a:solidFill>
                <a:srgbClr val="3D3D3D"/>
              </a:solidFill>
              <a:latin typeface="ArialMT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alibri" panose="020F0502020204030204" pitchFamily="34" charset="0"/>
              </a:rPr>
              <a:t>Or print all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items in the list, one by one: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ourierNew"/>
              </a:rPr>
              <a:t>for element in values : </a:t>
            </a:r>
          </a:p>
          <a:p>
            <a:r>
              <a:rPr lang="en-GB" sz="2400" dirty="0">
                <a:latin typeface="CourierNew"/>
              </a:rPr>
              <a:t>	</a:t>
            </a:r>
            <a:r>
              <a:rPr lang="en-GB" sz="2400" dirty="0">
                <a:effectLst/>
                <a:latin typeface="CourierNew"/>
              </a:rPr>
              <a:t>print(element)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02344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 Operations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02640" y="1330336"/>
            <a:ext cx="10932160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Appending / Extending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Finding an Element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pop() and remove()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Inserting an Element at specific position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Sorting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Copying Lists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Slices of a List </a:t>
            </a:r>
          </a:p>
        </p:txBody>
      </p:sp>
    </p:spTree>
    <p:extLst>
      <p:ext uri="{BB962C8B-B14F-4D97-AF65-F5344CB8AC3E}">
        <p14:creationId xmlns:p14="http://schemas.microsoft.com/office/powerpoint/2010/main" val="2643170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1. Appending / Extending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49295" y="1237026"/>
            <a:ext cx="109321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Add a </a:t>
            </a:r>
            <a:r>
              <a:rPr lang="en-GB" sz="2400" b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single element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the end of a list with </a:t>
            </a:r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append() </a:t>
            </a:r>
          </a:p>
          <a:p>
            <a:endParaRPr lang="en-GB" sz="2400" dirty="0">
              <a:solidFill>
                <a:srgbClr val="3D3D3D"/>
              </a:solidFill>
              <a:latin typeface="Calibri" panose="020F0502020204030204" pitchFamily="34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x = [18, 20, 25]</a:t>
            </a:r>
            <a:br>
              <a:rPr lang="en-GB" sz="2400" dirty="0">
                <a:solidFill>
                  <a:srgbClr val="3D3D3D"/>
                </a:solidFill>
                <a:effectLst/>
                <a:latin typeface="CourierNew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</a:t>
            </a:r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len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(x))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#3</a:t>
            </a:r>
            <a:br>
              <a:rPr lang="en-GB" sz="2400" dirty="0">
                <a:solidFill>
                  <a:srgbClr val="0033CC"/>
                </a:solidFill>
                <a:effectLst/>
                <a:latin typeface="CourierNew"/>
              </a:rPr>
            </a:br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x</a:t>
            </a:r>
            <a:r>
              <a:rPr lang="en-GB" sz="2400" dirty="0" err="1">
                <a:solidFill>
                  <a:srgbClr val="00B0F0"/>
                </a:solidFill>
                <a:effectLst/>
                <a:latin typeface="CourierNew"/>
              </a:rPr>
              <a:t>.</a:t>
            </a:r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append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(29) </a:t>
            </a:r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print(x)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#[18, 20, 25, 29] </a:t>
            </a:r>
          </a:p>
          <a:p>
            <a:r>
              <a:rPr lang="en-GB" sz="2400" dirty="0">
                <a:effectLst/>
                <a:latin typeface="CourierNew"/>
              </a:rPr>
              <a:t>print(</a:t>
            </a:r>
            <a:r>
              <a:rPr lang="en-GB" sz="2400" dirty="0" err="1">
                <a:effectLst/>
                <a:latin typeface="CourierNew"/>
              </a:rPr>
              <a:t>len</a:t>
            </a:r>
            <a:r>
              <a:rPr lang="en-GB" sz="2400" dirty="0">
                <a:effectLst/>
                <a:latin typeface="CourierNew"/>
              </a:rPr>
              <a:t>(x))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#4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append more than one element to the list use</a:t>
            </a:r>
            <a:r>
              <a:rPr lang="en-GB" sz="2400" dirty="0">
                <a:solidFill>
                  <a:srgbClr val="3D3D3D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extend()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x = [18, 20, 25]</a:t>
            </a:r>
            <a:br>
              <a:rPr lang="en-GB" sz="2400" dirty="0">
                <a:solidFill>
                  <a:srgbClr val="3D3D3D"/>
                </a:solidFill>
                <a:effectLst/>
                <a:latin typeface="CourierNew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print(x)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#[18, 20, 25] </a:t>
            </a:r>
          </a:p>
          <a:p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x</a:t>
            </a:r>
            <a:r>
              <a:rPr lang="en-GB" sz="2400" dirty="0" err="1">
                <a:solidFill>
                  <a:srgbClr val="00B0F0"/>
                </a:solidFill>
                <a:effectLst/>
                <a:latin typeface="CourierNew"/>
              </a:rPr>
              <a:t>.</a:t>
            </a:r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extend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([29,31]) </a:t>
            </a:r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print(x)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#[18, 20, 25, 29, 31]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90857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2. Finding an Element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49295" y="1237026"/>
            <a:ext cx="109321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33CC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operator - to know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whether an element is present in a list: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x =[18, 20, 25, 29, 31] </a:t>
            </a:r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print("18 </a:t>
            </a:r>
            <a:r>
              <a:rPr lang="en-GB" sz="2400" b="1" dirty="0">
                <a:solidFill>
                  <a:srgbClr val="3D3D3D"/>
                </a:solidFill>
                <a:effectLst/>
                <a:latin typeface="CourierNew"/>
              </a:rPr>
              <a:t>in 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x?", 18 in x)		</a:t>
            </a:r>
            <a:r>
              <a:rPr lang="en-GB" sz="2000" b="1" dirty="0">
                <a:solidFill>
                  <a:srgbClr val="3D3D3D"/>
                </a:solidFill>
                <a:effectLst/>
                <a:latin typeface="CourierNew"/>
              </a:rPr>
              <a:t>#True </a:t>
            </a:r>
            <a:br>
              <a:rPr lang="en-GB" sz="2400" dirty="0">
                <a:solidFill>
                  <a:srgbClr val="3D3D3D"/>
                </a:solidFill>
                <a:effectLst/>
                <a:latin typeface="CourierNew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print("19 </a:t>
            </a:r>
            <a:r>
              <a:rPr lang="en-GB" sz="2400" b="1" dirty="0">
                <a:solidFill>
                  <a:srgbClr val="3D3D3D"/>
                </a:solidFill>
                <a:effectLst/>
                <a:latin typeface="CourierNew"/>
              </a:rPr>
              <a:t>in 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x?", 19 in x)		</a:t>
            </a:r>
            <a:r>
              <a:rPr lang="en-GB" sz="2000" b="1" dirty="0">
                <a:solidFill>
                  <a:srgbClr val="3D3D3D"/>
                </a:solidFill>
                <a:effectLst/>
                <a:latin typeface="CourierNew"/>
              </a:rPr>
              <a:t>#False </a:t>
            </a:r>
            <a:br>
              <a:rPr lang="en-GB" sz="2400" dirty="0">
                <a:solidFill>
                  <a:srgbClr val="3D3D3D"/>
                </a:solidFill>
                <a:effectLst/>
                <a:latin typeface="CourierNew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print("31 </a:t>
            </a:r>
            <a:r>
              <a:rPr lang="en-GB" sz="2400" b="1" dirty="0">
                <a:solidFill>
                  <a:srgbClr val="3D3D3D"/>
                </a:solidFill>
                <a:effectLst/>
                <a:latin typeface="CourierNew"/>
              </a:rPr>
              <a:t>in 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x?", 31 in x)		</a:t>
            </a:r>
            <a:r>
              <a:rPr lang="en-GB" sz="2000" b="1" dirty="0">
                <a:solidFill>
                  <a:srgbClr val="3D3D3D"/>
                </a:solidFill>
                <a:effectLst/>
                <a:latin typeface="CourierNew"/>
              </a:rPr>
              <a:t>#True </a:t>
            </a:r>
            <a:br>
              <a:rPr lang="en-GB" sz="2400" dirty="0">
                <a:solidFill>
                  <a:srgbClr val="3D3D3D"/>
                </a:solidFill>
                <a:effectLst/>
                <a:latin typeface="CourierNew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print("31 </a:t>
            </a:r>
            <a:r>
              <a:rPr lang="en-GB" sz="2400" b="1" dirty="0">
                <a:solidFill>
                  <a:srgbClr val="3D3D3D"/>
                </a:solidFill>
                <a:effectLst/>
                <a:latin typeface="CourierNew"/>
              </a:rPr>
              <a:t>not in 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x?", 31 not in x) </a:t>
            </a:r>
            <a:r>
              <a:rPr lang="en-GB" sz="2000" b="1" dirty="0">
                <a:solidFill>
                  <a:srgbClr val="3D3D3D"/>
                </a:solidFill>
                <a:effectLst/>
                <a:latin typeface="CourierNew"/>
              </a:rPr>
              <a:t>#False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 the index() method to know the </a:t>
            </a:r>
            <a:r>
              <a:rPr lang="en-GB" sz="2400" dirty="0">
                <a:solidFill>
                  <a:srgbClr val="0033CC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position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which an element occurs . Y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ields the index of the </a:t>
            </a:r>
            <a:r>
              <a:rPr lang="en-GB" sz="2400" b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first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match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print("Index of 18:", </a:t>
            </a:r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x.index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(18)) # 0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print("Index of 25:", </a:t>
            </a:r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x.index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(25)) # 2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19837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Self Check Question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49294" y="1237026"/>
            <a:ext cx="991418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following code would cause an error: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x =[18, 20, 25, 29, 31]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print("Index of 35:", </a:t>
            </a:r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x.index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(35))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# </a:t>
            </a:r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ValueError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: 35 is not in list </a:t>
            </a:r>
            <a:endParaRPr lang="en-GB" sz="2400" dirty="0">
              <a:solidFill>
                <a:srgbClr val="3D3D3D"/>
              </a:solidFill>
              <a:latin typeface="ArialMT"/>
            </a:endParaRPr>
          </a:p>
          <a:p>
            <a:endParaRPr lang="en-GB" sz="2400" dirty="0">
              <a:solidFill>
                <a:srgbClr val="3D3D3D"/>
              </a:solidFill>
              <a:effectLst/>
              <a:latin typeface="ArialMT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additional code could you use to ensure that an error is not displayed?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928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3. pop( ) and remove( )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49295" y="1237026"/>
            <a:ext cx="102116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pop()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removes the element at a given position (if you know the index of the element.)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pop()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with an empty parameter will remove the last element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q = ['a', 'b', 'c', 'd’] </a:t>
            </a:r>
          </a:p>
          <a:p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q.pop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(1)</a:t>
            </a:r>
            <a:br>
              <a:rPr lang="en-GB" sz="2400" dirty="0">
                <a:solidFill>
                  <a:srgbClr val="3D3D3D"/>
                </a:solidFill>
                <a:effectLst/>
                <a:latin typeface="CourierNew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print(q)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 ['a', 'c’, 'd’] </a:t>
            </a:r>
          </a:p>
          <a:p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q.pop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() </a:t>
            </a:r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print(q)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 ['a', 'c’]</a:t>
            </a:r>
          </a:p>
          <a:p>
            <a:br>
              <a:rPr lang="en-GB" sz="2400" dirty="0">
                <a:solidFill>
                  <a:srgbClr val="0033CC"/>
                </a:solidFill>
                <a:effectLst/>
                <a:latin typeface="CourierNew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remove()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if you do not know the index, this will remove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first matching element.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q = ['a', 'b', 'c', 'd’] </a:t>
            </a:r>
          </a:p>
          <a:p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q.remove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('b’)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print(q)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 ['a', 'c’, 'd’]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32801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3. pop( ) review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49294" y="1237026"/>
            <a:ext cx="99141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printed by the following?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 err="1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[4, 2, 8, 6, 5] </a:t>
            </a:r>
          </a:p>
          <a:p>
            <a:r>
              <a:rPr lang="en-GB" sz="2400" dirty="0" err="1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alist.pop</a:t>
            </a:r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(2) </a:t>
            </a:r>
          </a:p>
          <a:p>
            <a:r>
              <a:rPr lang="en-GB" sz="2400" dirty="0" err="1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alist.pop</a:t>
            </a:r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GB" sz="2400" dirty="0" err="1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GB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27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4. Insert an Element at specific position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177C3-6D53-92B4-4D44-A219A0546A0D}"/>
              </a:ext>
            </a:extLst>
          </p:cNvPr>
          <p:cNvSpPr txBox="1"/>
          <p:nvPr/>
        </p:nvSpPr>
        <p:spPr>
          <a:xfrm>
            <a:off x="849294" y="1237026"/>
            <a:ext cx="1058070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Sometimes the order in which elements are added to a list is important</a:t>
            </a:r>
            <a:b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new element has to be </a:t>
            </a:r>
            <a:r>
              <a:rPr lang="en-GB" sz="2400" dirty="0">
                <a:solidFill>
                  <a:srgbClr val="0033CC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inserted at a specific position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the list: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#1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friends = ["Harry", "Emily", "Bob", "Cari"] </a:t>
            </a:r>
            <a:endParaRPr lang="en-GB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2400" dirty="0"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</a:endParaRPr>
          </a:p>
          <a:p>
            <a:endParaRPr lang="en-GB" sz="2400" dirty="0">
              <a:effectLst/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</a:endParaRPr>
          </a:p>
          <a:p>
            <a:endParaRPr lang="en-GB" sz="2400" dirty="0"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</a:endParaRPr>
          </a:p>
          <a:p>
            <a:endParaRPr lang="en-GB" sz="2400" dirty="0">
              <a:effectLst/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</a:endParaRPr>
          </a:p>
          <a:p>
            <a:endParaRPr lang="en-GB" sz="2400" dirty="0">
              <a:effectLst/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</a:endParaRPr>
          </a:p>
          <a:p>
            <a:endParaRPr lang="en-GB" sz="2400" dirty="0"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</a:endParaRPr>
          </a:p>
          <a:p>
            <a:endParaRPr lang="en-GB" sz="2400" dirty="0">
              <a:effectLst/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#2 </a:t>
            </a:r>
          </a:p>
          <a:p>
            <a:r>
              <a:rPr lang="en-GB" sz="2400" dirty="0" err="1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friends.</a:t>
            </a:r>
            <a:r>
              <a:rPr lang="en-GB" sz="2400" dirty="0" err="1">
                <a:solidFill>
                  <a:srgbClr val="0033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GB" sz="2400" dirty="0">
                <a:solidFill>
                  <a:srgbClr val="0033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1, "Cindy"</a:t>
            </a:r>
            <a:r>
              <a:rPr lang="en-GB" sz="2400" dirty="0">
                <a:solidFill>
                  <a:srgbClr val="0033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GB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9" name="Picture 8" descr="Example of insert list.">
            <a:extLst>
              <a:ext uri="{FF2B5EF4-FFF2-40B4-BE49-F238E27FC236}">
                <a16:creationId xmlns:a16="http://schemas.microsoft.com/office/drawing/2014/main" id="{11A86702-AF5C-0CAB-4614-15108D3BB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8" y="2836007"/>
            <a:ext cx="4192616" cy="1923562"/>
          </a:xfrm>
          <a:prstGeom prst="rect">
            <a:avLst/>
          </a:prstGeom>
        </p:spPr>
      </p:pic>
      <p:pic>
        <p:nvPicPr>
          <p:cNvPr id="10" name="Picture 9" descr="Example of insert list.">
            <a:extLst>
              <a:ext uri="{FF2B5EF4-FFF2-40B4-BE49-F238E27FC236}">
                <a16:creationId xmlns:a16="http://schemas.microsoft.com/office/drawing/2014/main" id="{47C23BEC-63B1-99E7-C816-E51F7F07F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031" y="4583498"/>
            <a:ext cx="5715000" cy="166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19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5. Sorting Lists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73479"/>
            <a:ext cx="102814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sort( )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 sorts a list of numbers or strings. It modifies the list.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values = [1, 16, 9, 4]</a:t>
            </a:r>
            <a:br>
              <a:rPr lang="en-GB" sz="2400" dirty="0">
                <a:solidFill>
                  <a:srgbClr val="3D3D3D"/>
                </a:solidFill>
                <a:effectLst/>
                <a:latin typeface="CourierNew"/>
              </a:rPr>
            </a:br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values</a:t>
            </a:r>
            <a:r>
              <a:rPr lang="en-GB" sz="2400" dirty="0" err="1">
                <a:effectLst/>
                <a:latin typeface="CourierNew"/>
              </a:rPr>
              <a:t>.sort</a:t>
            </a:r>
            <a:r>
              <a:rPr lang="en-GB" sz="2400" dirty="0">
                <a:effectLst/>
                <a:latin typeface="CourierNew"/>
              </a:rPr>
              <a:t>() 			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#[1, 4 , 9, 16] </a:t>
            </a:r>
          </a:p>
          <a:p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values.sort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(reverse=True)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 descending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print(values) 			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#[16, 9, 4, 1]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sorted( )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 creates </a:t>
            </a:r>
            <a:r>
              <a:rPr lang="en-GB" sz="2400" b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new list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containing a sorted version of the list. The original list is unsorted.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values = [1, 16, 9, 4] </a:t>
            </a:r>
          </a:p>
          <a:p>
            <a:r>
              <a:rPr lang="en-GB" sz="2400" dirty="0">
                <a:effectLst/>
                <a:latin typeface="CourierNew"/>
              </a:rPr>
              <a:t>sorted(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values)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#[1, 4 , 9, 16]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print(values)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#[1, 16, 9, 4]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15079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6. Copying Lists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73479"/>
            <a:ext cx="102814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effectLst/>
                <a:latin typeface="ArialMT"/>
              </a:rPr>
              <a:t>• </a:t>
            </a:r>
            <a:r>
              <a:rPr lang="en-GB" sz="2400" dirty="0">
                <a:solidFill>
                  <a:srgbClr val="3D3D3D"/>
                </a:solidFill>
                <a:effectLst/>
                <a:latin typeface="Calibri" panose="020F0502020204030204" pitchFamily="34" charset="0"/>
              </a:rPr>
              <a:t>List variables do not themselves hold list elements </a:t>
            </a:r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ArialMT"/>
              </a:rPr>
              <a:t>• </a:t>
            </a:r>
            <a:r>
              <a:rPr lang="en-GB" sz="2400" dirty="0">
                <a:solidFill>
                  <a:srgbClr val="3D3D3D"/>
                </a:solidFill>
                <a:effectLst/>
                <a:latin typeface="Calibri" panose="020F0502020204030204" pitchFamily="34" charset="0"/>
              </a:rPr>
              <a:t>They hold a reference to the actual list </a:t>
            </a:r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ArialMT"/>
              </a:rPr>
              <a:t>• </a:t>
            </a:r>
            <a:r>
              <a:rPr lang="en-GB" sz="2400" dirty="0">
                <a:solidFill>
                  <a:srgbClr val="3D3D3D"/>
                </a:solidFill>
                <a:effectLst/>
                <a:latin typeface="Calibri" panose="020F0502020204030204" pitchFamily="34" charset="0"/>
              </a:rPr>
              <a:t>If you copy the reference, you get another reference to the same list: </a:t>
            </a:r>
            <a:endParaRPr lang="en-GB" sz="2400" dirty="0">
              <a:effectLst/>
            </a:endParaRPr>
          </a:p>
          <a:p>
            <a:endParaRPr lang="en-GB" sz="2400" dirty="0">
              <a:solidFill>
                <a:srgbClr val="3D3D3D"/>
              </a:solidFill>
              <a:effectLst/>
              <a:latin typeface="CourierNew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prices = values </a:t>
            </a:r>
            <a:endParaRPr lang="en-GB" sz="2400" dirty="0">
              <a:effectLst/>
            </a:endParaRPr>
          </a:p>
        </p:txBody>
      </p:sp>
      <p:pic>
        <p:nvPicPr>
          <p:cNvPr id="2" name="Picture 1" descr="Example of copy a list.">
            <a:extLst>
              <a:ext uri="{FF2B5EF4-FFF2-40B4-BE49-F238E27FC236}">
                <a16:creationId xmlns:a16="http://schemas.microsoft.com/office/drawing/2014/main" id="{D3DB9F2E-053A-0D1C-7CCC-2FE8BDCD9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058" y="2714632"/>
            <a:ext cx="6463553" cy="373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904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 Aliases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73479"/>
            <a:ext cx="102814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 you copy a list variable into another, both variables refer to the same list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second variable is an </a:t>
            </a:r>
            <a:r>
              <a:rPr lang="en-GB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alias </a:t>
            </a:r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the first because both variables reference the same list.</a:t>
            </a:r>
          </a:p>
          <a:p>
            <a:endParaRPr lang="en-GB" sz="2400" dirty="0"/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scores = [10, 9, 7, 4, 5] 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values = scores #Copying list reference </a:t>
            </a:r>
            <a:endParaRPr lang="en-GB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 descr="Example of list alias.">
            <a:extLst>
              <a:ext uri="{FF2B5EF4-FFF2-40B4-BE49-F238E27FC236}">
                <a16:creationId xmlns:a16="http://schemas.microsoft.com/office/drawing/2014/main" id="{8497AF43-8D74-E69D-4740-CB35A7EE1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8" y="4079112"/>
            <a:ext cx="7772400" cy="233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99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Modifying Aliased Lists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73479"/>
            <a:ext cx="102814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 can modify the list through either of the variables: </a:t>
            </a:r>
          </a:p>
          <a:p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scores[3] = 10 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print(values[3]) # Prints 10 </a:t>
            </a:r>
            <a:endParaRPr lang="en-GB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Picture 1" descr="Example of list alias.">
            <a:extLst>
              <a:ext uri="{FF2B5EF4-FFF2-40B4-BE49-F238E27FC236}">
                <a16:creationId xmlns:a16="http://schemas.microsoft.com/office/drawing/2014/main" id="{8A6DCC3A-759E-F5AB-AEB6-D325419C8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8" y="3429000"/>
            <a:ext cx="5578792" cy="200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785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6. Copying Lists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73479"/>
            <a:ext cx="102814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Sometimes, you want to make a copy of a list; that is, a new list that has the same elements in the same order as a given list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 the list( ) function: </a:t>
            </a:r>
          </a:p>
          <a:p>
            <a:endParaRPr lang="en-GB" sz="2400" dirty="0"/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prices = list(values) </a:t>
            </a:r>
            <a:endParaRPr lang="en-GB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 descr="Example of list copy.">
            <a:extLst>
              <a:ext uri="{FF2B5EF4-FFF2-40B4-BE49-F238E27FC236}">
                <a16:creationId xmlns:a16="http://schemas.microsoft.com/office/drawing/2014/main" id="{09395B3F-30D0-25AD-F5DB-7DCB8857F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2385622"/>
            <a:ext cx="4201160" cy="394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71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7. Slices of a List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07377"/>
            <a:ext cx="1016030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list of temperatures, one per month: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temp = [18, 21, 24, 33, 39, 40, 39, 36, 30, 22, 18] </a:t>
            </a:r>
          </a:p>
          <a:p>
            <a:endParaRPr lang="en-GB" sz="2400" dirty="0">
              <a:solidFill>
                <a:srgbClr val="3D3D3D"/>
              </a:solidFill>
              <a:latin typeface="ArialMT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obtain temperatures for the third quarter, with index values 6, 7, and 8 use the slice operator: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 err="1">
                <a:solidFill>
                  <a:srgbClr val="3D3D3D"/>
                </a:solidFill>
                <a:effectLst/>
                <a:latin typeface="CourierNew"/>
              </a:rPr>
              <a:t>thirdQuarter</a:t>
            </a: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 = temp[6 : 9] </a:t>
            </a:r>
            <a:endParaRPr lang="en-GB" sz="2400" dirty="0">
              <a:solidFill>
                <a:srgbClr val="3D3D3D"/>
              </a:solidFill>
              <a:latin typeface="ArialMT"/>
            </a:endParaRPr>
          </a:p>
          <a:p>
            <a:endParaRPr lang="en-GB" sz="2400" dirty="0">
              <a:solidFill>
                <a:srgbClr val="3D3D3D"/>
              </a:solidFill>
              <a:effectLst/>
              <a:latin typeface="ArialMT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replace the values in elements 6, 7, and 8:</a:t>
            </a:r>
            <a:br>
              <a:rPr lang="en-GB" sz="2400" dirty="0">
                <a:solidFill>
                  <a:srgbClr val="3D3D3D"/>
                </a:solidFill>
                <a:effectLst/>
                <a:latin typeface="Calibri" panose="020F0502020204030204" pitchFamily="34" charset="0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temp[6 : 9] = [45, 44, 40]</a:t>
            </a:r>
            <a:br>
              <a:rPr lang="en-GB" sz="2400" dirty="0">
                <a:solidFill>
                  <a:srgbClr val="3D3D3D"/>
                </a:solidFill>
                <a:effectLst/>
                <a:latin typeface="CourierNew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# [18, 21, 24, 33, 39, 40, 45, 44, 40, 22, 18]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 </a:t>
            </a:r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Which elements would the following slices obtain? 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temp[ : 6]</a:t>
            </a:r>
            <a:br>
              <a:rPr lang="en-GB" sz="2400" dirty="0">
                <a:solidFill>
                  <a:srgbClr val="3D3D3D"/>
                </a:solidFill>
                <a:effectLst/>
                <a:latin typeface="CourierNew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temp[6 : ]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92323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NESTED LISTS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146417"/>
            <a:ext cx="10401576" cy="556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GB" sz="2400" b="1" dirty="0">
                <a:solidFill>
                  <a:srgbClr val="1F3763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Nested lists</a:t>
            </a:r>
          </a:p>
          <a:p>
            <a:pPr>
              <a:spcBef>
                <a:spcPts val="960"/>
              </a:spcBef>
              <a:spcAft>
                <a:spcPts val="600"/>
              </a:spcAft>
            </a:pPr>
            <a:r>
              <a:rPr lang="en-GB" sz="2400" spc="-1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nested list is a list that appears as an element in another list. In this list, the element with index 3 is a nested list:</a:t>
            </a:r>
          </a:p>
          <a:p>
            <a:pPr>
              <a:spcBef>
                <a:spcPts val="960"/>
              </a:spcBef>
              <a:spcAft>
                <a:spcPts val="600"/>
              </a:spcAft>
            </a:pPr>
            <a:endParaRPr lang="en-GB" sz="2400" spc="-10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Bef>
                <a:spcPts val="960"/>
              </a:spcBef>
              <a:spcAft>
                <a:spcPts val="600"/>
              </a:spcAft>
            </a:pPr>
            <a:r>
              <a:rPr lang="en-GB" sz="2400" spc="-1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we output the element at index 3, we get:</a:t>
            </a:r>
          </a:p>
          <a:p>
            <a:pPr>
              <a:spcBef>
                <a:spcPts val="960"/>
              </a:spcBef>
              <a:spcAft>
                <a:spcPts val="600"/>
              </a:spcAft>
            </a:pPr>
            <a:endParaRPr lang="en-GB" sz="2400" spc="-10" dirty="0">
              <a:solidFill>
                <a:srgbClr val="000000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Bef>
                <a:spcPts val="960"/>
              </a:spcBef>
              <a:spcAft>
                <a:spcPts val="600"/>
              </a:spcAft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extract an element from the nested list:</a:t>
            </a:r>
          </a:p>
          <a:p>
            <a:pPr>
              <a:spcBef>
                <a:spcPts val="960"/>
              </a:spcBef>
              <a:spcAft>
                <a:spcPts val="600"/>
              </a:spcAft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960"/>
              </a:spcBef>
              <a:spcAft>
                <a:spcPts val="600"/>
              </a:spcAft>
            </a:pPr>
            <a:r>
              <a:rPr lang="en-GB" sz="2400" spc="-1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expression gets the 3’th element of </a:t>
            </a:r>
            <a:r>
              <a:rPr lang="en-GB" sz="2400" spc="10" dirty="0">
                <a:solidFill>
                  <a:srgbClr val="333333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nested</a:t>
            </a:r>
            <a:r>
              <a:rPr lang="en-GB" sz="2400" spc="-1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and extracts the 1’th element from it.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Bef>
                <a:spcPts val="960"/>
              </a:spcBef>
              <a:spcAft>
                <a:spcPts val="600"/>
              </a:spcAf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6B5FB41-CC65-F964-13E4-7254C0C5D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2501870"/>
            <a:ext cx="9799320" cy="41549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nested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7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"hello"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2.0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]]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8A92E40-A298-8234-29E4-4E50DABCA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4745251"/>
            <a:ext cx="9781222" cy="41549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nested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])			#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[10, 20]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3845CC9-1EE6-8F26-6241-9CDA7156A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3623102"/>
            <a:ext cx="9781222" cy="41549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nested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			#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20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312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NESTED LISTS Matrices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4DBB50-AD77-934B-DA35-69F73028657C}"/>
              </a:ext>
            </a:extLst>
          </p:cNvPr>
          <p:cNvSpPr txBox="1"/>
          <p:nvPr/>
        </p:nvSpPr>
        <p:spPr>
          <a:xfrm>
            <a:off x="825818" y="1173480"/>
            <a:ext cx="5806439" cy="205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960"/>
              </a:spcBef>
              <a:spcAft>
                <a:spcPts val="600"/>
              </a:spcAft>
            </a:pPr>
            <a:r>
              <a:rPr lang="en-GB" sz="2400" spc="-1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Nested lists are often used to represent matrices. For example, the matrix:</a:t>
            </a:r>
          </a:p>
          <a:p>
            <a:pPr>
              <a:lnSpc>
                <a:spcPct val="107000"/>
              </a:lnSpc>
              <a:spcBef>
                <a:spcPts val="960"/>
              </a:spcBef>
              <a:spcAft>
                <a:spcPts val="600"/>
              </a:spcAft>
            </a:pPr>
            <a:endParaRPr lang="en-GB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07000"/>
              </a:lnSpc>
              <a:spcBef>
                <a:spcPts val="960"/>
              </a:spcBef>
              <a:spcAft>
                <a:spcPts val="600"/>
              </a:spcAft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might be represented as:</a:t>
            </a:r>
          </a:p>
        </p:txBody>
      </p:sp>
      <p:pic>
        <p:nvPicPr>
          <p:cNvPr id="8" name="Picture 7" descr="Example of 2d matrix">
            <a:extLst>
              <a:ext uri="{FF2B5EF4-FFF2-40B4-BE49-F238E27FC236}">
                <a16:creationId xmlns:a16="http://schemas.microsoft.com/office/drawing/2014/main" id="{AE7F10A2-25DC-EBED-C8AB-413F40DDE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441" y="945514"/>
            <a:ext cx="2198370" cy="15690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026C26-4DF2-25FE-79CE-2DC46CF42412}"/>
              </a:ext>
            </a:extLst>
          </p:cNvPr>
          <p:cNvSpPr txBox="1"/>
          <p:nvPr/>
        </p:nvSpPr>
        <p:spPr>
          <a:xfrm>
            <a:off x="4114800" y="2943679"/>
            <a:ext cx="80467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95"/>
              </a:lnSpc>
              <a:spcAft>
                <a:spcPts val="5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GB" sz="2400" b="1" spc="20" dirty="0">
                <a:solidFill>
                  <a:srgbClr val="C65D0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mx </a:t>
            </a:r>
            <a:r>
              <a:rPr lang="en-GB" sz="2400" spc="20" dirty="0">
                <a:solidFill>
                  <a:srgbClr val="66666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[[</a:t>
            </a:r>
            <a:r>
              <a:rPr lang="en-GB" sz="2400" spc="20" dirty="0"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GB" sz="2400" spc="20" dirty="0"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GB" sz="2400" spc="20" dirty="0"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3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], [</a:t>
            </a:r>
            <a:r>
              <a:rPr lang="en-GB" sz="2400" spc="20" dirty="0"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4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GB" sz="2400" spc="20" dirty="0"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GB" sz="2400" spc="20" dirty="0"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6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], [</a:t>
            </a:r>
            <a:r>
              <a:rPr lang="en-GB" sz="2400" spc="20" dirty="0"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7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GB" sz="2400" spc="20" dirty="0"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GB" sz="2400" spc="20" dirty="0"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]]</a:t>
            </a:r>
            <a:endParaRPr lang="en-GB" sz="24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8BCDC0-43F9-8348-F993-732A6A3699A4}"/>
              </a:ext>
            </a:extLst>
          </p:cNvPr>
          <p:cNvSpPr txBox="1"/>
          <p:nvPr/>
        </p:nvSpPr>
        <p:spPr>
          <a:xfrm>
            <a:off x="856298" y="4239549"/>
            <a:ext cx="6096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95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print(mx[</a:t>
            </a:r>
            <a:r>
              <a:rPr lang="en-GB" sz="2400" spc="20" dirty="0"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])		# </a:t>
            </a:r>
            <a:r>
              <a:rPr lang="en-GB" sz="2400" spc="20" dirty="0">
                <a:solidFill>
                  <a:srgbClr val="30303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[4, 5, 6]</a:t>
            </a:r>
            <a:endParaRPr lang="en-GB" sz="24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970339-AE4D-5BCA-A3DB-C0E0D562BBE2}"/>
              </a:ext>
            </a:extLst>
          </p:cNvPr>
          <p:cNvSpPr txBox="1"/>
          <p:nvPr/>
        </p:nvSpPr>
        <p:spPr>
          <a:xfrm>
            <a:off x="871538" y="5214909"/>
            <a:ext cx="6096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95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print(mx[</a:t>
            </a:r>
            <a:r>
              <a:rPr lang="en-GB" sz="2400" spc="20" dirty="0"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][</a:t>
            </a:r>
            <a:r>
              <a:rPr lang="en-GB" sz="2400" spc="20" dirty="0">
                <a:solidFill>
                  <a:srgbClr val="208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lang="en-GB" sz="240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])		# </a:t>
            </a:r>
            <a:r>
              <a:rPr lang="en-GB" sz="2400" spc="20" dirty="0">
                <a:solidFill>
                  <a:srgbClr val="30303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6</a:t>
            </a:r>
            <a:endParaRPr lang="en-GB" sz="24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0C2660-C5DA-68EF-99AA-56A9912166C6}"/>
              </a:ext>
            </a:extLst>
          </p:cNvPr>
          <p:cNvSpPr txBox="1"/>
          <p:nvPr/>
        </p:nvSpPr>
        <p:spPr>
          <a:xfrm>
            <a:off x="841058" y="3307080"/>
            <a:ext cx="10238422" cy="5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960"/>
              </a:spcBef>
              <a:spcAft>
                <a:spcPts val="600"/>
              </a:spcAft>
            </a:pPr>
            <a:r>
              <a:rPr lang="en-GB" sz="2400" spc="10" dirty="0">
                <a:solidFill>
                  <a:srgbClr val="333333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mx</a:t>
            </a:r>
            <a:r>
              <a:rPr lang="en-GB" sz="2400" spc="-1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is a list with three elements, where each element is a row of the matrix. We can select an entire row from the matrix in the usual way: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11F11A-F9FE-55E3-6958-BB59F1645FB9}"/>
              </a:ext>
            </a:extLst>
          </p:cNvPr>
          <p:cNvSpPr txBox="1"/>
          <p:nvPr/>
        </p:nvSpPr>
        <p:spPr>
          <a:xfrm>
            <a:off x="838200" y="4678003"/>
            <a:ext cx="11049000" cy="2257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960"/>
              </a:spcBef>
              <a:spcAft>
                <a:spcPts val="600"/>
              </a:spcAft>
            </a:pPr>
            <a:r>
              <a:rPr lang="en-GB" sz="2400" spc="-1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 we can extract a single element from the matrix using the double-index form:</a:t>
            </a:r>
          </a:p>
          <a:p>
            <a:pPr>
              <a:lnSpc>
                <a:spcPct val="107000"/>
              </a:lnSpc>
              <a:spcBef>
                <a:spcPts val="960"/>
              </a:spcBef>
              <a:spcAft>
                <a:spcPts val="600"/>
              </a:spcAft>
            </a:pPr>
            <a:endParaRPr lang="en-GB" sz="2400" spc="-10" dirty="0">
              <a:solidFill>
                <a:srgbClr val="000000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07000"/>
              </a:lnSpc>
              <a:spcBef>
                <a:spcPts val="960"/>
              </a:spcBef>
              <a:spcAft>
                <a:spcPts val="600"/>
              </a:spcAft>
            </a:pPr>
            <a:r>
              <a:rPr lang="en-GB" sz="2400" spc="-1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first index selects the row, and the second index selects the column.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07000"/>
              </a:lnSpc>
              <a:spcBef>
                <a:spcPts val="960"/>
              </a:spcBef>
              <a:spcAft>
                <a:spcPts val="600"/>
              </a:spcAft>
            </a:pPr>
            <a:endParaRPr lang="en-GB" sz="2400" spc="-10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565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Exercises 1-7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647424" y="1237857"/>
            <a:ext cx="1073685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What will be the output of the following program? </a:t>
            </a:r>
          </a:p>
          <a:p>
            <a:pPr lvl="1"/>
            <a:endParaRPr lang="en-GB" sz="2400" dirty="0">
              <a:solidFill>
                <a:srgbClr val="3D3D3D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endParaRPr lang="en-GB" sz="2400" dirty="0">
              <a:solidFill>
                <a:srgbClr val="3D3D3D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endParaRPr lang="en-GB" sz="2400" dirty="0">
              <a:solidFill>
                <a:srgbClr val="3D3D3D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endParaRPr lang="en-GB" sz="2400" dirty="0">
              <a:solidFill>
                <a:srgbClr val="3D3D3D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endParaRPr lang="en-GB" sz="2400" dirty="0">
              <a:solidFill>
                <a:srgbClr val="3D3D3D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a list "</a:t>
            </a:r>
            <a:r>
              <a:rPr lang="en-GB" sz="2400" dirty="0" err="1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mylist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" containing integers: 1, 2, 3, 4, 5 </a:t>
            </a:r>
          </a:p>
          <a:p>
            <a:pPr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Print the second item in the list. </a:t>
            </a:r>
          </a:p>
          <a:p>
            <a:pPr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Use a negative index to print the second-to-last element. </a:t>
            </a:r>
          </a:p>
          <a:p>
            <a:pPr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Use list slicing to print the second to the fourth item in the list. E.g., [2, 3, 4] </a:t>
            </a:r>
          </a:p>
          <a:p>
            <a:pPr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Replace the first list item with the value 10. </a:t>
            </a:r>
          </a:p>
          <a:p>
            <a:pPr>
              <a:buFont typeface="+mj-lt"/>
              <a:buAutoNum type="arabicPeriod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Append the number 11 to the list. </a:t>
            </a:r>
          </a:p>
          <a:p>
            <a:endParaRPr lang="en-GB" sz="24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752D7-597B-6277-9365-4BDADF19EFE1}"/>
              </a:ext>
            </a:extLst>
          </p:cNvPr>
          <p:cNvSpPr txBox="1"/>
          <p:nvPr/>
        </p:nvSpPr>
        <p:spPr>
          <a:xfrm>
            <a:off x="289560" y="1752660"/>
            <a:ext cx="9022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 	</a:t>
            </a:r>
            <a:r>
              <a:rPr lang="en-GB" sz="2400" dirty="0" err="1">
                <a:solidFill>
                  <a:srgbClr val="3D3D3D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my_list</a:t>
            </a:r>
            <a:r>
              <a:rPr lang="en-GB" sz="2400" dirty="0">
                <a:solidFill>
                  <a:srgbClr val="3D3D3D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 = ["Westminster", [2, 4, 8, 16]] </a:t>
            </a:r>
          </a:p>
          <a:p>
            <a:r>
              <a:rPr lang="en-GB" sz="2400" dirty="0">
                <a:solidFill>
                  <a:srgbClr val="3D3D3D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	print(</a:t>
            </a:r>
            <a:r>
              <a:rPr lang="en-GB" sz="2400" dirty="0" err="1">
                <a:solidFill>
                  <a:srgbClr val="3D3D3D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my_list</a:t>
            </a:r>
            <a:r>
              <a:rPr lang="en-GB" sz="2400" dirty="0">
                <a:solidFill>
                  <a:srgbClr val="3D3D3D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[0]) </a:t>
            </a:r>
          </a:p>
          <a:p>
            <a:r>
              <a:rPr lang="en-GB" sz="2400" dirty="0">
                <a:solidFill>
                  <a:srgbClr val="3D3D3D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	print(</a:t>
            </a:r>
            <a:r>
              <a:rPr lang="en-GB" sz="2400" dirty="0" err="1">
                <a:solidFill>
                  <a:srgbClr val="3D3D3D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my_list</a:t>
            </a:r>
            <a:r>
              <a:rPr lang="en-GB" sz="2400" dirty="0">
                <a:solidFill>
                  <a:srgbClr val="3D3D3D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[0][1]) </a:t>
            </a:r>
          </a:p>
          <a:p>
            <a:r>
              <a:rPr lang="en-GB" sz="2400" dirty="0">
                <a:solidFill>
                  <a:srgbClr val="3D3D3D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	print(</a:t>
            </a:r>
            <a:r>
              <a:rPr lang="en-GB" sz="2400" dirty="0" err="1">
                <a:solidFill>
                  <a:srgbClr val="3D3D3D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my_list</a:t>
            </a:r>
            <a:r>
              <a:rPr lang="en-GB" sz="2400" dirty="0">
                <a:solidFill>
                  <a:srgbClr val="3D3D3D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[1][3])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665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Tuples 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07377"/>
            <a:ext cx="107825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tuple is similar to a list, but once created, its contents cannot be modified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tuple as immutable (unchangeable) version of a list.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tuple is created by specifying its contents as 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comma-separated sequence enclosed in parentheses: </a:t>
            </a:r>
          </a:p>
          <a:p>
            <a:endParaRPr lang="en-GB" sz="2400" dirty="0">
              <a:solidFill>
                <a:srgbClr val="3D3D3D"/>
              </a:solidFill>
              <a:effectLst/>
              <a:latin typeface="CourierNew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triple = (5, 10, 15)</a:t>
            </a: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 </a:t>
            </a:r>
            <a:endParaRPr lang="en-GB" sz="2400" dirty="0">
              <a:solidFill>
                <a:srgbClr val="3D3D3D"/>
              </a:solidFill>
              <a:effectLst/>
              <a:latin typeface="ArialM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you prefer, you can omit the parentheses: </a:t>
            </a:r>
          </a:p>
          <a:p>
            <a:endParaRPr lang="en-GB" sz="2400" dirty="0">
              <a:solidFill>
                <a:srgbClr val="3D3D3D"/>
              </a:solidFill>
              <a:effectLst/>
              <a:latin typeface="CourierNew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triple = 5, 10, 15 </a:t>
            </a:r>
          </a:p>
          <a:p>
            <a:endParaRPr lang="en-GB" sz="2400" dirty="0">
              <a:solidFill>
                <a:srgbClr val="3D3D3D"/>
              </a:solidFill>
              <a:effectLst/>
              <a:latin typeface="ArialM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tuple with one value must have an ending comma: </a:t>
            </a:r>
          </a:p>
          <a:p>
            <a:endParaRPr lang="en-GB" sz="2400" dirty="0">
              <a:solidFill>
                <a:srgbClr val="3D3D3D"/>
              </a:solidFill>
              <a:effectLst/>
              <a:latin typeface="CourierNew"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single = 5, </a:t>
            </a:r>
            <a:endParaRPr lang="en-GB" sz="2400" dirty="0">
              <a:solidFill>
                <a:srgbClr val="3D3D3D"/>
              </a:solidFill>
              <a:effectLst/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4085653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Tuples 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07377"/>
            <a:ext cx="107825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Processing a tuple in the same ways as a list: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 = (17, 13, 19, 23) </a:t>
            </a:r>
          </a:p>
          <a:p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print(</a:t>
            </a:r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[0]) </a:t>
            </a:r>
            <a:r>
              <a:rPr lang="en-GB" sz="2300" dirty="0">
                <a:solidFill>
                  <a:srgbClr val="0033CC"/>
                </a:solidFill>
                <a:effectLst/>
                <a:latin typeface="CourierNew"/>
              </a:rPr>
              <a:t>#17 </a:t>
            </a:r>
          </a:p>
          <a:p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print(</a:t>
            </a:r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[-1]) </a:t>
            </a:r>
            <a:r>
              <a:rPr lang="en-GB" sz="2300" dirty="0">
                <a:solidFill>
                  <a:srgbClr val="0033CC"/>
                </a:solidFill>
                <a:effectLst/>
                <a:latin typeface="CourierNew"/>
              </a:rPr>
              <a:t>#23 </a:t>
            </a:r>
          </a:p>
          <a:p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print(</a:t>
            </a:r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[1:-1]) </a:t>
            </a:r>
            <a:r>
              <a:rPr lang="en-GB" sz="2300" dirty="0">
                <a:solidFill>
                  <a:srgbClr val="0033CC"/>
                </a:solidFill>
                <a:effectLst/>
                <a:latin typeface="CourierNew"/>
              </a:rPr>
              <a:t>#(13, 19) </a:t>
            </a:r>
          </a:p>
          <a:p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print(sorted(</a:t>
            </a:r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)) </a:t>
            </a:r>
            <a:r>
              <a:rPr lang="en-GB" sz="2300" dirty="0">
                <a:solidFill>
                  <a:srgbClr val="0033CC"/>
                </a:solidFill>
                <a:effectLst/>
                <a:latin typeface="CourierNew"/>
              </a:rPr>
              <a:t>#[13, 17, 19, 23] </a:t>
            </a:r>
          </a:p>
          <a:p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print(17 in </a:t>
            </a:r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) </a:t>
            </a:r>
            <a:r>
              <a:rPr lang="en-GB" sz="2300" dirty="0">
                <a:solidFill>
                  <a:srgbClr val="0033CC"/>
                </a:solidFill>
                <a:effectLst/>
                <a:latin typeface="CourierNew"/>
              </a:rPr>
              <a:t># True</a:t>
            </a:r>
          </a:p>
          <a:p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 </a:t>
            </a:r>
            <a:endParaRPr lang="en-GB" sz="2400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However, tuple values are </a:t>
            </a:r>
            <a:r>
              <a:rPr lang="en-GB" sz="2400" b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immutable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This means tuple items cannot be added, removed or replaced.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is useful if you want to store data that you want to remain fixed during a program.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Also, they are faster type than lists for Python to process. </a:t>
            </a:r>
          </a:p>
        </p:txBody>
      </p:sp>
    </p:spTree>
    <p:extLst>
      <p:ext uri="{BB962C8B-B14F-4D97-AF65-F5344CB8AC3E}">
        <p14:creationId xmlns:p14="http://schemas.microsoft.com/office/powerpoint/2010/main" val="1516755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Tuples 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131177"/>
            <a:ext cx="10782576" cy="512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Therefore, the following are not possible: </a:t>
            </a:r>
          </a:p>
          <a:p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[2] = 5 </a:t>
            </a:r>
            <a:r>
              <a:rPr lang="en-GB" sz="2300" dirty="0">
                <a:effectLst/>
                <a:latin typeface="CourierNew"/>
              </a:rPr>
              <a:t># error </a:t>
            </a:r>
            <a:endParaRPr lang="en-GB" sz="2300" dirty="0">
              <a:effectLst/>
            </a:endParaRPr>
          </a:p>
          <a:p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a_tuple.sort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() # error </a:t>
            </a:r>
          </a:p>
          <a:p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a_tuple.extend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([34, 54]) # error </a:t>
            </a:r>
            <a:endParaRPr lang="en-GB" sz="2300" dirty="0">
              <a:effectLst/>
            </a:endParaRPr>
          </a:p>
          <a:p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a_tuple.insert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(1, 39) # error </a:t>
            </a:r>
          </a:p>
          <a:p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a_tuple.append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(400) # error </a:t>
            </a:r>
          </a:p>
          <a:p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a_tuple.pop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() # error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We can convert a tuple to a list:</a:t>
            </a:r>
            <a:br>
              <a:rPr lang="en-GB" sz="2400" dirty="0">
                <a:solidFill>
                  <a:srgbClr val="3D3D3D"/>
                </a:solidFill>
                <a:effectLst/>
                <a:latin typeface="Calibri" panose="020F0502020204030204" pitchFamily="34" charset="0"/>
              </a:rPr>
            </a:b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a = list(</a:t>
            </a:r>
            <a:r>
              <a:rPr lang="en-GB" sz="2300" dirty="0" err="1">
                <a:solidFill>
                  <a:srgbClr val="3D3D3D"/>
                </a:solidFill>
                <a:effectLst/>
                <a:latin typeface="CourierNew"/>
              </a:rPr>
              <a:t>a_tuple</a:t>
            </a: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)</a:t>
            </a:r>
            <a:br>
              <a:rPr lang="en-GB" sz="2300" dirty="0">
                <a:solidFill>
                  <a:srgbClr val="3D3D3D"/>
                </a:solidFill>
                <a:effectLst/>
                <a:latin typeface="CourierNew"/>
              </a:rPr>
            </a:br>
            <a:r>
              <a:rPr lang="en-GB" sz="2300" dirty="0">
                <a:solidFill>
                  <a:srgbClr val="3D3D3D"/>
                </a:solidFill>
                <a:effectLst/>
                <a:latin typeface="CourierNew"/>
              </a:rPr>
              <a:t>print(a) </a:t>
            </a:r>
            <a:r>
              <a:rPr lang="en-GB" sz="2300" dirty="0">
                <a:solidFill>
                  <a:srgbClr val="0033CC"/>
                </a:solidFill>
                <a:effectLst/>
                <a:latin typeface="CourierNew"/>
              </a:rPr>
              <a:t>#[17, 13, 19, 23] </a:t>
            </a:r>
          </a:p>
          <a:p>
            <a:endParaRPr lang="en-GB" sz="2300" dirty="0">
              <a:effectLst/>
            </a:endParaRPr>
          </a:p>
          <a:p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We can convert a list to a tuple:</a:t>
            </a:r>
            <a:br>
              <a:rPr lang="en-GB" sz="2400" dirty="0">
                <a:solidFill>
                  <a:srgbClr val="3D3D3D"/>
                </a:solidFill>
                <a:effectLst/>
                <a:latin typeface="Calibri" panose="020F0502020204030204" pitchFamily="34" charset="0"/>
              </a:rPr>
            </a:br>
            <a:r>
              <a:rPr lang="en-GB" sz="2400" dirty="0">
                <a:solidFill>
                  <a:srgbClr val="3D3D3D"/>
                </a:solidFill>
                <a:effectLst/>
                <a:latin typeface="CourierNew"/>
              </a:rPr>
              <a:t>b = tuple(a) </a:t>
            </a:r>
            <a:r>
              <a:rPr lang="en-GB" sz="2400" dirty="0">
                <a:solidFill>
                  <a:srgbClr val="0033CC"/>
                </a:solidFill>
                <a:effectLst/>
                <a:latin typeface="CourierNew"/>
              </a:rPr>
              <a:t>#(17, 13, 19, 23)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05926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Summary: Lists &amp; Tuples 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131177"/>
            <a:ext cx="1050825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3D3D3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</a:t>
            </a:r>
            <a:r>
              <a:rPr lang="en-GB" sz="2400" b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ists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comma-separated sequence enclosed in square brackets </a:t>
            </a:r>
            <a:r>
              <a:rPr lang="en-GB" sz="2400" b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[]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  <a:r>
              <a:rPr lang="en-GB" sz="2400" b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Mutable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Some built-In list operations: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append()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inserts a new element at the end of the list.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index()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know the position of an element.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pop()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removes an element.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D3D3D"/>
                </a:solidFill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remove()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you know the element but NOT the index.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insert()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insert a new element at a position in a list.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list()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function to copy lists.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b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Tuple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comma-separated sequence enclosed in parentheses</a:t>
            </a:r>
            <a:r>
              <a:rPr lang="en-GB" sz="2400" b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 )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  <a:r>
              <a:rPr lang="en-GB" sz="2400" b="1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Immutable </a:t>
            </a:r>
            <a:r>
              <a:rPr lang="en-GB" sz="2400" dirty="0">
                <a:solidFill>
                  <a:srgbClr val="3D3D3D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useful if you want to store data that you want to remain fixed during the run of a program. Faster processing.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723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131177"/>
            <a:ext cx="105082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Strings, lists, and tuples are sequence types - the items in the collection are ordered from left to right and they use integers as indices to access the values they contain.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Dictionary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Python is a collection of data values.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They map (associate) a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 a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In other languages, they are called </a:t>
            </a:r>
            <a:r>
              <a:rPr lang="en-GB" sz="2400" i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associative arrays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53072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68337"/>
            <a:ext cx="1050825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dictionary to translate English words to Spanish. In this example, both keys and values will be strings.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create dictionary-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 One: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eng2sp = {}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eng2sp["one"] = "uno"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eng2sp["two"] = "dos" </a:t>
            </a:r>
          </a:p>
          <a:p>
            <a:endParaRPr lang="en-GB" sz="2400" dirty="0"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Start with an empty dictionary named eng2sp.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Then add new </a:t>
            </a:r>
            <a:r>
              <a:rPr lang="en-GB" sz="2400" b="1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key:value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pairs to the dictionary. </a:t>
            </a:r>
          </a:p>
        </p:txBody>
      </p:sp>
    </p:spTree>
    <p:extLst>
      <p:ext uri="{BB962C8B-B14F-4D97-AF65-F5344CB8AC3E}">
        <p14:creationId xmlns:p14="http://schemas.microsoft.com/office/powerpoint/2010/main" val="638545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 - Printing / </a:t>
            </a:r>
            <a:r>
              <a:rPr lang="en-US" sz="28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len</a:t>
            </a:r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()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68337"/>
            <a:ext cx="95024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lang="en-GB" sz="2400" dirty="0">
                <a:solidFill>
                  <a:srgbClr val="1CAAE2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Print the current value of the dictionary: </a:t>
            </a:r>
          </a:p>
          <a:p>
            <a:endParaRPr lang="en-GB" sz="2400" dirty="0">
              <a:solidFill>
                <a:srgbClr val="3F3F3F"/>
              </a:solidFill>
              <a:latin typeface="Calibri" panose="020F0502020204030204" pitchFamily="34" charset="0"/>
            </a:endParaRP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print(eng2sp) </a:t>
            </a:r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# {'one': 'uno', 'two': 'dos’} </a:t>
            </a:r>
          </a:p>
          <a:p>
            <a:endParaRPr lang="en-GB" sz="2400" dirty="0">
              <a:solidFill>
                <a:srgbClr val="3F3F3F"/>
              </a:solidFill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</a:t>
            </a:r>
            <a:r>
              <a:rPr lang="en-GB" sz="2400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key:value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pairs are separated by commas.</a:t>
            </a:r>
            <a:b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Each pair contains a key and value separated by a colon.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</a:t>
            </a:r>
            <a:r>
              <a:rPr lang="en-GB" sz="2400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len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() function returns the number of </a:t>
            </a:r>
            <a:r>
              <a:rPr lang="en-GB" sz="2400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key:value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pairs: </a:t>
            </a:r>
          </a:p>
          <a:p>
            <a:endParaRPr lang="en-GB" sz="2400" dirty="0">
              <a:latin typeface="Calibri" panose="020F0502020204030204" pitchFamily="34" charset="0"/>
            </a:endParaRPr>
          </a:p>
          <a:p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len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(eng2sp) # 2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88427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68337"/>
            <a:ext cx="101424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To create dictionary -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 Two:</a:t>
            </a:r>
          </a:p>
          <a:p>
            <a:br>
              <a:rPr lang="en-GB" sz="2400" b="1" dirty="0">
                <a:effectLst/>
                <a:latin typeface="Calibri" panose="020F0502020204030204" pitchFamily="34" charset="0"/>
              </a:rPr>
            </a:br>
            <a:r>
              <a:rPr lang="en-GB" sz="2400" dirty="0">
                <a:effectLst/>
                <a:latin typeface="CourierNewPSMT" panose="02070309020205020404" pitchFamily="49" charset="0"/>
              </a:rPr>
              <a:t>eng2sp = {"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one":"uno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", "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two":"dos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", "three":"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tres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"}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Create list and provide initial list of </a:t>
            </a:r>
            <a:r>
              <a:rPr lang="en-GB" sz="2400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key:value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pairs.</a:t>
            </a:r>
            <a:b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The order of the pairs does not matter – values are accessed with keys,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 not with indices. Using a key to look up the corresponding value: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print(eng2sp["two"]) # dos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92895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 – del statement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68337"/>
            <a:ext cx="1014249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The del statement removes a </a:t>
            </a:r>
            <a:r>
              <a:rPr lang="en-GB" sz="2400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key:value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pair.</a:t>
            </a:r>
            <a:b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E.g., dictionary contains fruits and number of each fruit in stock: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stock = {"apples": 430, "bananas": 312, "pears": 217}</a:t>
            </a:r>
            <a:endParaRPr lang="en-GB" sz="2400" dirty="0"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If all pears are bought - remove the entry from the dictionary: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b="1" dirty="0">
                <a:effectLst/>
                <a:latin typeface="CourierNewPS"/>
              </a:rPr>
              <a:t>del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stock["pears"]</a:t>
            </a:r>
            <a:br>
              <a:rPr lang="en-GB" sz="2400" dirty="0">
                <a:effectLst/>
                <a:latin typeface="CourierNewPSMT" panose="02070309020205020404" pitchFamily="49" charset="0"/>
              </a:rPr>
            </a:br>
            <a:r>
              <a:rPr lang="en-GB" sz="2400" dirty="0">
                <a:effectLst/>
                <a:latin typeface="CourierNewPSMT" panose="02070309020205020404" pitchFamily="49" charset="0"/>
              </a:rPr>
              <a:t>print(stock)</a:t>
            </a:r>
            <a:br>
              <a:rPr lang="en-GB" sz="2400" dirty="0">
                <a:effectLst/>
                <a:latin typeface="CourierNewPSMT" panose="02070309020205020404" pitchFamily="49" charset="0"/>
              </a:rPr>
            </a:br>
            <a:r>
              <a:rPr lang="en-GB" sz="2400" dirty="0">
                <a:effectLst/>
                <a:latin typeface="CourierNewPSMT" panose="02070309020205020404" pitchFamily="49" charset="0"/>
              </a:rPr>
              <a:t># {'apples': 430, 'bananas': 312}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9469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 Are Mutable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68337"/>
            <a:ext cx="1014249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</a:t>
            </a:r>
            <a:r>
              <a:rPr lang="en-GB" sz="2400" i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like </a:t>
            </a:r>
            <a:r>
              <a:rPr lang="en-GB" sz="2400" i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lists –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are both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mutable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To change a value:</a:t>
            </a:r>
          </a:p>
          <a:p>
            <a:endParaRPr lang="en-GB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stock["pears"] = 0</a:t>
            </a:r>
            <a:br>
              <a:rPr lang="en-GB" sz="2400" dirty="0">
                <a:effectLst/>
                <a:latin typeface="CourierNewPSMT" panose="02070309020205020404" pitchFamily="49" charset="0"/>
              </a:rPr>
            </a:br>
            <a:r>
              <a:rPr lang="en-GB" sz="2400" dirty="0">
                <a:effectLst/>
                <a:latin typeface="CourierNewPSMT" panose="02070309020205020404" pitchFamily="49" charset="0"/>
              </a:rPr>
              <a:t>print(stock)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# {'apples': 430, 'bananas': 312, 'pears': 0} </a:t>
            </a:r>
          </a:p>
          <a:p>
            <a:endParaRPr lang="en-GB" sz="2400" dirty="0">
              <a:latin typeface="CourierNewPSMT" panose="02070309020205020404" pitchFamily="49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A new shipment of bananas could be handled like this: </a:t>
            </a:r>
          </a:p>
          <a:p>
            <a:endParaRPr lang="en-GB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stock["bananas"] += 200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print(stock)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# {'apples': 430, 'bananas': </a:t>
            </a:r>
            <a:r>
              <a:rPr lang="en-GB" sz="2400" b="1" dirty="0">
                <a:effectLst/>
                <a:latin typeface="CourierNewPS"/>
              </a:rPr>
              <a:t>512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, 'pears': 0}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43637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 Key / Value Rules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68337"/>
            <a:ext cx="101424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Dictionary Keys:</a:t>
            </a:r>
            <a:b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•Must be unique</a:t>
            </a:r>
            <a:b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•Of </a:t>
            </a:r>
            <a:r>
              <a:rPr lang="en-GB" sz="2400" i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immutable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data type such as Strings, Integers and tuples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Dictionary Values:</a:t>
            </a:r>
            <a:b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•May contain repeating values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•Can be of any type </a:t>
            </a:r>
          </a:p>
        </p:txBody>
      </p:sp>
    </p:spTree>
    <p:extLst>
      <p:ext uri="{BB962C8B-B14F-4D97-AF65-F5344CB8AC3E}">
        <p14:creationId xmlns:p14="http://schemas.microsoft.com/office/powerpoint/2010/main" val="25150066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Revision: Questions 1&amp;2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1FB1E-470B-D589-5528-05480AD29322}"/>
              </a:ext>
            </a:extLst>
          </p:cNvPr>
          <p:cNvSpPr txBox="1"/>
          <p:nvPr/>
        </p:nvSpPr>
        <p:spPr>
          <a:xfrm>
            <a:off x="845544" y="1268337"/>
            <a:ext cx="101424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 1 - What is printed? </a:t>
            </a:r>
            <a:endParaRPr lang="en-GB" sz="2400" dirty="0">
              <a:solidFill>
                <a:srgbClr val="3F3F3F"/>
              </a:solidFill>
              <a:latin typeface="CourierNewPSMT" panose="02070309020205020404" pitchFamily="49" charset="0"/>
            </a:endParaRPr>
          </a:p>
          <a:p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 = {"cat":12, "dog":6, "elephant":23} print(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["dog"]) </a:t>
            </a:r>
          </a:p>
          <a:p>
            <a:endParaRPr lang="en-GB" sz="2400" dirty="0">
              <a:solidFill>
                <a:srgbClr val="3F3F3F"/>
              </a:solidFill>
              <a:effectLst/>
              <a:latin typeface="Calibri" panose="020F0502020204030204" pitchFamily="34" charset="0"/>
            </a:endParaRP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A) True 	B) 6 		C) dog : 6 		D) Error </a:t>
            </a:r>
            <a:endParaRPr lang="en-GB" sz="2400" dirty="0">
              <a:effectLst/>
            </a:endParaRPr>
          </a:p>
          <a:p>
            <a:endParaRPr lang="en-GB" sz="2400" dirty="0">
              <a:solidFill>
                <a:srgbClr val="3F3F3F"/>
              </a:solidFill>
              <a:effectLst/>
              <a:latin typeface="CourierNewPSMT" panose="02070309020205020404" pitchFamily="49" charset="0"/>
            </a:endParaRPr>
          </a:p>
          <a:p>
            <a:r>
              <a:rPr lang="en-GB" sz="2400" b="1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 2 - What is printed? </a:t>
            </a:r>
            <a:endParaRPr lang="en-GB" sz="2400" dirty="0">
              <a:solidFill>
                <a:srgbClr val="3F3F3F"/>
              </a:solidFill>
              <a:effectLst/>
              <a:latin typeface="CourierNewPSMT" panose="02070309020205020404" pitchFamily="49" charset="0"/>
            </a:endParaRPr>
          </a:p>
          <a:p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 = {"cat":12, "dog":6, "elephant":23} 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["mouse"] = 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["cat"] + 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["dog"] print(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["mouse"]) </a:t>
            </a:r>
          </a:p>
          <a:p>
            <a:endParaRPr lang="en-GB" sz="2400" dirty="0">
              <a:solidFill>
                <a:srgbClr val="3F3F3F"/>
              </a:solidFill>
              <a:effectLst/>
              <a:latin typeface="Calibri" panose="020F0502020204030204" pitchFamily="34" charset="0"/>
            </a:endParaRP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A) 12 		B) 0 		C) 18 		D) Error – no mouse key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3262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Dictionary methods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" name="Picture 1" descr="Table of dictionary methods">
            <a:extLst>
              <a:ext uri="{FF2B5EF4-FFF2-40B4-BE49-F238E27FC236}">
                <a16:creationId xmlns:a16="http://schemas.microsoft.com/office/drawing/2014/main" id="{7BEA1E76-A536-AABF-D20D-7A90EB04B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7" y="1373464"/>
            <a:ext cx="9476897" cy="382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5964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Dictionary method: keys()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838200" y="1421398"/>
            <a:ext cx="99364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keys() returns a </a:t>
            </a:r>
            <a:r>
              <a:rPr lang="en-GB" sz="2400" b="1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view </a:t>
            </a:r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its underlying keys. Iterating over the view: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eng2sp = {"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one":"uno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", "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two":"dos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", "three":"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tres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"} </a:t>
            </a:r>
            <a:endParaRPr lang="en-GB" sz="2400" dirty="0">
              <a:solidFill>
                <a:srgbClr val="3F3F3F"/>
              </a:solidFill>
              <a:latin typeface="CourierNewPSMT" panose="02070309020205020404" pitchFamily="49" charset="0"/>
            </a:endParaRPr>
          </a:p>
          <a:p>
            <a:endParaRPr lang="en-GB" sz="2400" b="1" dirty="0">
              <a:solidFill>
                <a:srgbClr val="3F3F3F"/>
              </a:solidFill>
              <a:latin typeface="CourierNewPSMT" panose="02070309020205020404" pitchFamily="49" charset="0"/>
            </a:endParaRPr>
          </a:p>
          <a:p>
            <a:r>
              <a:rPr lang="en-GB" sz="2400" b="1" dirty="0">
                <a:solidFill>
                  <a:srgbClr val="3F3F3F"/>
                </a:solidFill>
                <a:effectLst/>
                <a:latin typeface="CourierNewPS"/>
              </a:rPr>
              <a:t>for 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k </a:t>
            </a:r>
            <a:r>
              <a:rPr lang="en-GB" sz="2400" b="1" dirty="0">
                <a:solidFill>
                  <a:srgbClr val="3F3F3F"/>
                </a:solidFill>
                <a:effectLst/>
                <a:latin typeface="CourierNewPS"/>
              </a:rPr>
              <a:t>in 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eng2sp.</a:t>
            </a:r>
            <a:r>
              <a:rPr lang="en-GB" sz="2400" b="1" dirty="0">
                <a:solidFill>
                  <a:srgbClr val="3F3F3F"/>
                </a:solidFill>
                <a:effectLst/>
                <a:latin typeface="CourierNewPS"/>
              </a:rPr>
              <a:t>keys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(): </a:t>
            </a:r>
            <a:endParaRPr lang="en-GB" sz="2400" dirty="0">
              <a:effectLst/>
            </a:endParaRP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	print("Got key", k, "maps to value", eng2sp[k])</a:t>
            </a:r>
          </a:p>
          <a:p>
            <a:endParaRPr lang="en-GB" sz="2400" dirty="0">
              <a:solidFill>
                <a:srgbClr val="3F3F3F"/>
              </a:solidFill>
              <a:latin typeface="CourierNewPSMT" panose="02070309020205020404" pitchFamily="49" charset="0"/>
            </a:endParaRP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Output:</a:t>
            </a:r>
          </a:p>
          <a:p>
            <a:pPr lvl="1"/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Got key one maps to value uno </a:t>
            </a:r>
          </a:p>
          <a:p>
            <a:pPr lvl="1"/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Got key two maps to value dos </a:t>
            </a:r>
          </a:p>
          <a:p>
            <a:pPr lvl="1"/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Got key three maps to value </a:t>
            </a:r>
            <a:r>
              <a:rPr lang="en-GB" sz="2400" dirty="0" err="1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tres</a:t>
            </a:r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819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Dictionary method: keys()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838200" y="1421398"/>
            <a:ext cx="99364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We can turn the view into a list by using the list conversion function. </a:t>
            </a:r>
          </a:p>
          <a:p>
            <a:endParaRPr lang="en-GB" sz="2400" dirty="0">
              <a:latin typeface="Calibri" panose="020F0502020204030204" pitchFamily="34" charset="0"/>
            </a:endParaRPr>
          </a:p>
          <a:p>
            <a:r>
              <a:rPr lang="en-GB" sz="2400" dirty="0" err="1">
                <a:effectLst/>
                <a:latin typeface="CourierNewPSMT" panose="02070309020205020404" pitchFamily="49" charset="0"/>
              </a:rPr>
              <a:t>ks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 = list(eng2sp.</a:t>
            </a:r>
            <a:r>
              <a:rPr lang="en-GB" sz="2400" b="1" dirty="0">
                <a:effectLst/>
                <a:latin typeface="CourierNewPS"/>
              </a:rPr>
              <a:t>keys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())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print(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ks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)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#['one', 'two', 'three’] </a:t>
            </a:r>
          </a:p>
          <a:p>
            <a:endParaRPr lang="en-GB" sz="2400" dirty="0"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We can omit the keys method call in the for loop — iterating over a dictionary implicitly iterates over its keys: </a:t>
            </a:r>
          </a:p>
          <a:p>
            <a:endParaRPr lang="en-GB" sz="2400" dirty="0">
              <a:effectLst/>
            </a:endParaRPr>
          </a:p>
          <a:p>
            <a:r>
              <a:rPr lang="en-GB" sz="2400" b="1" dirty="0">
                <a:effectLst/>
                <a:latin typeface="CourierNewPS"/>
              </a:rPr>
              <a:t>for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k </a:t>
            </a:r>
            <a:r>
              <a:rPr lang="en-GB" sz="2400" b="1" dirty="0">
                <a:effectLst/>
                <a:latin typeface="CourierNewPS"/>
              </a:rPr>
              <a:t>in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eng2sp: </a:t>
            </a:r>
          </a:p>
          <a:p>
            <a:r>
              <a:rPr lang="en-GB" sz="2400" dirty="0">
                <a:latin typeface="CourierNewPSMT" panose="02070309020205020404" pitchFamily="49" charset="0"/>
              </a:rPr>
              <a:t>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print("Got key", k)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702580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Dictionary method: values()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838200" y="1421398"/>
            <a:ext cx="72999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The values method is similar; it returns a view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 which can be turned into a list: </a:t>
            </a:r>
          </a:p>
          <a:p>
            <a:endParaRPr lang="en-GB" sz="2400" dirty="0">
              <a:effectLst/>
            </a:endParaRPr>
          </a:p>
          <a:p>
            <a:r>
              <a:rPr lang="en-GB" sz="2400" b="1" dirty="0">
                <a:effectLst/>
                <a:latin typeface="CourierNewPS"/>
              </a:rPr>
              <a:t>list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(eng2sp.</a:t>
            </a:r>
            <a:r>
              <a:rPr lang="en-GB" sz="2400" b="1" dirty="0">
                <a:effectLst/>
                <a:latin typeface="CourierNewPS"/>
              </a:rPr>
              <a:t>values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())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#['uno', 'dos', '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tres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']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790589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Dictionary method: items()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838200" y="1421398"/>
            <a:ext cx="101803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Method items() returns a list of tuples, one tuple for each </a:t>
            </a:r>
            <a:r>
              <a:rPr lang="en-GB" sz="2400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key:value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alibri" panose="020F0502020204030204" pitchFamily="34" charset="0"/>
              </a:rPr>
              <a:t>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list(eng2sp.items())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#[('one', 'uno'), ('two', 'dos'), ('three', '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tres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’)] </a:t>
            </a:r>
          </a:p>
          <a:p>
            <a:endParaRPr lang="en-GB" sz="2400" dirty="0"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ArialMT"/>
              </a:rPr>
              <a:t>• </a:t>
            </a:r>
            <a:r>
              <a:rPr lang="en-GB" sz="2400" dirty="0">
                <a:effectLst/>
                <a:latin typeface="Calibri" panose="020F0502020204030204" pitchFamily="34" charset="0"/>
              </a:rPr>
              <a:t>Tuples are useful for getting both the key and the value while looping: </a:t>
            </a:r>
          </a:p>
          <a:p>
            <a:endParaRPr lang="en-GB" sz="2400" b="1" dirty="0">
              <a:latin typeface="Calibri" panose="020F0502020204030204" pitchFamily="34" charset="0"/>
            </a:endParaRPr>
          </a:p>
          <a:p>
            <a:r>
              <a:rPr lang="en-GB" sz="2400" b="1" dirty="0">
                <a:effectLst/>
                <a:latin typeface="CourierNewPS"/>
              </a:rPr>
              <a:t>for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(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k,v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) </a:t>
            </a:r>
            <a:r>
              <a:rPr lang="en-GB" sz="2400" b="1" dirty="0">
                <a:effectLst/>
                <a:latin typeface="CourierNewPS"/>
              </a:rPr>
              <a:t>in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eng2sp.items():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	print("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Got",k,"that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 maps 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to",v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) </a:t>
            </a:r>
          </a:p>
          <a:p>
            <a:endParaRPr lang="en-GB" sz="2400" dirty="0"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Calibri" panose="020F0502020204030204" pitchFamily="34" charset="0"/>
              </a:rPr>
              <a:t>Output: 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Got one that maps to uno </a:t>
            </a:r>
          </a:p>
          <a:p>
            <a:r>
              <a:rPr lang="en-GB" sz="2400" dirty="0">
                <a:latin typeface="CourierNewPSMT" panose="02070309020205020404" pitchFamily="49" charset="0"/>
              </a:rPr>
              <a:t>	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Got two that maps to dos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		Got three that maps to 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tres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295602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Dictionary operators: in/not in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838200" y="1421398"/>
            <a:ext cx="104698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 in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 test if a key is in the dictionary: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"one" </a:t>
            </a:r>
            <a:r>
              <a:rPr lang="en-GB" sz="2400" b="1" dirty="0">
                <a:effectLst/>
                <a:latin typeface="CourierNewPS"/>
              </a:rPr>
              <a:t>in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eng2sp # True</a:t>
            </a:r>
            <a:br>
              <a:rPr lang="en-GB" sz="2400" dirty="0">
                <a:effectLst/>
                <a:latin typeface="CourierNewPSMT" panose="02070309020205020404" pitchFamily="49" charset="0"/>
              </a:rPr>
            </a:br>
            <a:r>
              <a:rPr lang="en-GB" sz="2400" dirty="0">
                <a:effectLst/>
                <a:latin typeface="CourierNewPSMT" panose="02070309020205020404" pitchFamily="49" charset="0"/>
              </a:rPr>
              <a:t>"six" </a:t>
            </a:r>
            <a:r>
              <a:rPr lang="en-GB" sz="2400" b="1" dirty="0">
                <a:effectLst/>
                <a:latin typeface="CourierNewPS"/>
              </a:rPr>
              <a:t>in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eng2sp # False</a:t>
            </a:r>
            <a:br>
              <a:rPr lang="en-GB" sz="2400" dirty="0">
                <a:effectLst/>
                <a:latin typeface="CourierNewPSMT" panose="02070309020205020404" pitchFamily="49" charset="0"/>
              </a:rPr>
            </a:br>
            <a:r>
              <a:rPr lang="en-GB" sz="2400" dirty="0">
                <a:effectLst/>
                <a:latin typeface="CourierNewPSMT" panose="02070309020205020404" pitchFamily="49" charset="0"/>
              </a:rPr>
              <a:t>"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tres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" </a:t>
            </a:r>
            <a:r>
              <a:rPr lang="en-GB" sz="2400" b="1" dirty="0">
                <a:effectLst/>
                <a:latin typeface="CourierNewPS"/>
              </a:rPr>
              <a:t>in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eng2sp</a:t>
            </a:r>
            <a:br>
              <a:rPr lang="en-GB" sz="2400" dirty="0">
                <a:effectLst/>
                <a:latin typeface="CourierNewPSMT" panose="02070309020205020404" pitchFamily="49" charset="0"/>
              </a:rPr>
            </a:br>
            <a:r>
              <a:rPr lang="en-GB" sz="2400" i="1" dirty="0">
                <a:effectLst/>
                <a:latin typeface="CourierNewPS"/>
              </a:rPr>
              <a:t>#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False 'in' tests keys, not values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Useful, since looking up a non-existent key in a dictionary causes an error. </a:t>
            </a:r>
          </a:p>
        </p:txBody>
      </p:sp>
    </p:spTree>
    <p:extLst>
      <p:ext uri="{BB962C8B-B14F-4D97-AF65-F5344CB8AC3E}">
        <p14:creationId xmlns:p14="http://schemas.microsoft.com/office/powerpoint/2010/main" val="15257172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 – Revision Question 3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838200" y="1421398"/>
            <a:ext cx="104698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 = {"cat":12, "dog":6, "elephant":23, "bear":20} 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keylist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 = list(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mydict.keys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())</a:t>
            </a:r>
            <a:b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</a:b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keylist.sort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()</a:t>
            </a:r>
            <a:b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</a:br>
            <a:r>
              <a:rPr lang="en-GB" sz="2400" b="1" dirty="0">
                <a:solidFill>
                  <a:srgbClr val="3F3F3F"/>
                </a:solidFill>
                <a:effectLst/>
                <a:latin typeface="CourierNewPS"/>
              </a:rPr>
              <a:t>print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(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keylist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[3])</a:t>
            </a: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 </a:t>
            </a:r>
          </a:p>
          <a:p>
            <a:r>
              <a:rPr lang="en-GB" sz="2400" dirty="0">
                <a:solidFill>
                  <a:srgbClr val="3F3F3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printed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indent="-457200">
              <a:buAutoNum type="alphaUcParenR"/>
            </a:pPr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cat 		</a:t>
            </a:r>
          </a:p>
          <a:p>
            <a:pPr marL="457200" indent="-457200">
              <a:buAutoNum type="alphaUcParenR"/>
            </a:pPr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dog </a:t>
            </a:r>
          </a:p>
          <a:p>
            <a:pPr marL="457200" indent="-457200">
              <a:buAutoNum type="alphaUcParenR"/>
            </a:pPr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elephant </a:t>
            </a:r>
          </a:p>
          <a:p>
            <a:pPr marL="457200" indent="-457200">
              <a:buAutoNum type="alphaUcParenR"/>
            </a:pPr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bear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0074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Dictionary method: get()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655320" y="1191955"/>
            <a:ext cx="11353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The get( ) method accesses the value associated with a key.</a:t>
            </a:r>
            <a:b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Similar to the [ ] operator. However, get() will NOT cause an error if the key</a:t>
            </a:r>
          </a:p>
          <a:p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not present - will return None. </a:t>
            </a:r>
          </a:p>
          <a:p>
            <a:endParaRPr lang="en-GB" sz="2400" dirty="0">
              <a:effectLst/>
            </a:endParaRPr>
          </a:p>
          <a:p>
            <a:pPr lvl="1"/>
            <a:r>
              <a:rPr lang="en-GB" sz="2400" dirty="0">
                <a:effectLst/>
                <a:latin typeface="CourierNewPSMT" panose="02070309020205020404" pitchFamily="49" charset="0"/>
              </a:rPr>
              <a:t>stock = {'apples': 430, 'bananas': 312, 'pears': 217} print(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stock.get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("apples")) # 430 </a:t>
            </a:r>
            <a:endParaRPr lang="en-GB" sz="2400" dirty="0">
              <a:effectLst/>
            </a:endParaRPr>
          </a:p>
          <a:p>
            <a:pPr lvl="1"/>
            <a:r>
              <a:rPr lang="en-GB" sz="2400" dirty="0">
                <a:effectLst/>
                <a:latin typeface="CourierNewPSMT" panose="02070309020205020404" pitchFamily="49" charset="0"/>
              </a:rPr>
              <a:t>print(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stock.get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("cherries")) # None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An optional second parameter provides an alternative return value where </a:t>
            </a:r>
            <a:endParaRPr lang="en-GB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the key is not present. E.g., as “cherries” is not a key, return 0 (instead of None). </a:t>
            </a:r>
          </a:p>
          <a:p>
            <a:endParaRPr lang="en-GB" sz="2400" dirty="0">
              <a:effectLst/>
            </a:endParaRPr>
          </a:p>
          <a:p>
            <a:pPr lvl="1"/>
            <a:r>
              <a:rPr lang="en-GB" sz="2400" dirty="0">
                <a:effectLst/>
                <a:latin typeface="CourierNewPSMT" panose="02070309020205020404" pitchFamily="49" charset="0"/>
              </a:rPr>
              <a:t>print(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stock.get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("cherries", 0)) # 0 </a:t>
            </a:r>
          </a:p>
          <a:p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951255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 – Revision Question 4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838200" y="1421398"/>
            <a:ext cx="104698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 = {"cat":12, "dog":6, "elephant":23, "bear":20} answer = 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mydict.get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("cat") + 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mydict.get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("dog") </a:t>
            </a:r>
          </a:p>
          <a:p>
            <a:r>
              <a:rPr lang="en-GB" sz="2400" b="1" dirty="0">
                <a:solidFill>
                  <a:srgbClr val="3F3F3F"/>
                </a:solidFill>
                <a:effectLst/>
                <a:latin typeface="CourierNewPS"/>
              </a:rPr>
              <a:t>print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(answer) </a:t>
            </a:r>
            <a:endParaRPr lang="en-GB" sz="2400" dirty="0">
              <a:effectLst/>
            </a:endParaRPr>
          </a:p>
          <a:p>
            <a:endParaRPr lang="en-GB" sz="2400" dirty="0">
              <a:solidFill>
                <a:srgbClr val="3F3F3F"/>
              </a:solidFill>
              <a:effectLst/>
              <a:latin typeface="Calibri" panose="020F0502020204030204" pitchFamily="34" charset="0"/>
            </a:endParaRPr>
          </a:p>
          <a:p>
            <a:r>
              <a:rPr lang="en-GB" sz="2400" b="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printed?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GB" sz="2400" dirty="0">
              <a:solidFill>
                <a:srgbClr val="3F3F3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A) 126</a:t>
            </a:r>
            <a:b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B) 18</a:t>
            </a:r>
            <a:b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C) </a:t>
            </a:r>
            <a:r>
              <a:rPr lang="en-GB" sz="2400" dirty="0" err="1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catdog</a:t>
            </a:r>
            <a:b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D) Error, + is not a valid on dictionaries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0185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 – Revision Questions 5 &amp; 6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838200" y="1411238"/>
            <a:ext cx="104698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 5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What is printed – True or False?</a:t>
            </a:r>
          </a:p>
          <a:p>
            <a:br>
              <a:rPr lang="en-GB" sz="2400" dirty="0">
                <a:effectLst/>
                <a:latin typeface="Calibri" panose="020F0502020204030204" pitchFamily="34" charset="0"/>
              </a:rPr>
            </a:br>
            <a:r>
              <a:rPr lang="en-GB" sz="2400" dirty="0" err="1"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 = {"cat":12, "dog":6, "elephant":23, "bear":20} </a:t>
            </a:r>
            <a:endParaRPr lang="en-GB" sz="2400" dirty="0">
              <a:effectLst/>
            </a:endParaRPr>
          </a:p>
          <a:p>
            <a:r>
              <a:rPr lang="en-GB" sz="2400" b="1" dirty="0">
                <a:effectLst/>
                <a:latin typeface="CourierNewPS"/>
              </a:rPr>
              <a:t>print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("dog" </a:t>
            </a:r>
            <a:r>
              <a:rPr lang="en-GB" sz="2400" b="1" dirty="0">
                <a:effectLst/>
                <a:latin typeface="CourierNewPS"/>
              </a:rPr>
              <a:t>in 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)</a:t>
            </a:r>
          </a:p>
          <a:p>
            <a:endParaRPr lang="en-GB" sz="2400" dirty="0">
              <a:latin typeface="CourierNewPSMT" panose="02070309020205020404" pitchFamily="49" charset="0"/>
            </a:endParaRPr>
          </a:p>
          <a:p>
            <a:br>
              <a:rPr lang="en-GB" sz="2400" dirty="0">
                <a:effectLst/>
                <a:latin typeface="CourierNewPSMT" panose="02070309020205020404" pitchFamily="49" charset="0"/>
              </a:rPr>
            </a:b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 6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What is printed – True or False?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 err="1"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 = {"cat":12, "dog":6, "elephant":23, "bear":20} </a:t>
            </a:r>
            <a:r>
              <a:rPr lang="en-GB" sz="2400" b="1" dirty="0">
                <a:effectLst/>
                <a:latin typeface="CourierNewPS"/>
              </a:rPr>
              <a:t>print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(23 </a:t>
            </a:r>
            <a:r>
              <a:rPr lang="en-GB" sz="2400" b="1" dirty="0">
                <a:effectLst/>
                <a:latin typeface="CourierNewPS"/>
              </a:rPr>
              <a:t>in 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)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365265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 – Revision Questions 7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838200" y="1345198"/>
            <a:ext cx="104698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total = 0</a:t>
            </a:r>
            <a:b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</a:b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 = {"cat":12, "dog":6, "elephant":23, "bear":20} </a:t>
            </a:r>
          </a:p>
          <a:p>
            <a:endParaRPr lang="en-GB" sz="2400" b="1" dirty="0">
              <a:solidFill>
                <a:srgbClr val="3F3F3F"/>
              </a:solidFill>
              <a:latin typeface="CourierNewPSMT" panose="02070309020205020404" pitchFamily="49" charset="0"/>
            </a:endParaRPr>
          </a:p>
          <a:p>
            <a:r>
              <a:rPr lang="en-GB" sz="2400" b="1" dirty="0">
                <a:solidFill>
                  <a:srgbClr val="3F3F3F"/>
                </a:solidFill>
                <a:effectLst/>
                <a:latin typeface="CourierNewPS"/>
              </a:rPr>
              <a:t>for 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akey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 </a:t>
            </a:r>
            <a:r>
              <a:rPr lang="en-GB" sz="2400" b="1" dirty="0">
                <a:solidFill>
                  <a:srgbClr val="3F3F3F"/>
                </a:solidFill>
                <a:effectLst/>
                <a:latin typeface="CourierNewPS"/>
              </a:rPr>
              <a:t>in 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: </a:t>
            </a:r>
            <a:endParaRPr lang="en-GB" sz="2400" dirty="0">
              <a:effectLst/>
            </a:endParaRPr>
          </a:p>
          <a:p>
            <a:r>
              <a:rPr lang="en-GB" sz="2400" b="1" dirty="0">
                <a:solidFill>
                  <a:srgbClr val="3F3F3F"/>
                </a:solidFill>
                <a:effectLst/>
                <a:latin typeface="CourierNewPS"/>
              </a:rPr>
              <a:t>	if 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len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(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akey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) &gt; 3:</a:t>
            </a:r>
            <a:b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</a:b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		total = total + 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mydict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[</a:t>
            </a:r>
            <a:r>
              <a:rPr lang="en-GB" sz="2400" dirty="0" err="1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akey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] </a:t>
            </a:r>
            <a:endParaRPr lang="en-GB" sz="2400" dirty="0">
              <a:effectLst/>
            </a:endParaRPr>
          </a:p>
          <a:p>
            <a:r>
              <a:rPr lang="en-GB" sz="2400" b="1" dirty="0">
                <a:solidFill>
                  <a:srgbClr val="3F3F3F"/>
                </a:solidFill>
                <a:effectLst/>
                <a:latin typeface="CourierNewPS"/>
              </a:rPr>
              <a:t>print</a:t>
            </a:r>
            <a:r>
              <a:rPr lang="en-GB" sz="2400" dirty="0">
                <a:solidFill>
                  <a:srgbClr val="3F3F3F"/>
                </a:solidFill>
                <a:effectLst/>
                <a:latin typeface="CourierNewPSMT" panose="02070309020205020404" pitchFamily="49" charset="0"/>
              </a:rPr>
              <a:t>(total)</a:t>
            </a:r>
          </a:p>
          <a:p>
            <a:endParaRPr lang="en-GB" sz="2400" dirty="0">
              <a:solidFill>
                <a:srgbClr val="3F3F3F"/>
              </a:solidFill>
              <a:latin typeface="CourierNewPSMT" panose="02070309020205020404" pitchFamily="49" charset="0"/>
            </a:endParaRP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printed?</a:t>
            </a:r>
            <a:b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A) 18 </a:t>
            </a: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B) 43 </a:t>
            </a: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C) 0 </a:t>
            </a:r>
          </a:p>
          <a:p>
            <a:r>
              <a:rPr lang="en-GB" sz="2400" dirty="0">
                <a:solidFill>
                  <a:srgbClr val="3F3F3F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D) 61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1526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 - Aliasing and copying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655320" y="1191955"/>
            <a:ext cx="106832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As with lists, dictionaries are mutable - be aware of aliasing. Whenever two</a:t>
            </a:r>
          </a:p>
          <a:p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variables refer to the same object, changes to one affect the other.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To modify a dictionary and keep a copy of the original, use copy().</a:t>
            </a:r>
          </a:p>
          <a:p>
            <a:br>
              <a:rPr lang="en-GB" sz="2400" dirty="0">
                <a:effectLst/>
                <a:latin typeface="Calibri" panose="020F0502020204030204" pitchFamily="34" charset="0"/>
              </a:rPr>
            </a:br>
            <a:r>
              <a:rPr lang="en-GB" sz="2400" dirty="0">
                <a:effectLst/>
                <a:latin typeface="CourierNewPSMT" panose="02070309020205020404" pitchFamily="49" charset="0"/>
              </a:rPr>
              <a:t>opposites = {"up": "down", "right": "wrong", "yes": "no"}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alias = opposites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copy = 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opposites.copy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() </a:t>
            </a:r>
          </a:p>
          <a:p>
            <a:endParaRPr lang="en-GB" sz="2400" dirty="0"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alias and opposites refer to the same object. If we modify alias, opposites is</a:t>
            </a:r>
          </a:p>
          <a:p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also changed. However, if we modify copy, opposites is unchanged. </a:t>
            </a:r>
          </a:p>
        </p:txBody>
      </p:sp>
    </p:spTree>
    <p:extLst>
      <p:ext uri="{BB962C8B-B14F-4D97-AF65-F5344CB8AC3E}">
        <p14:creationId xmlns:p14="http://schemas.microsoft.com/office/powerpoint/2010/main" val="3295363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Python f-string and dictionaries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871538" y="1298635"/>
            <a:ext cx="103174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We can work with dictionaries in f-strings.</a:t>
            </a:r>
          </a:p>
          <a:p>
            <a:br>
              <a:rPr lang="en-GB" sz="2400" dirty="0">
                <a:effectLst/>
                <a:latin typeface="Calibri" panose="020F0502020204030204" pitchFamily="34" charset="0"/>
              </a:rPr>
            </a:br>
            <a:r>
              <a:rPr lang="en-GB" sz="2400" dirty="0">
                <a:effectLst/>
                <a:latin typeface="CourierNewPSMT" panose="02070309020205020404" pitchFamily="49" charset="0"/>
              </a:rPr>
              <a:t>user = {'name': 'John Doe', 'occupation': 'gardener'}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print(f"{user['name']} is a {user['occupation']}") </a:t>
            </a:r>
          </a:p>
          <a:p>
            <a:endParaRPr lang="en-GB" sz="2400" dirty="0"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The example evaluates a dictionary in an f-string. </a:t>
            </a:r>
          </a:p>
          <a:p>
            <a:endParaRPr lang="en-GB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Output: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John Doe is a gardener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089747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672264" cy="514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Summary - Python Dictionary</a:t>
            </a:r>
            <a:endParaRPr lang="en-GB" sz="2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DDEC-2B6F-17F8-FEFD-04021C9EA977}"/>
              </a:ext>
            </a:extLst>
          </p:cNvPr>
          <p:cNvSpPr txBox="1"/>
          <p:nvPr/>
        </p:nvSpPr>
        <p:spPr>
          <a:xfrm>
            <a:off x="780098" y="1298635"/>
            <a:ext cx="1064990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collection of data values.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They map (associate) a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 a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Dictionary methods:</a:t>
            </a:r>
            <a:endParaRPr lang="en-GB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• </a:t>
            </a:r>
            <a:r>
              <a:rPr lang="en-GB" sz="2400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keys() 	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Returns a view of the keys in the dictionary</a:t>
            </a:r>
          </a:p>
          <a:p>
            <a:pPr lvl="1"/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• </a:t>
            </a:r>
            <a:r>
              <a:rPr lang="en-GB" sz="2400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values()	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Returns a view of the values in the dictionary</a:t>
            </a:r>
            <a:b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• </a:t>
            </a:r>
            <a:r>
              <a:rPr lang="en-GB" sz="2400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items() 	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Returns a view of the key-value pairs in the dictionary </a:t>
            </a:r>
          </a:p>
          <a:p>
            <a:pPr lvl="1"/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• </a:t>
            </a:r>
            <a:r>
              <a:rPr lang="en-GB" sz="2400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get() 	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Returns the value associated with key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Dictionaries are mutable - Aliasing and copying </a:t>
            </a:r>
          </a:p>
        </p:txBody>
      </p:sp>
    </p:spTree>
    <p:extLst>
      <p:ext uri="{BB962C8B-B14F-4D97-AF65-F5344CB8AC3E}">
        <p14:creationId xmlns:p14="http://schemas.microsoft.com/office/powerpoint/2010/main" val="329440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4391</Words>
  <Application>Microsoft Macintosh PowerPoint</Application>
  <PresentationFormat>Widescreen</PresentationFormat>
  <Paragraphs>569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1" baseType="lpstr">
      <vt:lpstr>Aptos ExtraBold</vt:lpstr>
      <vt:lpstr>Arial</vt:lpstr>
      <vt:lpstr>ArialMT</vt:lpstr>
      <vt:lpstr>Calibri</vt:lpstr>
      <vt:lpstr>Calibri Light</vt:lpstr>
      <vt:lpstr>Courier New</vt:lpstr>
      <vt:lpstr>CourierNew</vt:lpstr>
      <vt:lpstr>CourierNewPS</vt:lpstr>
      <vt:lpstr>CourierNewPSMT</vt:lpstr>
      <vt:lpstr>Helvetica Neue</vt:lpstr>
      <vt:lpstr>Times New Roman</vt:lpstr>
      <vt:lpstr>Office Theme</vt:lpstr>
      <vt:lpstr>4COSC001W: Lecture Week 7  Lists, Tuples, Dictionaries </vt:lpstr>
      <vt:lpstr>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Sean Roberts</dc:creator>
  <cp:lastModifiedBy>Stephen Sean Roberts</cp:lastModifiedBy>
  <cp:revision>18</cp:revision>
  <dcterms:created xsi:type="dcterms:W3CDTF">2025-09-04T14:37:16Z</dcterms:created>
  <dcterms:modified xsi:type="dcterms:W3CDTF">2025-09-10T14:44:04Z</dcterms:modified>
</cp:coreProperties>
</file>