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8" r:id="rId2"/>
    <p:sldId id="259" r:id="rId3"/>
    <p:sldId id="260" r:id="rId4"/>
    <p:sldId id="261" r:id="rId5"/>
    <p:sldId id="262" r:id="rId6"/>
    <p:sldId id="263" r:id="rId7"/>
    <p:sldId id="264" r:id="rId8"/>
    <p:sldId id="266" r:id="rId9"/>
    <p:sldId id="269" r:id="rId10"/>
    <p:sldId id="268" r:id="rId11"/>
    <p:sldId id="271" r:id="rId12"/>
    <p:sldId id="270" r:id="rId13"/>
    <p:sldId id="267" r:id="rId14"/>
    <p:sldId id="273" r:id="rId15"/>
    <p:sldId id="274" r:id="rId16"/>
    <p:sldId id="265" r:id="rId17"/>
    <p:sldId id="277" r:id="rId18"/>
    <p:sldId id="278" r:id="rId19"/>
    <p:sldId id="279" r:id="rId20"/>
    <p:sldId id="280" r:id="rId21"/>
    <p:sldId id="281" r:id="rId22"/>
    <p:sldId id="282" r:id="rId23"/>
    <p:sldId id="27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326"/>
    <p:restoredTop sz="96405"/>
  </p:normalViewPr>
  <p:slideViewPr>
    <p:cSldViewPr snapToGrid="0" showGuides="1">
      <p:cViewPr varScale="1">
        <p:scale>
          <a:sx n="96" d="100"/>
          <a:sy n="96" d="100"/>
        </p:scale>
        <p:origin x="200" y="92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32867-36D7-F040-B3C5-4D102A28D85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7CB3289C-0047-996E-A617-E711B8CD01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49A1A9CD-40D6-13EC-6114-D564D313A9E3}"/>
              </a:ext>
            </a:extLst>
          </p:cNvPr>
          <p:cNvSpPr>
            <a:spLocks noGrp="1"/>
          </p:cNvSpPr>
          <p:nvPr>
            <p:ph type="dt" sz="half" idx="10"/>
          </p:nvPr>
        </p:nvSpPr>
        <p:spPr/>
        <p:txBody>
          <a:bodyPr/>
          <a:lstStyle/>
          <a:p>
            <a:fld id="{B9945D5A-7FC5-134D-8F67-3B0CADB87939}" type="datetimeFigureOut">
              <a:rPr lang="en-US" smtClean="0"/>
              <a:t>9/10/25</a:t>
            </a:fld>
            <a:endParaRPr lang="en-US"/>
          </a:p>
        </p:txBody>
      </p:sp>
      <p:sp>
        <p:nvSpPr>
          <p:cNvPr id="5" name="Footer Placeholder 4">
            <a:extLst>
              <a:ext uri="{FF2B5EF4-FFF2-40B4-BE49-F238E27FC236}">
                <a16:creationId xmlns:a16="http://schemas.microsoft.com/office/drawing/2014/main" id="{7F8479CA-F28A-225F-BF30-24E07135E7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F07729-449B-3E51-E395-FFC4F0B0DA48}"/>
              </a:ext>
            </a:extLst>
          </p:cNvPr>
          <p:cNvSpPr>
            <a:spLocks noGrp="1"/>
          </p:cNvSpPr>
          <p:nvPr>
            <p:ph type="sldNum" sz="quarter" idx="12"/>
          </p:nvPr>
        </p:nvSpPr>
        <p:spPr/>
        <p:txBody>
          <a:bodyPr/>
          <a:lstStyle/>
          <a:p>
            <a:fld id="{BD5774DF-2BC1-2448-B732-147B2598A58A}" type="slidenum">
              <a:rPr lang="en-US" smtClean="0"/>
              <a:t>‹#›</a:t>
            </a:fld>
            <a:endParaRPr lang="en-US"/>
          </a:p>
        </p:txBody>
      </p:sp>
    </p:spTree>
    <p:extLst>
      <p:ext uri="{BB962C8B-B14F-4D97-AF65-F5344CB8AC3E}">
        <p14:creationId xmlns:p14="http://schemas.microsoft.com/office/powerpoint/2010/main" val="3388316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48FCB-0848-B9BD-A36D-CCFDB0001EA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0BBD541-FCBE-3C03-5A88-47162F81D98D}"/>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0C79DDF-94DA-6492-64FD-AE7684CF7E40}"/>
              </a:ext>
            </a:extLst>
          </p:cNvPr>
          <p:cNvSpPr>
            <a:spLocks noGrp="1"/>
          </p:cNvSpPr>
          <p:nvPr>
            <p:ph type="dt" sz="half" idx="10"/>
          </p:nvPr>
        </p:nvSpPr>
        <p:spPr/>
        <p:txBody>
          <a:bodyPr/>
          <a:lstStyle/>
          <a:p>
            <a:fld id="{B9945D5A-7FC5-134D-8F67-3B0CADB87939}" type="datetimeFigureOut">
              <a:rPr lang="en-US" smtClean="0"/>
              <a:t>9/10/25</a:t>
            </a:fld>
            <a:endParaRPr lang="en-US"/>
          </a:p>
        </p:txBody>
      </p:sp>
      <p:sp>
        <p:nvSpPr>
          <p:cNvPr id="5" name="Footer Placeholder 4">
            <a:extLst>
              <a:ext uri="{FF2B5EF4-FFF2-40B4-BE49-F238E27FC236}">
                <a16:creationId xmlns:a16="http://schemas.microsoft.com/office/drawing/2014/main" id="{B5D2E3F0-FF25-CD5F-B5A2-994618BB3F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FC94EA-32B5-35A1-FE90-48DD5CDE92DA}"/>
              </a:ext>
            </a:extLst>
          </p:cNvPr>
          <p:cNvSpPr>
            <a:spLocks noGrp="1"/>
          </p:cNvSpPr>
          <p:nvPr>
            <p:ph type="sldNum" sz="quarter" idx="12"/>
          </p:nvPr>
        </p:nvSpPr>
        <p:spPr/>
        <p:txBody>
          <a:bodyPr/>
          <a:lstStyle/>
          <a:p>
            <a:fld id="{BD5774DF-2BC1-2448-B732-147B2598A58A}" type="slidenum">
              <a:rPr lang="en-US" smtClean="0"/>
              <a:t>‹#›</a:t>
            </a:fld>
            <a:endParaRPr lang="en-US"/>
          </a:p>
        </p:txBody>
      </p:sp>
    </p:spTree>
    <p:extLst>
      <p:ext uri="{BB962C8B-B14F-4D97-AF65-F5344CB8AC3E}">
        <p14:creationId xmlns:p14="http://schemas.microsoft.com/office/powerpoint/2010/main" val="3495741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F0042-0A14-2B92-CA56-BA82A58BE62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DF61BB8F-3712-153C-1147-76854E280DD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CB9211D-A446-7E37-FCBC-C60FFFB1851E}"/>
              </a:ext>
            </a:extLst>
          </p:cNvPr>
          <p:cNvSpPr>
            <a:spLocks noGrp="1"/>
          </p:cNvSpPr>
          <p:nvPr>
            <p:ph type="dt" sz="half" idx="10"/>
          </p:nvPr>
        </p:nvSpPr>
        <p:spPr/>
        <p:txBody>
          <a:bodyPr/>
          <a:lstStyle/>
          <a:p>
            <a:fld id="{B9945D5A-7FC5-134D-8F67-3B0CADB87939}" type="datetimeFigureOut">
              <a:rPr lang="en-US" smtClean="0"/>
              <a:t>9/10/25</a:t>
            </a:fld>
            <a:endParaRPr lang="en-US"/>
          </a:p>
        </p:txBody>
      </p:sp>
      <p:sp>
        <p:nvSpPr>
          <p:cNvPr id="5" name="Footer Placeholder 4">
            <a:extLst>
              <a:ext uri="{FF2B5EF4-FFF2-40B4-BE49-F238E27FC236}">
                <a16:creationId xmlns:a16="http://schemas.microsoft.com/office/drawing/2014/main" id="{6691676B-7F81-16D1-52C6-B571C3794E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CD8A20-108D-B3D1-509A-CF1D11A56263}"/>
              </a:ext>
            </a:extLst>
          </p:cNvPr>
          <p:cNvSpPr>
            <a:spLocks noGrp="1"/>
          </p:cNvSpPr>
          <p:nvPr>
            <p:ph type="sldNum" sz="quarter" idx="12"/>
          </p:nvPr>
        </p:nvSpPr>
        <p:spPr/>
        <p:txBody>
          <a:bodyPr/>
          <a:lstStyle/>
          <a:p>
            <a:fld id="{BD5774DF-2BC1-2448-B732-147B2598A58A}" type="slidenum">
              <a:rPr lang="en-US" smtClean="0"/>
              <a:t>‹#›</a:t>
            </a:fld>
            <a:endParaRPr lang="en-US"/>
          </a:p>
        </p:txBody>
      </p:sp>
    </p:spTree>
    <p:extLst>
      <p:ext uri="{BB962C8B-B14F-4D97-AF65-F5344CB8AC3E}">
        <p14:creationId xmlns:p14="http://schemas.microsoft.com/office/powerpoint/2010/main" val="1247603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B40F1-FB27-1C53-2105-4D7451F5D21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316C494-58C6-950D-17D6-A541A25DB49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EB55B5A6-B00E-39C4-8CB8-21E76655806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ADEAE9F-E55B-CC25-3540-B402FB955A4B}"/>
              </a:ext>
            </a:extLst>
          </p:cNvPr>
          <p:cNvSpPr>
            <a:spLocks noGrp="1"/>
          </p:cNvSpPr>
          <p:nvPr>
            <p:ph type="dt" sz="half" idx="10"/>
          </p:nvPr>
        </p:nvSpPr>
        <p:spPr/>
        <p:txBody>
          <a:bodyPr/>
          <a:lstStyle/>
          <a:p>
            <a:fld id="{B9945D5A-7FC5-134D-8F67-3B0CADB87939}" type="datetimeFigureOut">
              <a:rPr lang="en-US" smtClean="0"/>
              <a:t>9/10/25</a:t>
            </a:fld>
            <a:endParaRPr lang="en-US"/>
          </a:p>
        </p:txBody>
      </p:sp>
      <p:sp>
        <p:nvSpPr>
          <p:cNvPr id="6" name="Footer Placeholder 5">
            <a:extLst>
              <a:ext uri="{FF2B5EF4-FFF2-40B4-BE49-F238E27FC236}">
                <a16:creationId xmlns:a16="http://schemas.microsoft.com/office/drawing/2014/main" id="{EBC2898C-A299-0416-5960-A2C33D7ED2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D72193-7E17-31E4-99A6-3A29F5F0B475}"/>
              </a:ext>
            </a:extLst>
          </p:cNvPr>
          <p:cNvSpPr>
            <a:spLocks noGrp="1"/>
          </p:cNvSpPr>
          <p:nvPr>
            <p:ph type="sldNum" sz="quarter" idx="12"/>
          </p:nvPr>
        </p:nvSpPr>
        <p:spPr/>
        <p:txBody>
          <a:bodyPr/>
          <a:lstStyle/>
          <a:p>
            <a:fld id="{BD5774DF-2BC1-2448-B732-147B2598A58A}" type="slidenum">
              <a:rPr lang="en-US" smtClean="0"/>
              <a:t>‹#›</a:t>
            </a:fld>
            <a:endParaRPr lang="en-US"/>
          </a:p>
        </p:txBody>
      </p:sp>
    </p:spTree>
    <p:extLst>
      <p:ext uri="{BB962C8B-B14F-4D97-AF65-F5344CB8AC3E}">
        <p14:creationId xmlns:p14="http://schemas.microsoft.com/office/powerpoint/2010/main" val="3226114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AB47B-B374-980D-E1EF-2E0EC5E06C4E}"/>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0641670-FC73-B667-48BD-A8E639F692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A1D31CB-A2FA-C517-94F1-67130F4E552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12B56826-9287-EA60-1B00-56E5254D61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6551274-FEA9-2192-50EE-8C7D17C5013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D214E57F-9E11-9E61-ED8E-66B987BB0303}"/>
              </a:ext>
            </a:extLst>
          </p:cNvPr>
          <p:cNvSpPr>
            <a:spLocks noGrp="1"/>
          </p:cNvSpPr>
          <p:nvPr>
            <p:ph type="dt" sz="half" idx="10"/>
          </p:nvPr>
        </p:nvSpPr>
        <p:spPr/>
        <p:txBody>
          <a:bodyPr/>
          <a:lstStyle/>
          <a:p>
            <a:fld id="{B9945D5A-7FC5-134D-8F67-3B0CADB87939}" type="datetimeFigureOut">
              <a:rPr lang="en-US" smtClean="0"/>
              <a:t>9/10/25</a:t>
            </a:fld>
            <a:endParaRPr lang="en-US"/>
          </a:p>
        </p:txBody>
      </p:sp>
      <p:sp>
        <p:nvSpPr>
          <p:cNvPr id="8" name="Footer Placeholder 7">
            <a:extLst>
              <a:ext uri="{FF2B5EF4-FFF2-40B4-BE49-F238E27FC236}">
                <a16:creationId xmlns:a16="http://schemas.microsoft.com/office/drawing/2014/main" id="{DEC6BFF4-94A2-1588-CECC-6CC89D6634B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49C2FAB-7C57-3532-0E7A-2243D48C082C}"/>
              </a:ext>
            </a:extLst>
          </p:cNvPr>
          <p:cNvSpPr>
            <a:spLocks noGrp="1"/>
          </p:cNvSpPr>
          <p:nvPr>
            <p:ph type="sldNum" sz="quarter" idx="12"/>
          </p:nvPr>
        </p:nvSpPr>
        <p:spPr/>
        <p:txBody>
          <a:bodyPr/>
          <a:lstStyle/>
          <a:p>
            <a:fld id="{BD5774DF-2BC1-2448-B732-147B2598A58A}" type="slidenum">
              <a:rPr lang="en-US" smtClean="0"/>
              <a:t>‹#›</a:t>
            </a:fld>
            <a:endParaRPr lang="en-US"/>
          </a:p>
        </p:txBody>
      </p:sp>
    </p:spTree>
    <p:extLst>
      <p:ext uri="{BB962C8B-B14F-4D97-AF65-F5344CB8AC3E}">
        <p14:creationId xmlns:p14="http://schemas.microsoft.com/office/powerpoint/2010/main" val="2419738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B637A-B2DA-96E6-E670-A8E5D3AC1EF5}"/>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F6CEAF2-F0CB-00A9-6F16-3F9EFE410AB6}"/>
              </a:ext>
            </a:extLst>
          </p:cNvPr>
          <p:cNvSpPr>
            <a:spLocks noGrp="1"/>
          </p:cNvSpPr>
          <p:nvPr>
            <p:ph type="dt" sz="half" idx="10"/>
          </p:nvPr>
        </p:nvSpPr>
        <p:spPr/>
        <p:txBody>
          <a:bodyPr/>
          <a:lstStyle/>
          <a:p>
            <a:fld id="{B9945D5A-7FC5-134D-8F67-3B0CADB87939}" type="datetimeFigureOut">
              <a:rPr lang="en-US" smtClean="0"/>
              <a:t>9/10/25</a:t>
            </a:fld>
            <a:endParaRPr lang="en-US"/>
          </a:p>
        </p:txBody>
      </p:sp>
      <p:sp>
        <p:nvSpPr>
          <p:cNvPr id="4" name="Footer Placeholder 3">
            <a:extLst>
              <a:ext uri="{FF2B5EF4-FFF2-40B4-BE49-F238E27FC236}">
                <a16:creationId xmlns:a16="http://schemas.microsoft.com/office/drawing/2014/main" id="{59B42CFB-3597-CFC7-47E4-703F07A0DFD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BC90F3D-71AB-183D-EB98-566B6D7F81D9}"/>
              </a:ext>
            </a:extLst>
          </p:cNvPr>
          <p:cNvSpPr>
            <a:spLocks noGrp="1"/>
          </p:cNvSpPr>
          <p:nvPr>
            <p:ph type="sldNum" sz="quarter" idx="12"/>
          </p:nvPr>
        </p:nvSpPr>
        <p:spPr/>
        <p:txBody>
          <a:bodyPr/>
          <a:lstStyle/>
          <a:p>
            <a:fld id="{BD5774DF-2BC1-2448-B732-147B2598A58A}" type="slidenum">
              <a:rPr lang="en-US" smtClean="0"/>
              <a:t>‹#›</a:t>
            </a:fld>
            <a:endParaRPr lang="en-US"/>
          </a:p>
        </p:txBody>
      </p:sp>
    </p:spTree>
    <p:extLst>
      <p:ext uri="{BB962C8B-B14F-4D97-AF65-F5344CB8AC3E}">
        <p14:creationId xmlns:p14="http://schemas.microsoft.com/office/powerpoint/2010/main" val="470329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EC0AE6-0065-C362-64B3-AB2514B5DE21}"/>
              </a:ext>
            </a:extLst>
          </p:cNvPr>
          <p:cNvSpPr>
            <a:spLocks noGrp="1"/>
          </p:cNvSpPr>
          <p:nvPr>
            <p:ph type="dt" sz="half" idx="10"/>
          </p:nvPr>
        </p:nvSpPr>
        <p:spPr/>
        <p:txBody>
          <a:bodyPr/>
          <a:lstStyle/>
          <a:p>
            <a:fld id="{B9945D5A-7FC5-134D-8F67-3B0CADB87939}" type="datetimeFigureOut">
              <a:rPr lang="en-US" smtClean="0"/>
              <a:t>9/10/25</a:t>
            </a:fld>
            <a:endParaRPr lang="en-US"/>
          </a:p>
        </p:txBody>
      </p:sp>
      <p:sp>
        <p:nvSpPr>
          <p:cNvPr id="3" name="Footer Placeholder 2">
            <a:extLst>
              <a:ext uri="{FF2B5EF4-FFF2-40B4-BE49-F238E27FC236}">
                <a16:creationId xmlns:a16="http://schemas.microsoft.com/office/drawing/2014/main" id="{44C811FE-27A4-B0C9-7F62-D20B08446D1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4F57598-66AA-3057-059C-61102DBD801D}"/>
              </a:ext>
            </a:extLst>
          </p:cNvPr>
          <p:cNvSpPr>
            <a:spLocks noGrp="1"/>
          </p:cNvSpPr>
          <p:nvPr>
            <p:ph type="sldNum" sz="quarter" idx="12"/>
          </p:nvPr>
        </p:nvSpPr>
        <p:spPr/>
        <p:txBody>
          <a:bodyPr/>
          <a:lstStyle/>
          <a:p>
            <a:fld id="{BD5774DF-2BC1-2448-B732-147B2598A58A}" type="slidenum">
              <a:rPr lang="en-US" smtClean="0"/>
              <a:t>‹#›</a:t>
            </a:fld>
            <a:endParaRPr lang="en-US"/>
          </a:p>
        </p:txBody>
      </p:sp>
    </p:spTree>
    <p:extLst>
      <p:ext uri="{BB962C8B-B14F-4D97-AF65-F5344CB8AC3E}">
        <p14:creationId xmlns:p14="http://schemas.microsoft.com/office/powerpoint/2010/main" val="529365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0D421-6925-A4C9-2A9B-0426CD251E5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342EB96-B41D-319E-FB76-45FFE22A2B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D9BDA25-EFD4-7C0E-B406-94652B6E34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3A505AE-3C73-37A4-7A37-30473D20C9F4}"/>
              </a:ext>
            </a:extLst>
          </p:cNvPr>
          <p:cNvSpPr>
            <a:spLocks noGrp="1"/>
          </p:cNvSpPr>
          <p:nvPr>
            <p:ph type="dt" sz="half" idx="10"/>
          </p:nvPr>
        </p:nvSpPr>
        <p:spPr/>
        <p:txBody>
          <a:bodyPr/>
          <a:lstStyle/>
          <a:p>
            <a:fld id="{B9945D5A-7FC5-134D-8F67-3B0CADB87939}" type="datetimeFigureOut">
              <a:rPr lang="en-US" smtClean="0"/>
              <a:t>9/10/25</a:t>
            </a:fld>
            <a:endParaRPr lang="en-US"/>
          </a:p>
        </p:txBody>
      </p:sp>
      <p:sp>
        <p:nvSpPr>
          <p:cNvPr id="6" name="Footer Placeholder 5">
            <a:extLst>
              <a:ext uri="{FF2B5EF4-FFF2-40B4-BE49-F238E27FC236}">
                <a16:creationId xmlns:a16="http://schemas.microsoft.com/office/drawing/2014/main" id="{84B604FD-4915-E021-36C5-5BAEC611F4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043F1B-66BE-2AEE-0EB6-76DB7879D187}"/>
              </a:ext>
            </a:extLst>
          </p:cNvPr>
          <p:cNvSpPr>
            <a:spLocks noGrp="1"/>
          </p:cNvSpPr>
          <p:nvPr>
            <p:ph type="sldNum" sz="quarter" idx="12"/>
          </p:nvPr>
        </p:nvSpPr>
        <p:spPr/>
        <p:txBody>
          <a:bodyPr/>
          <a:lstStyle/>
          <a:p>
            <a:fld id="{BD5774DF-2BC1-2448-B732-147B2598A58A}" type="slidenum">
              <a:rPr lang="en-US" smtClean="0"/>
              <a:t>‹#›</a:t>
            </a:fld>
            <a:endParaRPr lang="en-US"/>
          </a:p>
        </p:txBody>
      </p:sp>
    </p:spTree>
    <p:extLst>
      <p:ext uri="{BB962C8B-B14F-4D97-AF65-F5344CB8AC3E}">
        <p14:creationId xmlns:p14="http://schemas.microsoft.com/office/powerpoint/2010/main" val="560506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4256C-7E54-3534-3179-29E8C88C2DE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52CECF7E-F9B2-6E0D-42E0-EBBA3BAE9B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477B54-116A-4A9D-1D09-D14B845B06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DB2A972-969B-EBA4-D574-D94F7CD5E3B0}"/>
              </a:ext>
            </a:extLst>
          </p:cNvPr>
          <p:cNvSpPr>
            <a:spLocks noGrp="1"/>
          </p:cNvSpPr>
          <p:nvPr>
            <p:ph type="dt" sz="half" idx="10"/>
          </p:nvPr>
        </p:nvSpPr>
        <p:spPr/>
        <p:txBody>
          <a:bodyPr/>
          <a:lstStyle/>
          <a:p>
            <a:fld id="{B9945D5A-7FC5-134D-8F67-3B0CADB87939}" type="datetimeFigureOut">
              <a:rPr lang="en-US" smtClean="0"/>
              <a:t>9/10/25</a:t>
            </a:fld>
            <a:endParaRPr lang="en-US"/>
          </a:p>
        </p:txBody>
      </p:sp>
      <p:sp>
        <p:nvSpPr>
          <p:cNvPr id="6" name="Footer Placeholder 5">
            <a:extLst>
              <a:ext uri="{FF2B5EF4-FFF2-40B4-BE49-F238E27FC236}">
                <a16:creationId xmlns:a16="http://schemas.microsoft.com/office/drawing/2014/main" id="{ECD35419-B3A3-D227-E418-C701E06295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4B3B80-C53D-4760-1EFD-68DE9DA05F39}"/>
              </a:ext>
            </a:extLst>
          </p:cNvPr>
          <p:cNvSpPr>
            <a:spLocks noGrp="1"/>
          </p:cNvSpPr>
          <p:nvPr>
            <p:ph type="sldNum" sz="quarter" idx="12"/>
          </p:nvPr>
        </p:nvSpPr>
        <p:spPr/>
        <p:txBody>
          <a:bodyPr/>
          <a:lstStyle/>
          <a:p>
            <a:fld id="{BD5774DF-2BC1-2448-B732-147B2598A58A}" type="slidenum">
              <a:rPr lang="en-US" smtClean="0"/>
              <a:t>‹#›</a:t>
            </a:fld>
            <a:endParaRPr lang="en-US"/>
          </a:p>
        </p:txBody>
      </p:sp>
    </p:spTree>
    <p:extLst>
      <p:ext uri="{BB962C8B-B14F-4D97-AF65-F5344CB8AC3E}">
        <p14:creationId xmlns:p14="http://schemas.microsoft.com/office/powerpoint/2010/main" val="361280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46732-8E20-01DE-F9AB-2E5C8D55F5FD}"/>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7F50AD8-8DF4-33F8-B5B7-A47F8EAD73B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DF85DC4-B70F-06A2-359A-10DFCDF46E5B}"/>
              </a:ext>
            </a:extLst>
          </p:cNvPr>
          <p:cNvSpPr>
            <a:spLocks noGrp="1"/>
          </p:cNvSpPr>
          <p:nvPr>
            <p:ph type="dt" sz="half" idx="10"/>
          </p:nvPr>
        </p:nvSpPr>
        <p:spPr/>
        <p:txBody>
          <a:bodyPr/>
          <a:lstStyle/>
          <a:p>
            <a:fld id="{B9945D5A-7FC5-134D-8F67-3B0CADB87939}" type="datetimeFigureOut">
              <a:rPr lang="en-US" smtClean="0"/>
              <a:t>9/10/25</a:t>
            </a:fld>
            <a:endParaRPr lang="en-US"/>
          </a:p>
        </p:txBody>
      </p:sp>
      <p:sp>
        <p:nvSpPr>
          <p:cNvPr id="5" name="Footer Placeholder 4">
            <a:extLst>
              <a:ext uri="{FF2B5EF4-FFF2-40B4-BE49-F238E27FC236}">
                <a16:creationId xmlns:a16="http://schemas.microsoft.com/office/drawing/2014/main" id="{7BA476F7-EF93-7707-8A97-4AF4B3ECFF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997270-4370-8671-5794-A7F87B3E6E0C}"/>
              </a:ext>
            </a:extLst>
          </p:cNvPr>
          <p:cNvSpPr>
            <a:spLocks noGrp="1"/>
          </p:cNvSpPr>
          <p:nvPr>
            <p:ph type="sldNum" sz="quarter" idx="12"/>
          </p:nvPr>
        </p:nvSpPr>
        <p:spPr/>
        <p:txBody>
          <a:bodyPr/>
          <a:lstStyle/>
          <a:p>
            <a:fld id="{BD5774DF-2BC1-2448-B732-147B2598A58A}" type="slidenum">
              <a:rPr lang="en-US" smtClean="0"/>
              <a:t>‹#›</a:t>
            </a:fld>
            <a:endParaRPr lang="en-US"/>
          </a:p>
        </p:txBody>
      </p:sp>
    </p:spTree>
    <p:extLst>
      <p:ext uri="{BB962C8B-B14F-4D97-AF65-F5344CB8AC3E}">
        <p14:creationId xmlns:p14="http://schemas.microsoft.com/office/powerpoint/2010/main" val="146534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9C875C-EE62-FC66-E9E9-E2822A8CD185}"/>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A7191E3-85AD-EC62-F32B-F7B15052397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03FD6E7-E736-FDF6-31BC-860C9E9282A5}"/>
              </a:ext>
            </a:extLst>
          </p:cNvPr>
          <p:cNvSpPr>
            <a:spLocks noGrp="1"/>
          </p:cNvSpPr>
          <p:nvPr>
            <p:ph type="dt" sz="half" idx="10"/>
          </p:nvPr>
        </p:nvSpPr>
        <p:spPr/>
        <p:txBody>
          <a:bodyPr/>
          <a:lstStyle/>
          <a:p>
            <a:fld id="{B9945D5A-7FC5-134D-8F67-3B0CADB87939}" type="datetimeFigureOut">
              <a:rPr lang="en-US" smtClean="0"/>
              <a:t>9/10/25</a:t>
            </a:fld>
            <a:endParaRPr lang="en-US"/>
          </a:p>
        </p:txBody>
      </p:sp>
      <p:sp>
        <p:nvSpPr>
          <p:cNvPr id="5" name="Footer Placeholder 4">
            <a:extLst>
              <a:ext uri="{FF2B5EF4-FFF2-40B4-BE49-F238E27FC236}">
                <a16:creationId xmlns:a16="http://schemas.microsoft.com/office/drawing/2014/main" id="{358831AE-413E-6D18-3690-9D8E934C2D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32CFAF-8A39-7BED-0164-6916D93393BA}"/>
              </a:ext>
            </a:extLst>
          </p:cNvPr>
          <p:cNvSpPr>
            <a:spLocks noGrp="1"/>
          </p:cNvSpPr>
          <p:nvPr>
            <p:ph type="sldNum" sz="quarter" idx="12"/>
          </p:nvPr>
        </p:nvSpPr>
        <p:spPr/>
        <p:txBody>
          <a:bodyPr/>
          <a:lstStyle/>
          <a:p>
            <a:fld id="{BD5774DF-2BC1-2448-B732-147B2598A58A}" type="slidenum">
              <a:rPr lang="en-US" smtClean="0"/>
              <a:t>‹#›</a:t>
            </a:fld>
            <a:endParaRPr lang="en-US"/>
          </a:p>
        </p:txBody>
      </p:sp>
    </p:spTree>
    <p:extLst>
      <p:ext uri="{BB962C8B-B14F-4D97-AF65-F5344CB8AC3E}">
        <p14:creationId xmlns:p14="http://schemas.microsoft.com/office/powerpoint/2010/main" val="3705639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5E1918-1B26-E086-26AC-5691F235D3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A1A64E8-78F2-8ACE-4DF2-FC422E5299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5586C5-617A-F4C3-8F6D-22512A6A61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945D5A-7FC5-134D-8F67-3B0CADB87939}" type="datetimeFigureOut">
              <a:rPr lang="en-US" smtClean="0"/>
              <a:t>9/10/25</a:t>
            </a:fld>
            <a:endParaRPr lang="en-US"/>
          </a:p>
        </p:txBody>
      </p:sp>
      <p:sp>
        <p:nvSpPr>
          <p:cNvPr id="5" name="Footer Placeholder 4">
            <a:extLst>
              <a:ext uri="{FF2B5EF4-FFF2-40B4-BE49-F238E27FC236}">
                <a16:creationId xmlns:a16="http://schemas.microsoft.com/office/drawing/2014/main" id="{1E496634-D0C9-FEB5-31F5-D0080F055F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18B0D3D-3CC9-9868-5699-2D3DFC28DC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5774DF-2BC1-2448-B732-147B2598A58A}" type="slidenum">
              <a:rPr lang="en-US" smtClean="0"/>
              <a:t>‹#›</a:t>
            </a:fld>
            <a:endParaRPr lang="en-US"/>
          </a:p>
        </p:txBody>
      </p:sp>
    </p:spTree>
    <p:extLst>
      <p:ext uri="{BB962C8B-B14F-4D97-AF65-F5344CB8AC3E}">
        <p14:creationId xmlns:p14="http://schemas.microsoft.com/office/powerpoint/2010/main" val="4113634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CE3F3E2-EF0C-DD60-7C29-2D13C930E4B5}"/>
              </a:ext>
            </a:extLst>
          </p:cNvPr>
          <p:cNvSpPr/>
          <p:nvPr/>
        </p:nvSpPr>
        <p:spPr>
          <a:xfrm>
            <a:off x="0" y="4099389"/>
            <a:ext cx="375920" cy="2270931"/>
          </a:xfrm>
          <a:prstGeom prst="rect">
            <a:avLst/>
          </a:prstGeom>
          <a:solidFill>
            <a:srgbClr val="FF9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9519C99-AA9F-E95C-13AB-EA3546581D88}"/>
              </a:ext>
            </a:extLst>
          </p:cNvPr>
          <p:cNvSpPr txBox="1"/>
          <p:nvPr/>
        </p:nvSpPr>
        <p:spPr>
          <a:xfrm rot="16200000">
            <a:off x="-930350" y="5043232"/>
            <a:ext cx="2246881" cy="276999"/>
          </a:xfrm>
          <a:prstGeom prst="rect">
            <a:avLst/>
          </a:prstGeom>
          <a:noFill/>
        </p:spPr>
        <p:txBody>
          <a:bodyPr wrap="square" rtlCol="0">
            <a:spAutoFit/>
          </a:bodyPr>
          <a:lstStyle/>
          <a:p>
            <a:r>
              <a:rPr lang="en-US" sz="1200" b="1" dirty="0">
                <a:solidFill>
                  <a:schemeClr val="bg1"/>
                </a:solidFill>
                <a:latin typeface="Aptos ExtraBold" panose="020B0004020202020204" pitchFamily="34" charset="0"/>
              </a:rPr>
              <a:t>Software Development 1</a:t>
            </a:r>
          </a:p>
        </p:txBody>
      </p:sp>
      <p:sp>
        <p:nvSpPr>
          <p:cNvPr id="8" name="Content Placeholder 2">
            <a:extLst>
              <a:ext uri="{FF2B5EF4-FFF2-40B4-BE49-F238E27FC236}">
                <a16:creationId xmlns:a16="http://schemas.microsoft.com/office/drawing/2014/main" id="{3556E629-A092-313A-245F-87CCA20EFE1C}"/>
              </a:ext>
            </a:extLst>
          </p:cNvPr>
          <p:cNvSpPr txBox="1">
            <a:spLocks/>
          </p:cNvSpPr>
          <p:nvPr/>
        </p:nvSpPr>
        <p:spPr>
          <a:xfrm>
            <a:off x="1681480" y="2089574"/>
            <a:ext cx="7223760" cy="402336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 name="Title 1">
            <a:extLst>
              <a:ext uri="{FF2B5EF4-FFF2-40B4-BE49-F238E27FC236}">
                <a16:creationId xmlns:a16="http://schemas.microsoft.com/office/drawing/2014/main" id="{5E4381F4-C384-7795-00CC-E8F968D916B6}"/>
              </a:ext>
            </a:extLst>
          </p:cNvPr>
          <p:cNvSpPr txBox="1">
            <a:spLocks/>
          </p:cNvSpPr>
          <p:nvPr/>
        </p:nvSpPr>
        <p:spPr>
          <a:xfrm>
            <a:off x="838199" y="583178"/>
            <a:ext cx="9672264" cy="844929"/>
          </a:xfrm>
          <a:prstGeom prst="rect">
            <a:avLst/>
          </a:prstGeom>
        </p:spPr>
        <p:txBody>
          <a:bodyPr vert="horz" lIns="91440" tIns="45720" rIns="91440" bIns="45720" rtlCol="0" anchor="b">
            <a:normAutofit fontScale="9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2800" b="1" dirty="0">
                <a:latin typeface="Helvetica Neue" panose="02000503000000020004" pitchFamily="2" charset="0"/>
                <a:ea typeface="Helvetica Neue" panose="02000503000000020004" pitchFamily="2" charset="0"/>
                <a:cs typeface="Helvetica Neue" panose="02000503000000020004" pitchFamily="2" charset="0"/>
              </a:rPr>
              <a:t>4COSC001W: Lecture Week 4 </a:t>
            </a:r>
          </a:p>
          <a:p>
            <a:pPr algn="l">
              <a:spcAft>
                <a:spcPts val="600"/>
              </a:spcAft>
            </a:pPr>
            <a:r>
              <a:rPr lang="en-GB" sz="2800" b="1" dirty="0">
                <a:latin typeface="Helvetica Neue" panose="02000503000000020004" pitchFamily="2" charset="0"/>
                <a:ea typeface="Helvetica Neue" panose="02000503000000020004" pitchFamily="2" charset="0"/>
                <a:cs typeface="Helvetica Neue" panose="02000503000000020004" pitchFamily="2" charset="0"/>
              </a:rPr>
              <a:t>Loops</a:t>
            </a:r>
          </a:p>
        </p:txBody>
      </p:sp>
      <p:sp>
        <p:nvSpPr>
          <p:cNvPr id="4" name="TextBox 3">
            <a:extLst>
              <a:ext uri="{FF2B5EF4-FFF2-40B4-BE49-F238E27FC236}">
                <a16:creationId xmlns:a16="http://schemas.microsoft.com/office/drawing/2014/main" id="{D4048A3A-D7F6-D423-4757-D7F95F8A8571}"/>
              </a:ext>
            </a:extLst>
          </p:cNvPr>
          <p:cNvSpPr txBox="1"/>
          <p:nvPr/>
        </p:nvSpPr>
        <p:spPr>
          <a:xfrm>
            <a:off x="834232" y="1632983"/>
            <a:ext cx="10931048" cy="4524315"/>
          </a:xfrm>
          <a:prstGeom prst="rect">
            <a:avLst/>
          </a:prstGeom>
          <a:noFill/>
        </p:spPr>
        <p:txBody>
          <a:bodyPr wrap="square">
            <a:spAutoFit/>
          </a:bodyPr>
          <a:lstStyle/>
          <a:p>
            <a:r>
              <a:rPr lang="en-GB" sz="2400" b="1" dirty="0">
                <a:effectLst/>
                <a:latin typeface="Helvetica Neue" panose="02000503000000020004" pitchFamily="2" charset="0"/>
                <a:ea typeface="Helvetica Neue" panose="02000503000000020004" pitchFamily="2" charset="0"/>
                <a:cs typeface="Helvetica Neue" panose="02000503000000020004" pitchFamily="2" charset="0"/>
              </a:rPr>
              <a:t>The range( ) function </a:t>
            </a:r>
          </a:p>
          <a:p>
            <a:endParaRPr lang="en-GB" sz="2400" dirty="0">
              <a:latin typeface="Helvetica Neue" panose="02000503000000020004" pitchFamily="2" charset="0"/>
              <a:ea typeface="Helvetica Neue" panose="02000503000000020004" pitchFamily="2" charset="0"/>
              <a:cs typeface="Helvetica Neue" panose="02000503000000020004" pitchFamily="2" charset="0"/>
            </a:endParaRPr>
          </a:p>
          <a:p>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This section introduces the range() function and includes examples of using range() to specify how many times a for loop will be repeated. </a:t>
            </a:r>
          </a:p>
          <a:p>
            <a:endParaRPr lang="en-GB" sz="2400" dirty="0">
              <a:latin typeface="Helvetica Neue" panose="02000503000000020004" pitchFamily="2" charset="0"/>
              <a:ea typeface="Helvetica Neue" panose="02000503000000020004" pitchFamily="2" charset="0"/>
              <a:cs typeface="Helvetica Neue" panose="02000503000000020004" pitchFamily="2" charset="0"/>
            </a:endParaRPr>
          </a:p>
          <a:p>
            <a:pPr marL="342900" indent="-342900">
              <a:buFont typeface="Arial" panose="020B0604020202020204" pitchFamily="34" charset="0"/>
              <a:buChar char="•"/>
            </a:pP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The range() function can be used to create a sequence of numbers. </a:t>
            </a:r>
          </a:p>
          <a:p>
            <a:pPr marL="342900" indent="-342900">
              <a:buFont typeface="Arial" panose="020B0604020202020204" pitchFamily="34" charset="0"/>
              <a:buChar char="•"/>
            </a:pP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The structure of the function is  </a:t>
            </a:r>
            <a:r>
              <a:rPr lang="en-GB" sz="2400" b="1" dirty="0">
                <a:effectLst/>
                <a:latin typeface="Helvetica Neue" panose="02000503000000020004" pitchFamily="2" charset="0"/>
                <a:ea typeface="Helvetica Neue" panose="02000503000000020004" pitchFamily="2" charset="0"/>
                <a:cs typeface="Helvetica Neue" panose="02000503000000020004" pitchFamily="2" charset="0"/>
              </a:rPr>
              <a:t>range(start, stop, step)</a:t>
            </a: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 </a:t>
            </a:r>
          </a:p>
          <a:p>
            <a:pPr marL="800100" lvl="1" indent="-342900">
              <a:buFont typeface="Courier New" panose="02070309020205020404" pitchFamily="49" charset="0"/>
              <a:buChar char="o"/>
            </a:pPr>
            <a:r>
              <a:rPr lang="en-GB" sz="2400" dirty="0">
                <a:solidFill>
                  <a:srgbClr val="515151"/>
                </a:solidFill>
                <a:effectLst/>
                <a:latin typeface="Helvetica Neue" panose="02000503000000020004" pitchFamily="2" charset="0"/>
                <a:ea typeface="Helvetica Neue" panose="02000503000000020004" pitchFamily="2" charset="0"/>
                <a:cs typeface="Helvetica Neue" panose="02000503000000020004" pitchFamily="2" charset="0"/>
              </a:rPr>
              <a:t>start (optional): starting number of sequence. The default is 0.</a:t>
            </a:r>
          </a:p>
          <a:p>
            <a:pPr marL="800100" lvl="1" indent="-342900">
              <a:buFont typeface="Courier New" panose="02070309020205020404" pitchFamily="49" charset="0"/>
              <a:buChar char="o"/>
            </a:pPr>
            <a:r>
              <a:rPr lang="en-GB" sz="2400" dirty="0">
                <a:solidFill>
                  <a:srgbClr val="515151"/>
                </a:solidFill>
                <a:effectLst/>
                <a:latin typeface="Helvetica Neue" panose="02000503000000020004" pitchFamily="2" charset="0"/>
                <a:ea typeface="Helvetica Neue" panose="02000503000000020004" pitchFamily="2" charset="0"/>
                <a:cs typeface="Helvetica Neue" panose="02000503000000020004" pitchFamily="2" charset="0"/>
              </a:rPr>
              <a:t>stop: generate sequence up to, but not including the specified number.</a:t>
            </a:r>
          </a:p>
          <a:p>
            <a:pPr marL="800100" lvl="1" indent="-342900">
              <a:buFont typeface="Courier New" panose="02070309020205020404" pitchFamily="49" charset="0"/>
              <a:buChar char="o"/>
            </a:pPr>
            <a:r>
              <a:rPr lang="en-GB" sz="2400" dirty="0">
                <a:solidFill>
                  <a:srgbClr val="515151"/>
                </a:solidFill>
                <a:effectLst/>
                <a:latin typeface="Helvetica Neue" panose="02000503000000020004" pitchFamily="2" charset="0"/>
                <a:ea typeface="Helvetica Neue" panose="02000503000000020004" pitchFamily="2" charset="0"/>
                <a:cs typeface="Helvetica Neue" panose="02000503000000020004" pitchFamily="2" charset="0"/>
              </a:rPr>
              <a:t>step (optional): </a:t>
            </a: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number specifies the sequence incrementation. The default is 1. </a:t>
            </a:r>
          </a:p>
          <a:p>
            <a:pPr marL="342900" indent="-342900">
              <a:buFont typeface="Arial" panose="020B0604020202020204" pitchFamily="34" charset="0"/>
              <a:buChar char="•"/>
            </a:pP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The augments, start, stop, and step, must be integers. </a:t>
            </a:r>
          </a:p>
        </p:txBody>
      </p:sp>
    </p:spTree>
    <p:extLst>
      <p:ext uri="{BB962C8B-B14F-4D97-AF65-F5344CB8AC3E}">
        <p14:creationId xmlns:p14="http://schemas.microsoft.com/office/powerpoint/2010/main" val="9008269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CE3F3E2-EF0C-DD60-7C29-2D13C930E4B5}"/>
              </a:ext>
            </a:extLst>
          </p:cNvPr>
          <p:cNvSpPr/>
          <p:nvPr/>
        </p:nvSpPr>
        <p:spPr>
          <a:xfrm>
            <a:off x="0" y="4099389"/>
            <a:ext cx="375920" cy="2270931"/>
          </a:xfrm>
          <a:prstGeom prst="rect">
            <a:avLst/>
          </a:prstGeom>
          <a:solidFill>
            <a:srgbClr val="FF9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9519C99-AA9F-E95C-13AB-EA3546581D88}"/>
              </a:ext>
            </a:extLst>
          </p:cNvPr>
          <p:cNvSpPr txBox="1"/>
          <p:nvPr/>
        </p:nvSpPr>
        <p:spPr>
          <a:xfrm rot="16200000">
            <a:off x="-930350" y="5043232"/>
            <a:ext cx="2246881" cy="276999"/>
          </a:xfrm>
          <a:prstGeom prst="rect">
            <a:avLst/>
          </a:prstGeom>
          <a:noFill/>
        </p:spPr>
        <p:txBody>
          <a:bodyPr wrap="square" rtlCol="0">
            <a:spAutoFit/>
          </a:bodyPr>
          <a:lstStyle/>
          <a:p>
            <a:r>
              <a:rPr lang="en-US" sz="1200" b="1" dirty="0">
                <a:solidFill>
                  <a:schemeClr val="bg1"/>
                </a:solidFill>
                <a:latin typeface="Aptos ExtraBold" panose="020B0004020202020204" pitchFamily="34" charset="0"/>
              </a:rPr>
              <a:t>Software Development 1</a:t>
            </a:r>
          </a:p>
        </p:txBody>
      </p:sp>
      <p:sp>
        <p:nvSpPr>
          <p:cNvPr id="8" name="Content Placeholder 2">
            <a:extLst>
              <a:ext uri="{FF2B5EF4-FFF2-40B4-BE49-F238E27FC236}">
                <a16:creationId xmlns:a16="http://schemas.microsoft.com/office/drawing/2014/main" id="{3556E629-A092-313A-245F-87CCA20EFE1C}"/>
              </a:ext>
            </a:extLst>
          </p:cNvPr>
          <p:cNvSpPr txBox="1">
            <a:spLocks/>
          </p:cNvSpPr>
          <p:nvPr/>
        </p:nvSpPr>
        <p:spPr>
          <a:xfrm>
            <a:off x="1681480" y="2089574"/>
            <a:ext cx="7223760" cy="402336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 name="Title 1">
            <a:extLst>
              <a:ext uri="{FF2B5EF4-FFF2-40B4-BE49-F238E27FC236}">
                <a16:creationId xmlns:a16="http://schemas.microsoft.com/office/drawing/2014/main" id="{5E4381F4-C384-7795-00CC-E8F968D916B6}"/>
              </a:ext>
            </a:extLst>
          </p:cNvPr>
          <p:cNvSpPr txBox="1">
            <a:spLocks/>
          </p:cNvSpPr>
          <p:nvPr/>
        </p:nvSpPr>
        <p:spPr>
          <a:xfrm>
            <a:off x="838199" y="583179"/>
            <a:ext cx="9672264" cy="51410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dirty="0">
                <a:latin typeface="Helvetica Neue" panose="02000503000000020004" pitchFamily="2" charset="0"/>
                <a:ea typeface="Helvetica Neue" panose="02000503000000020004" pitchFamily="2" charset="0"/>
                <a:cs typeface="Helvetica Neue" panose="02000503000000020004" pitchFamily="2" charset="0"/>
              </a:rPr>
              <a:t>Range Examples</a:t>
            </a:r>
          </a:p>
        </p:txBody>
      </p:sp>
      <p:sp>
        <p:nvSpPr>
          <p:cNvPr id="4" name="TextBox 3">
            <a:extLst>
              <a:ext uri="{FF2B5EF4-FFF2-40B4-BE49-F238E27FC236}">
                <a16:creationId xmlns:a16="http://schemas.microsoft.com/office/drawing/2014/main" id="{E5511443-9798-66F9-084D-0CA9E1D5CDC6}"/>
              </a:ext>
            </a:extLst>
          </p:cNvPr>
          <p:cNvSpPr txBox="1"/>
          <p:nvPr/>
        </p:nvSpPr>
        <p:spPr>
          <a:xfrm>
            <a:off x="873760" y="1323112"/>
            <a:ext cx="9194800" cy="4893647"/>
          </a:xfrm>
          <a:prstGeom prst="rect">
            <a:avLst/>
          </a:prstGeom>
          <a:noFill/>
        </p:spPr>
        <p:txBody>
          <a:bodyPr wrap="square">
            <a:spAutoFit/>
          </a:bodyPr>
          <a:lstStyle/>
          <a:p>
            <a:r>
              <a:rPr lang="en-GB" sz="2400" dirty="0">
                <a:effectLst/>
                <a:latin typeface="Courier New" panose="02070309020205020404" pitchFamily="49" charset="0"/>
                <a:ea typeface="Helvetica Neue" panose="02000503000000020004" pitchFamily="2" charset="0"/>
                <a:cs typeface="Courier New" panose="02070309020205020404" pitchFamily="49" charset="0"/>
              </a:rPr>
              <a:t>range(1, 5) </a:t>
            </a:r>
          </a:p>
          <a:p>
            <a:endParaRPr lang="en-GB" sz="2400" dirty="0">
              <a:latin typeface="Helvetica Neue" panose="02000503000000020004" pitchFamily="2" charset="0"/>
              <a:ea typeface="Helvetica Neue" panose="02000503000000020004" pitchFamily="2" charset="0"/>
              <a:cs typeface="Helvetica Neue" panose="02000503000000020004" pitchFamily="2" charset="0"/>
            </a:endParaRPr>
          </a:p>
          <a:p>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generates sequence of integers </a:t>
            </a:r>
            <a:r>
              <a:rPr lang="en-GB" sz="2400" b="1" dirty="0">
                <a:effectLst/>
                <a:latin typeface="Helvetica Neue" panose="02000503000000020004" pitchFamily="2" charset="0"/>
                <a:ea typeface="Helvetica Neue" panose="02000503000000020004" pitchFamily="2" charset="0"/>
                <a:cs typeface="Helvetica Neue" panose="02000503000000020004" pitchFamily="2" charset="0"/>
              </a:rPr>
              <a:t>1, 2, 3, 4</a:t>
            </a: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 From 1 up to, but not including, 5. </a:t>
            </a:r>
            <a:endParaRPr lang="en-GB" sz="2400" dirty="0">
              <a:latin typeface="Helvetica Neue" panose="02000503000000020004" pitchFamily="2" charset="0"/>
              <a:ea typeface="Helvetica Neue" panose="02000503000000020004" pitchFamily="2" charset="0"/>
              <a:cs typeface="Helvetica Neue" panose="02000503000000020004" pitchFamily="2" charset="0"/>
            </a:endParaRPr>
          </a:p>
          <a:p>
            <a:endParaRPr lang="en-GB" sz="2400" dirty="0">
              <a:latin typeface="Helvetica Neue" panose="02000503000000020004" pitchFamily="2" charset="0"/>
              <a:ea typeface="Helvetica Neue" panose="02000503000000020004" pitchFamily="2" charset="0"/>
              <a:cs typeface="Helvetica Neue" panose="02000503000000020004" pitchFamily="2" charset="0"/>
            </a:endParaRPr>
          </a:p>
          <a:p>
            <a:r>
              <a:rPr lang="en-GB" sz="2400" dirty="0">
                <a:effectLst/>
                <a:latin typeface="Courier New" panose="02070309020205020404" pitchFamily="49" charset="0"/>
                <a:ea typeface="Helvetica Neue" panose="02000503000000020004" pitchFamily="2" charset="0"/>
                <a:cs typeface="Courier New" panose="02070309020205020404" pitchFamily="49" charset="0"/>
              </a:rPr>
              <a:t>range(7) </a:t>
            </a:r>
            <a:endParaRPr lang="en-GB" sz="2400" dirty="0">
              <a:latin typeface="Courier New" panose="02070309020205020404" pitchFamily="49" charset="0"/>
              <a:ea typeface="Helvetica Neue" panose="02000503000000020004" pitchFamily="2" charset="0"/>
              <a:cs typeface="Courier New" panose="02070309020205020404" pitchFamily="49" charset="0"/>
            </a:endParaRPr>
          </a:p>
          <a:p>
            <a:endParaRPr lang="en-GB" sz="2400" dirty="0">
              <a:effectLst/>
              <a:latin typeface="Helvetica Neue" panose="02000503000000020004" pitchFamily="2" charset="0"/>
              <a:ea typeface="Helvetica Neue" panose="02000503000000020004" pitchFamily="2" charset="0"/>
              <a:cs typeface="Helvetica Neue" panose="02000503000000020004" pitchFamily="2" charset="0"/>
            </a:endParaRPr>
          </a:p>
          <a:p>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produces: </a:t>
            </a:r>
            <a:r>
              <a:rPr lang="en-GB" sz="2400" b="1" dirty="0">
                <a:effectLst/>
                <a:latin typeface="Helvetica Neue" panose="02000503000000020004" pitchFamily="2" charset="0"/>
                <a:ea typeface="Helvetica Neue" panose="02000503000000020004" pitchFamily="2" charset="0"/>
                <a:cs typeface="Helvetica Neue" panose="02000503000000020004" pitchFamily="2" charset="0"/>
              </a:rPr>
              <a:t>0,1,2,3,4,5,6</a:t>
            </a: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 (default start argument is 0) </a:t>
            </a:r>
          </a:p>
          <a:p>
            <a:endParaRPr lang="en-GB" sz="2400" dirty="0">
              <a:latin typeface="Helvetica Neue" panose="02000503000000020004" pitchFamily="2" charset="0"/>
              <a:ea typeface="Helvetica Neue" panose="02000503000000020004" pitchFamily="2" charset="0"/>
              <a:cs typeface="Helvetica Neue" panose="02000503000000020004" pitchFamily="2" charset="0"/>
            </a:endParaRPr>
          </a:p>
          <a:p>
            <a:r>
              <a:rPr lang="en-GB" sz="2400" dirty="0">
                <a:effectLst/>
                <a:latin typeface="Courier New" panose="02070309020205020404" pitchFamily="49" charset="0"/>
                <a:ea typeface="Helvetica Neue" panose="02000503000000020004" pitchFamily="2" charset="0"/>
                <a:cs typeface="Courier New" panose="02070309020205020404" pitchFamily="49" charset="0"/>
              </a:rPr>
              <a:t>range(1, 7) </a:t>
            </a:r>
          </a:p>
          <a:p>
            <a:endParaRPr lang="en-GB" sz="2400" dirty="0">
              <a:latin typeface="Helvetica Neue" panose="02000503000000020004" pitchFamily="2" charset="0"/>
              <a:ea typeface="Helvetica Neue" panose="02000503000000020004" pitchFamily="2" charset="0"/>
              <a:cs typeface="Helvetica Neue" panose="02000503000000020004" pitchFamily="2" charset="0"/>
            </a:endParaRPr>
          </a:p>
          <a:p>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Sequence generated: </a:t>
            </a:r>
            <a:r>
              <a:rPr lang="en-GB" sz="2400" b="1" dirty="0">
                <a:effectLst/>
                <a:latin typeface="Helvetica Neue" panose="02000503000000020004" pitchFamily="2" charset="0"/>
                <a:ea typeface="Helvetica Neue" panose="02000503000000020004" pitchFamily="2" charset="0"/>
                <a:cs typeface="Helvetica Neue" panose="02000503000000020004" pitchFamily="2" charset="0"/>
              </a:rPr>
              <a:t>1,2,3,4,5,6 </a:t>
            </a: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(setting the start number to 1)</a:t>
            </a:r>
          </a:p>
          <a:p>
            <a:endParaRPr lang="en-GB" sz="2400" dirty="0">
              <a:effectLst/>
              <a:latin typeface="Courier New" panose="02070309020205020404" pitchFamily="49" charset="0"/>
              <a:ea typeface="Helvetica Neue" panose="02000503000000020004" pitchFamily="2" charset="0"/>
              <a:cs typeface="Courier New" panose="02070309020205020404" pitchFamily="49" charset="0"/>
            </a:endParaRPr>
          </a:p>
        </p:txBody>
      </p:sp>
    </p:spTree>
    <p:extLst>
      <p:ext uri="{BB962C8B-B14F-4D97-AF65-F5344CB8AC3E}">
        <p14:creationId xmlns:p14="http://schemas.microsoft.com/office/powerpoint/2010/main" val="39731998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CE3F3E2-EF0C-DD60-7C29-2D13C930E4B5}"/>
              </a:ext>
            </a:extLst>
          </p:cNvPr>
          <p:cNvSpPr/>
          <p:nvPr/>
        </p:nvSpPr>
        <p:spPr>
          <a:xfrm>
            <a:off x="0" y="4099389"/>
            <a:ext cx="375920" cy="2270931"/>
          </a:xfrm>
          <a:prstGeom prst="rect">
            <a:avLst/>
          </a:prstGeom>
          <a:solidFill>
            <a:srgbClr val="FF9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9519C99-AA9F-E95C-13AB-EA3546581D88}"/>
              </a:ext>
            </a:extLst>
          </p:cNvPr>
          <p:cNvSpPr txBox="1"/>
          <p:nvPr/>
        </p:nvSpPr>
        <p:spPr>
          <a:xfrm rot="16200000">
            <a:off x="-930350" y="5043232"/>
            <a:ext cx="2246881" cy="276999"/>
          </a:xfrm>
          <a:prstGeom prst="rect">
            <a:avLst/>
          </a:prstGeom>
          <a:noFill/>
        </p:spPr>
        <p:txBody>
          <a:bodyPr wrap="square" rtlCol="0">
            <a:spAutoFit/>
          </a:bodyPr>
          <a:lstStyle/>
          <a:p>
            <a:r>
              <a:rPr lang="en-US" sz="1200" b="1" dirty="0">
                <a:solidFill>
                  <a:schemeClr val="bg1"/>
                </a:solidFill>
                <a:latin typeface="Aptos ExtraBold" panose="020B0004020202020204" pitchFamily="34" charset="0"/>
              </a:rPr>
              <a:t>Software Development 1</a:t>
            </a:r>
          </a:p>
        </p:txBody>
      </p:sp>
      <p:sp>
        <p:nvSpPr>
          <p:cNvPr id="8" name="Content Placeholder 2">
            <a:extLst>
              <a:ext uri="{FF2B5EF4-FFF2-40B4-BE49-F238E27FC236}">
                <a16:creationId xmlns:a16="http://schemas.microsoft.com/office/drawing/2014/main" id="{3556E629-A092-313A-245F-87CCA20EFE1C}"/>
              </a:ext>
            </a:extLst>
          </p:cNvPr>
          <p:cNvSpPr txBox="1">
            <a:spLocks/>
          </p:cNvSpPr>
          <p:nvPr/>
        </p:nvSpPr>
        <p:spPr>
          <a:xfrm>
            <a:off x="1681480" y="2089574"/>
            <a:ext cx="7223760" cy="402336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 name="Title 1">
            <a:extLst>
              <a:ext uri="{FF2B5EF4-FFF2-40B4-BE49-F238E27FC236}">
                <a16:creationId xmlns:a16="http://schemas.microsoft.com/office/drawing/2014/main" id="{5E4381F4-C384-7795-00CC-E8F968D916B6}"/>
              </a:ext>
            </a:extLst>
          </p:cNvPr>
          <p:cNvSpPr txBox="1">
            <a:spLocks/>
          </p:cNvSpPr>
          <p:nvPr/>
        </p:nvSpPr>
        <p:spPr>
          <a:xfrm>
            <a:off x="838199" y="583179"/>
            <a:ext cx="9672264" cy="51410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dirty="0">
                <a:latin typeface="Helvetica Neue" panose="02000503000000020004" pitchFamily="2" charset="0"/>
                <a:ea typeface="Helvetica Neue" panose="02000503000000020004" pitchFamily="2" charset="0"/>
                <a:cs typeface="Helvetica Neue" panose="02000503000000020004" pitchFamily="2" charset="0"/>
              </a:rPr>
              <a:t>range( ) with a ‘for’ loop</a:t>
            </a:r>
            <a:endParaRPr lang="en-GB" sz="2800" b="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TextBox 3">
            <a:extLst>
              <a:ext uri="{FF2B5EF4-FFF2-40B4-BE49-F238E27FC236}">
                <a16:creationId xmlns:a16="http://schemas.microsoft.com/office/drawing/2014/main" id="{148177C3-6D53-92B4-4D44-A219A0546A0D}"/>
              </a:ext>
            </a:extLst>
          </p:cNvPr>
          <p:cNvSpPr txBox="1"/>
          <p:nvPr/>
        </p:nvSpPr>
        <p:spPr>
          <a:xfrm>
            <a:off x="833120" y="1709619"/>
            <a:ext cx="8849360" cy="4708981"/>
          </a:xfrm>
          <a:prstGeom prst="rect">
            <a:avLst/>
          </a:prstGeom>
          <a:noFill/>
        </p:spPr>
        <p:txBody>
          <a:bodyPr wrap="square">
            <a:spAutoFit/>
          </a:bodyPr>
          <a:lstStyle/>
          <a:p>
            <a:r>
              <a:rPr lang="en-GB" sz="2400" dirty="0">
                <a:effectLst/>
                <a:latin typeface="Courier New" panose="02070309020205020404" pitchFamily="49" charset="0"/>
                <a:ea typeface="Helvetica Neue" panose="02000503000000020004" pitchFamily="2" charset="0"/>
                <a:cs typeface="Courier New" panose="02070309020205020404" pitchFamily="49" charset="0"/>
              </a:rPr>
              <a:t> for </a:t>
            </a:r>
            <a:r>
              <a:rPr lang="en-GB" sz="2400" dirty="0" err="1">
                <a:effectLst/>
                <a:latin typeface="Courier New" panose="02070309020205020404" pitchFamily="49" charset="0"/>
                <a:ea typeface="Helvetica Neue" panose="02000503000000020004" pitchFamily="2" charset="0"/>
                <a:cs typeface="Courier New" panose="02070309020205020404" pitchFamily="49" charset="0"/>
              </a:rPr>
              <a:t>i</a:t>
            </a:r>
            <a:r>
              <a:rPr lang="en-GB" sz="2400" dirty="0">
                <a:effectLst/>
                <a:latin typeface="Courier New" panose="02070309020205020404" pitchFamily="49" charset="0"/>
                <a:ea typeface="Helvetica Neue" panose="02000503000000020004" pitchFamily="2" charset="0"/>
                <a:cs typeface="Courier New" panose="02070309020205020404" pitchFamily="49" charset="0"/>
              </a:rPr>
              <a:t> in range(10): </a:t>
            </a:r>
            <a:endParaRPr lang="en-GB" sz="2400" dirty="0">
              <a:latin typeface="Courier New" panose="02070309020205020404" pitchFamily="49" charset="0"/>
              <a:ea typeface="Helvetica Neue" panose="02000503000000020004" pitchFamily="2" charset="0"/>
              <a:cs typeface="Courier New" panose="02070309020205020404" pitchFamily="49" charset="0"/>
            </a:endParaRPr>
          </a:p>
          <a:p>
            <a:r>
              <a:rPr lang="en-GB" sz="2400" dirty="0">
                <a:effectLst/>
                <a:latin typeface="Courier New" panose="02070309020205020404" pitchFamily="49" charset="0"/>
                <a:ea typeface="Helvetica Neue" panose="02000503000000020004" pitchFamily="2" charset="0"/>
                <a:cs typeface="Courier New" panose="02070309020205020404" pitchFamily="49" charset="0"/>
              </a:rPr>
              <a:t>	print(</a:t>
            </a:r>
            <a:r>
              <a:rPr lang="en-GB" sz="2400" dirty="0" err="1">
                <a:effectLst/>
                <a:latin typeface="Courier New" panose="02070309020205020404" pitchFamily="49" charset="0"/>
                <a:ea typeface="Helvetica Neue" panose="02000503000000020004" pitchFamily="2" charset="0"/>
                <a:cs typeface="Courier New" panose="02070309020205020404" pitchFamily="49" charset="0"/>
              </a:rPr>
              <a:t>i</a:t>
            </a:r>
            <a:r>
              <a:rPr lang="en-GB" sz="2400" dirty="0">
                <a:effectLst/>
                <a:latin typeface="Courier New" panose="02070309020205020404" pitchFamily="49" charset="0"/>
                <a:ea typeface="Helvetica Neue" panose="02000503000000020004" pitchFamily="2" charset="0"/>
                <a:cs typeface="Courier New" panose="02070309020205020404" pitchFamily="49" charset="0"/>
              </a:rPr>
              <a:t>)</a:t>
            </a:r>
          </a:p>
          <a:p>
            <a:endParaRPr lang="en-GB" sz="2400" dirty="0">
              <a:latin typeface="Helvetica Neue" panose="02000503000000020004" pitchFamily="2" charset="0"/>
              <a:ea typeface="Helvetica Neue" panose="02000503000000020004" pitchFamily="2" charset="0"/>
              <a:cs typeface="Helvetica Neue" panose="02000503000000020004" pitchFamily="2" charset="0"/>
            </a:endParaRPr>
          </a:p>
          <a:p>
            <a:pPr marL="342900" indent="-342900">
              <a:lnSpc>
                <a:spcPct val="150000"/>
              </a:lnSpc>
              <a:buFont typeface="Arial" panose="020B0604020202020204" pitchFamily="34" charset="0"/>
              <a:buChar char="•"/>
            </a:pP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The number passed to the </a:t>
            </a:r>
            <a:r>
              <a:rPr lang="en-GB" sz="2400" b="1" dirty="0">
                <a:effectLst/>
                <a:latin typeface="Helvetica Neue" panose="02000503000000020004" pitchFamily="2" charset="0"/>
                <a:ea typeface="Helvetica Neue" panose="02000503000000020004" pitchFamily="2" charset="0"/>
                <a:cs typeface="Helvetica Neue" panose="02000503000000020004" pitchFamily="2" charset="0"/>
              </a:rPr>
              <a:t>range </a:t>
            </a: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function tells the program how many times to loop. </a:t>
            </a:r>
          </a:p>
          <a:p>
            <a:pPr marL="342900" indent="-342900">
              <a:lnSpc>
                <a:spcPct val="150000"/>
              </a:lnSpc>
              <a:buFont typeface="Arial" panose="020B0604020202020204" pitchFamily="34" charset="0"/>
              <a:buChar char="•"/>
            </a:pP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The sequence generated is: </a:t>
            </a:r>
            <a:r>
              <a:rPr lang="en-GB" sz="2400" b="1" dirty="0">
                <a:effectLst/>
                <a:latin typeface="Helvetica Neue" panose="02000503000000020004" pitchFamily="2" charset="0"/>
                <a:ea typeface="Helvetica Neue" panose="02000503000000020004" pitchFamily="2" charset="0"/>
                <a:cs typeface="Helvetica Neue" panose="02000503000000020004" pitchFamily="2" charset="0"/>
              </a:rPr>
              <a:t>0, 1, 2, 3, 4, 5, 6, 7, 8, 9 </a:t>
            </a:r>
          </a:p>
          <a:p>
            <a:pPr marL="342900" indent="-342900">
              <a:lnSpc>
                <a:spcPct val="150000"/>
              </a:lnSpc>
              <a:buFont typeface="Arial" panose="020B0604020202020204" pitchFamily="34" charset="0"/>
              <a:buChar char="•"/>
            </a:pP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The sequence automatically starts at 0. The high value (10) is never part of the sequence. </a:t>
            </a:r>
          </a:p>
          <a:p>
            <a:pPr marL="342900" indent="-342900">
              <a:buFont typeface="Arial" panose="020B0604020202020204" pitchFamily="34" charset="0"/>
              <a:buChar char="•"/>
            </a:pPr>
            <a:endParaRPr lang="en-GB" sz="2400" dirty="0">
              <a:latin typeface="Helvetica Neue" panose="02000503000000020004" pitchFamily="2" charset="0"/>
              <a:ea typeface="Helvetica Neue" panose="02000503000000020004" pitchFamily="2" charset="0"/>
              <a:cs typeface="Helvetica Neue" panose="02000503000000020004" pitchFamily="2" charset="0"/>
            </a:endParaRPr>
          </a:p>
          <a:p>
            <a:pPr marL="342900" indent="-342900">
              <a:buFont typeface="Arial" panose="020B0604020202020204" pitchFamily="34" charset="0"/>
              <a:buChar char="•"/>
            </a:pPr>
            <a:endParaRPr lang="en-GB" sz="2400" dirty="0">
              <a:effectLst/>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1045659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CE3F3E2-EF0C-DD60-7C29-2D13C930E4B5}"/>
              </a:ext>
            </a:extLst>
          </p:cNvPr>
          <p:cNvSpPr/>
          <p:nvPr/>
        </p:nvSpPr>
        <p:spPr>
          <a:xfrm>
            <a:off x="0" y="4099389"/>
            <a:ext cx="375920" cy="2270931"/>
          </a:xfrm>
          <a:prstGeom prst="rect">
            <a:avLst/>
          </a:prstGeom>
          <a:solidFill>
            <a:srgbClr val="FF9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9519C99-AA9F-E95C-13AB-EA3546581D88}"/>
              </a:ext>
            </a:extLst>
          </p:cNvPr>
          <p:cNvSpPr txBox="1"/>
          <p:nvPr/>
        </p:nvSpPr>
        <p:spPr>
          <a:xfrm rot="16200000">
            <a:off x="-930350" y="5043232"/>
            <a:ext cx="2246881" cy="276999"/>
          </a:xfrm>
          <a:prstGeom prst="rect">
            <a:avLst/>
          </a:prstGeom>
          <a:noFill/>
        </p:spPr>
        <p:txBody>
          <a:bodyPr wrap="square" rtlCol="0">
            <a:spAutoFit/>
          </a:bodyPr>
          <a:lstStyle/>
          <a:p>
            <a:r>
              <a:rPr lang="en-US" sz="1200" b="1" dirty="0">
                <a:solidFill>
                  <a:schemeClr val="bg1"/>
                </a:solidFill>
                <a:latin typeface="Aptos ExtraBold" panose="020B0004020202020204" pitchFamily="34" charset="0"/>
              </a:rPr>
              <a:t>Software Development 1</a:t>
            </a:r>
          </a:p>
        </p:txBody>
      </p:sp>
      <p:sp>
        <p:nvSpPr>
          <p:cNvPr id="3" name="Title 1">
            <a:extLst>
              <a:ext uri="{FF2B5EF4-FFF2-40B4-BE49-F238E27FC236}">
                <a16:creationId xmlns:a16="http://schemas.microsoft.com/office/drawing/2014/main" id="{5E4381F4-C384-7795-00CC-E8F968D916B6}"/>
              </a:ext>
            </a:extLst>
          </p:cNvPr>
          <p:cNvSpPr txBox="1">
            <a:spLocks/>
          </p:cNvSpPr>
          <p:nvPr/>
        </p:nvSpPr>
        <p:spPr>
          <a:xfrm>
            <a:off x="838199" y="583179"/>
            <a:ext cx="9672264" cy="51410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dirty="0">
                <a:latin typeface="Helvetica Neue" panose="02000503000000020004" pitchFamily="2" charset="0"/>
                <a:ea typeface="Helvetica Neue" panose="02000503000000020004" pitchFamily="2" charset="0"/>
                <a:cs typeface="Helvetica Neue" panose="02000503000000020004" pitchFamily="2" charset="0"/>
              </a:rPr>
              <a:t>range( ) with a ‘for’ loop</a:t>
            </a:r>
            <a:endParaRPr lang="en-GB" sz="2800" b="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TextBox 3">
            <a:extLst>
              <a:ext uri="{FF2B5EF4-FFF2-40B4-BE49-F238E27FC236}">
                <a16:creationId xmlns:a16="http://schemas.microsoft.com/office/drawing/2014/main" id="{148177C3-6D53-92B4-4D44-A219A0546A0D}"/>
              </a:ext>
            </a:extLst>
          </p:cNvPr>
          <p:cNvSpPr txBox="1"/>
          <p:nvPr/>
        </p:nvSpPr>
        <p:spPr>
          <a:xfrm>
            <a:off x="833120" y="1709619"/>
            <a:ext cx="9408160" cy="3970318"/>
          </a:xfrm>
          <a:prstGeom prst="rect">
            <a:avLst/>
          </a:prstGeom>
          <a:noFill/>
        </p:spPr>
        <p:txBody>
          <a:bodyPr wrap="square">
            <a:spAutoFit/>
          </a:bodyPr>
          <a:lstStyle/>
          <a:p>
            <a:r>
              <a:rPr lang="en-GB" sz="2400" dirty="0">
                <a:effectLst/>
                <a:latin typeface="Courier New" panose="02070309020205020404" pitchFamily="49" charset="0"/>
                <a:ea typeface="Helvetica Neue" panose="02000503000000020004" pitchFamily="2" charset="0"/>
                <a:cs typeface="Courier New" panose="02070309020205020404" pitchFamily="49" charset="0"/>
              </a:rPr>
              <a:t>for </a:t>
            </a:r>
            <a:r>
              <a:rPr lang="en-GB" sz="2400" dirty="0" err="1">
                <a:effectLst/>
                <a:latin typeface="Courier New" panose="02070309020205020404" pitchFamily="49" charset="0"/>
                <a:ea typeface="Helvetica Neue" panose="02000503000000020004" pitchFamily="2" charset="0"/>
                <a:cs typeface="Courier New" panose="02070309020205020404" pitchFamily="49" charset="0"/>
              </a:rPr>
              <a:t>i</a:t>
            </a:r>
            <a:r>
              <a:rPr lang="en-GB" sz="2400" dirty="0">
                <a:effectLst/>
                <a:latin typeface="Courier New" panose="02070309020205020404" pitchFamily="49" charset="0"/>
                <a:ea typeface="Helvetica Neue" panose="02000503000000020004" pitchFamily="2" charset="0"/>
                <a:cs typeface="Courier New" panose="02070309020205020404" pitchFamily="49" charset="0"/>
              </a:rPr>
              <a:t> in range(5, 10): </a:t>
            </a:r>
            <a:endParaRPr lang="en-GB" sz="2400" dirty="0">
              <a:latin typeface="Courier New" panose="02070309020205020404" pitchFamily="49" charset="0"/>
              <a:ea typeface="Helvetica Neue" panose="02000503000000020004" pitchFamily="2" charset="0"/>
              <a:cs typeface="Courier New" panose="02070309020205020404" pitchFamily="49" charset="0"/>
            </a:endParaRPr>
          </a:p>
          <a:p>
            <a:r>
              <a:rPr lang="en-GB" sz="2400" dirty="0">
                <a:effectLst/>
                <a:latin typeface="Courier New" panose="02070309020205020404" pitchFamily="49" charset="0"/>
                <a:ea typeface="Helvetica Neue" panose="02000503000000020004" pitchFamily="2" charset="0"/>
                <a:cs typeface="Courier New" panose="02070309020205020404" pitchFamily="49" charset="0"/>
              </a:rPr>
              <a:t>	print(</a:t>
            </a:r>
            <a:r>
              <a:rPr lang="en-GB" sz="2400" dirty="0" err="1">
                <a:effectLst/>
                <a:latin typeface="Courier New" panose="02070309020205020404" pitchFamily="49" charset="0"/>
                <a:ea typeface="Helvetica Neue" panose="02000503000000020004" pitchFamily="2" charset="0"/>
                <a:cs typeface="Courier New" panose="02070309020205020404" pitchFamily="49" charset="0"/>
              </a:rPr>
              <a:t>i</a:t>
            </a:r>
            <a:r>
              <a:rPr lang="en-GB" sz="2400" dirty="0">
                <a:effectLst/>
                <a:latin typeface="Courier New" panose="02070309020205020404" pitchFamily="49" charset="0"/>
                <a:ea typeface="Helvetica Neue" panose="02000503000000020004" pitchFamily="2" charset="0"/>
                <a:cs typeface="Courier New" panose="02070309020205020404" pitchFamily="49" charset="0"/>
              </a:rPr>
              <a:t>) </a:t>
            </a:r>
          </a:p>
          <a:p>
            <a:endParaRPr lang="en-GB" sz="2400" dirty="0">
              <a:latin typeface="Courier New" panose="02070309020205020404" pitchFamily="49" charset="0"/>
              <a:ea typeface="Helvetica Neue" panose="02000503000000020004" pitchFamily="2" charset="0"/>
              <a:cs typeface="Courier New" panose="02070309020205020404" pitchFamily="49" charset="0"/>
            </a:endParaRPr>
          </a:p>
          <a:p>
            <a:pPr marL="342900" indent="-342900">
              <a:lnSpc>
                <a:spcPct val="150000"/>
              </a:lnSpc>
              <a:buFont typeface="Arial" panose="020B0604020202020204" pitchFamily="34" charset="0"/>
              <a:buChar char="•"/>
            </a:pPr>
            <a:r>
              <a:rPr lang="en-GB" sz="2400" dirty="0">
                <a:effectLst/>
                <a:latin typeface="Courier New" panose="02070309020205020404" pitchFamily="49" charset="0"/>
                <a:ea typeface="Helvetica Neue" panose="02000503000000020004" pitchFamily="2" charset="0"/>
                <a:cs typeface="Courier New" panose="02070309020205020404" pitchFamily="49" charset="0"/>
              </a:rPr>
              <a:t>range() </a:t>
            </a: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with ‘for’ loop </a:t>
            </a:r>
          </a:p>
          <a:p>
            <a:pPr marL="342900" indent="-342900">
              <a:lnSpc>
                <a:spcPct val="150000"/>
              </a:lnSpc>
              <a:buFont typeface="Arial" panose="020B0604020202020204" pitchFamily="34" charset="0"/>
              <a:buChar char="•"/>
            </a:pP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Sequence generated:</a:t>
            </a:r>
            <a:r>
              <a:rPr lang="en-GB" sz="2400" b="1" dirty="0">
                <a:effectLst/>
                <a:latin typeface="Helvetica Neue" panose="02000503000000020004" pitchFamily="2" charset="0"/>
                <a:ea typeface="Helvetica Neue" panose="02000503000000020004" pitchFamily="2" charset="0"/>
                <a:cs typeface="Helvetica Neue" panose="02000503000000020004" pitchFamily="2" charset="0"/>
              </a:rPr>
              <a:t> 5,6,7,8,9 </a:t>
            </a: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(setting the start number to 5). </a:t>
            </a:r>
          </a:p>
          <a:p>
            <a:pPr marL="342900" indent="-342900">
              <a:lnSpc>
                <a:spcPct val="150000"/>
              </a:lnSpc>
              <a:buFont typeface="Arial" panose="020B0604020202020204" pitchFamily="34" charset="0"/>
              <a:buChar char="•"/>
            </a:pP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Remember, the end point (10) is never part of the </a:t>
            </a:r>
          </a:p>
          <a:p>
            <a:r>
              <a:rPr lang="en-GB" sz="2400" dirty="0">
                <a:latin typeface="Helvetica Neue" panose="02000503000000020004" pitchFamily="2" charset="0"/>
                <a:ea typeface="Helvetica Neue" panose="02000503000000020004" pitchFamily="2" charset="0"/>
                <a:cs typeface="Helvetica Neue" panose="02000503000000020004" pitchFamily="2" charset="0"/>
              </a:rPr>
              <a:t>    </a:t>
            </a: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generated sequence. </a:t>
            </a:r>
          </a:p>
          <a:p>
            <a:endParaRPr lang="en-GB" sz="2400" dirty="0">
              <a:latin typeface="Helvetica Neue" panose="02000503000000020004" pitchFamily="2" charset="0"/>
              <a:ea typeface="Helvetica Neue" panose="02000503000000020004" pitchFamily="2" charset="0"/>
              <a:cs typeface="Helvetica Neue" panose="02000503000000020004" pitchFamily="2" charset="0"/>
            </a:endParaRPr>
          </a:p>
          <a:p>
            <a:pPr marL="342900" indent="-342900">
              <a:buFont typeface="Arial" panose="020B0604020202020204" pitchFamily="34" charset="0"/>
              <a:buChar char="•"/>
            </a:pPr>
            <a:endParaRPr lang="en-GB" sz="2400" dirty="0">
              <a:effectLst/>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2374928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CE3F3E2-EF0C-DD60-7C29-2D13C930E4B5}"/>
              </a:ext>
            </a:extLst>
          </p:cNvPr>
          <p:cNvSpPr/>
          <p:nvPr/>
        </p:nvSpPr>
        <p:spPr>
          <a:xfrm>
            <a:off x="0" y="4099389"/>
            <a:ext cx="375920" cy="2270931"/>
          </a:xfrm>
          <a:prstGeom prst="rect">
            <a:avLst/>
          </a:prstGeom>
          <a:solidFill>
            <a:srgbClr val="FF9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9519C99-AA9F-E95C-13AB-EA3546581D88}"/>
              </a:ext>
            </a:extLst>
          </p:cNvPr>
          <p:cNvSpPr txBox="1"/>
          <p:nvPr/>
        </p:nvSpPr>
        <p:spPr>
          <a:xfrm rot="16200000">
            <a:off x="-930350" y="5043232"/>
            <a:ext cx="2246881" cy="276999"/>
          </a:xfrm>
          <a:prstGeom prst="rect">
            <a:avLst/>
          </a:prstGeom>
          <a:noFill/>
        </p:spPr>
        <p:txBody>
          <a:bodyPr wrap="square" rtlCol="0">
            <a:spAutoFit/>
          </a:bodyPr>
          <a:lstStyle/>
          <a:p>
            <a:r>
              <a:rPr lang="en-US" sz="1200" b="1" dirty="0">
                <a:solidFill>
                  <a:schemeClr val="bg1"/>
                </a:solidFill>
                <a:latin typeface="Aptos ExtraBold" panose="020B0004020202020204" pitchFamily="34" charset="0"/>
              </a:rPr>
              <a:t>Software Development 1</a:t>
            </a:r>
          </a:p>
        </p:txBody>
      </p:sp>
      <p:sp>
        <p:nvSpPr>
          <p:cNvPr id="8" name="Content Placeholder 2">
            <a:extLst>
              <a:ext uri="{FF2B5EF4-FFF2-40B4-BE49-F238E27FC236}">
                <a16:creationId xmlns:a16="http://schemas.microsoft.com/office/drawing/2014/main" id="{3556E629-A092-313A-245F-87CCA20EFE1C}"/>
              </a:ext>
            </a:extLst>
          </p:cNvPr>
          <p:cNvSpPr txBox="1">
            <a:spLocks/>
          </p:cNvSpPr>
          <p:nvPr/>
        </p:nvSpPr>
        <p:spPr>
          <a:xfrm>
            <a:off x="1681480" y="2089574"/>
            <a:ext cx="7223760" cy="402336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 name="Title 1">
            <a:extLst>
              <a:ext uri="{FF2B5EF4-FFF2-40B4-BE49-F238E27FC236}">
                <a16:creationId xmlns:a16="http://schemas.microsoft.com/office/drawing/2014/main" id="{5E4381F4-C384-7795-00CC-E8F968D916B6}"/>
              </a:ext>
            </a:extLst>
          </p:cNvPr>
          <p:cNvSpPr txBox="1">
            <a:spLocks/>
          </p:cNvSpPr>
          <p:nvPr/>
        </p:nvSpPr>
        <p:spPr>
          <a:xfrm>
            <a:off x="838199" y="583179"/>
            <a:ext cx="9672264" cy="51410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dirty="0">
                <a:latin typeface="Helvetica Neue" panose="02000503000000020004" pitchFamily="2" charset="0"/>
                <a:ea typeface="Helvetica Neue" panose="02000503000000020004" pitchFamily="2" charset="0"/>
                <a:cs typeface="Helvetica Neue" panose="02000503000000020004" pitchFamily="2" charset="0"/>
              </a:rPr>
              <a:t>range( ) with a Third Parameter</a:t>
            </a:r>
            <a:endParaRPr lang="en-GB" sz="2800" b="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TextBox 3">
            <a:extLst>
              <a:ext uri="{FF2B5EF4-FFF2-40B4-BE49-F238E27FC236}">
                <a16:creationId xmlns:a16="http://schemas.microsoft.com/office/drawing/2014/main" id="{148177C3-6D53-92B4-4D44-A219A0546A0D}"/>
              </a:ext>
            </a:extLst>
          </p:cNvPr>
          <p:cNvSpPr txBox="1"/>
          <p:nvPr/>
        </p:nvSpPr>
        <p:spPr>
          <a:xfrm>
            <a:off x="863600" y="1256328"/>
            <a:ext cx="9895840" cy="4893647"/>
          </a:xfrm>
          <a:prstGeom prst="rect">
            <a:avLst/>
          </a:prstGeom>
          <a:noFill/>
        </p:spPr>
        <p:txBody>
          <a:bodyPr wrap="square">
            <a:spAutoFit/>
          </a:bodyPr>
          <a:lstStyle/>
          <a:p>
            <a:r>
              <a:rPr lang="en-GB" sz="2400" dirty="0">
                <a:effectLst/>
                <a:latin typeface="Courier New" panose="02070309020205020404" pitchFamily="49" charset="0"/>
                <a:ea typeface="Helvetica Neue" panose="02000503000000020004" pitchFamily="2" charset="0"/>
                <a:cs typeface="Courier New" panose="02070309020205020404" pitchFamily="49" charset="0"/>
              </a:rPr>
              <a:t>range(0, 7, 2) </a:t>
            </a:r>
          </a:p>
          <a:p>
            <a:endParaRPr lang="en-GB" sz="2400" dirty="0">
              <a:latin typeface="Courier New" panose="02070309020205020404" pitchFamily="49" charset="0"/>
              <a:ea typeface="Helvetica Neue" panose="02000503000000020004" pitchFamily="2" charset="0"/>
              <a:cs typeface="Courier New" panose="02070309020205020404" pitchFamily="49" charset="0"/>
            </a:endParaRPr>
          </a:p>
          <a:p>
            <a:pPr marL="342900" indent="-342900">
              <a:buFont typeface="Arial" panose="020B0604020202020204" pitchFamily="34" charset="0"/>
              <a:buChar char="•"/>
            </a:pP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The third </a:t>
            </a:r>
            <a:r>
              <a:rPr lang="en-GB" sz="2400" i="1" dirty="0">
                <a:effectLst/>
                <a:latin typeface="Helvetica Neue" panose="02000503000000020004" pitchFamily="2" charset="0"/>
                <a:ea typeface="Helvetica Neue" panose="02000503000000020004" pitchFamily="2" charset="0"/>
                <a:cs typeface="Helvetica Neue" panose="02000503000000020004" pitchFamily="2" charset="0"/>
              </a:rPr>
              <a:t>argument</a:t>
            </a: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 specifies the sequence incrementation (step). </a:t>
            </a:r>
          </a:p>
          <a:p>
            <a:pPr marL="342900" indent="-342900">
              <a:buFont typeface="Arial" panose="020B0604020202020204" pitchFamily="34" charset="0"/>
              <a:buChar char="•"/>
            </a:pP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The sequence generates the sequence in steps of 2. The default is 1. </a:t>
            </a:r>
          </a:p>
          <a:p>
            <a:pPr marL="342900" indent="-342900">
              <a:buFont typeface="Arial" panose="020B0604020202020204" pitchFamily="34" charset="0"/>
              <a:buChar char="•"/>
            </a:pP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Generates sequence: </a:t>
            </a:r>
            <a:r>
              <a:rPr lang="en-GB" sz="2400" b="1" dirty="0">
                <a:effectLst/>
                <a:latin typeface="Helvetica Neue" panose="02000503000000020004" pitchFamily="2" charset="0"/>
                <a:ea typeface="Helvetica Neue" panose="02000503000000020004" pitchFamily="2" charset="0"/>
                <a:cs typeface="Helvetica Neue" panose="02000503000000020004" pitchFamily="2" charset="0"/>
              </a:rPr>
              <a:t>0, 2, 4, 6</a:t>
            </a:r>
          </a:p>
          <a:p>
            <a:endParaRPr lang="en-GB" sz="2400" dirty="0">
              <a:latin typeface="Helvetica Neue" panose="02000503000000020004" pitchFamily="2" charset="0"/>
              <a:ea typeface="Helvetica Neue" panose="02000503000000020004" pitchFamily="2" charset="0"/>
              <a:cs typeface="Helvetica Neue" panose="02000503000000020004" pitchFamily="2" charset="0"/>
            </a:endParaRPr>
          </a:p>
          <a:p>
            <a:r>
              <a:rPr lang="en-GB" sz="2400" dirty="0">
                <a:effectLst/>
                <a:latin typeface="Courier New" panose="02070309020205020404" pitchFamily="49" charset="0"/>
                <a:ea typeface="Helvetica Neue" panose="02000503000000020004" pitchFamily="2" charset="0"/>
                <a:cs typeface="Courier New" panose="02070309020205020404" pitchFamily="49" charset="0"/>
              </a:rPr>
              <a:t>for </a:t>
            </a:r>
            <a:r>
              <a:rPr lang="en-GB" sz="2400" dirty="0" err="1">
                <a:effectLst/>
                <a:latin typeface="Courier New" panose="02070309020205020404" pitchFamily="49" charset="0"/>
                <a:ea typeface="Helvetica Neue" panose="02000503000000020004" pitchFamily="2" charset="0"/>
                <a:cs typeface="Courier New" panose="02070309020205020404" pitchFamily="49" charset="0"/>
              </a:rPr>
              <a:t>i</a:t>
            </a:r>
            <a:r>
              <a:rPr lang="en-GB" sz="2400" dirty="0">
                <a:effectLst/>
                <a:latin typeface="Courier New" panose="02070309020205020404" pitchFamily="49" charset="0"/>
                <a:ea typeface="Helvetica Neue" panose="02000503000000020004" pitchFamily="2" charset="0"/>
                <a:cs typeface="Courier New" panose="02070309020205020404" pitchFamily="49" charset="0"/>
              </a:rPr>
              <a:t> in range (0,50,5): </a:t>
            </a:r>
          </a:p>
          <a:p>
            <a:r>
              <a:rPr lang="en-GB" sz="2400" dirty="0">
                <a:effectLst/>
                <a:latin typeface="Courier New" panose="02070309020205020404" pitchFamily="49" charset="0"/>
                <a:ea typeface="Helvetica Neue" panose="02000503000000020004" pitchFamily="2" charset="0"/>
                <a:cs typeface="Courier New" panose="02070309020205020404" pitchFamily="49" charset="0"/>
              </a:rPr>
              <a:t>	print(</a:t>
            </a:r>
            <a:r>
              <a:rPr lang="en-GB" sz="2400" dirty="0" err="1">
                <a:effectLst/>
                <a:latin typeface="Courier New" panose="02070309020205020404" pitchFamily="49" charset="0"/>
                <a:ea typeface="Helvetica Neue" panose="02000503000000020004" pitchFamily="2" charset="0"/>
                <a:cs typeface="Courier New" panose="02070309020205020404" pitchFamily="49" charset="0"/>
              </a:rPr>
              <a:t>i</a:t>
            </a:r>
            <a:r>
              <a:rPr lang="en-GB" sz="2400" dirty="0">
                <a:effectLst/>
                <a:latin typeface="Courier New" panose="02070309020205020404" pitchFamily="49" charset="0"/>
                <a:ea typeface="Helvetica Neue" panose="02000503000000020004" pitchFamily="2" charset="0"/>
                <a:cs typeface="Courier New" panose="02070309020205020404" pitchFamily="49" charset="0"/>
              </a:rPr>
              <a:t>) </a:t>
            </a:r>
          </a:p>
          <a:p>
            <a:endParaRPr lang="en-GB" sz="2400" dirty="0">
              <a:latin typeface="Helvetica Neue" panose="02000503000000020004" pitchFamily="2" charset="0"/>
              <a:ea typeface="Helvetica Neue" panose="02000503000000020004" pitchFamily="2" charset="0"/>
              <a:cs typeface="Helvetica Neue" panose="02000503000000020004" pitchFamily="2" charset="0"/>
            </a:endParaRPr>
          </a:p>
          <a:p>
            <a:pPr marL="342900" indent="-342900">
              <a:buFont typeface="Arial" panose="020B0604020202020204" pitchFamily="34" charset="0"/>
              <a:buChar char="•"/>
            </a:pP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Third argument specifies the sequence incrementation (step). </a:t>
            </a:r>
            <a:endParaRPr lang="en-GB" sz="2400" dirty="0">
              <a:latin typeface="Helvetica Neue" panose="02000503000000020004" pitchFamily="2" charset="0"/>
              <a:ea typeface="Helvetica Neue" panose="02000503000000020004" pitchFamily="2" charset="0"/>
              <a:cs typeface="Helvetica Neue" panose="02000503000000020004" pitchFamily="2" charset="0"/>
            </a:endParaRPr>
          </a:p>
          <a:p>
            <a:pPr marL="342900" indent="-342900">
              <a:buFont typeface="Arial" panose="020B0604020202020204" pitchFamily="34" charset="0"/>
              <a:buChar char="•"/>
            </a:pP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The first number is the start number </a:t>
            </a:r>
          </a:p>
          <a:p>
            <a:pPr marL="342900" indent="-342900">
              <a:buFont typeface="Arial" panose="020B0604020202020204" pitchFamily="34" charset="0"/>
              <a:buChar char="•"/>
            </a:pP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Second number is the stop number </a:t>
            </a:r>
          </a:p>
          <a:p>
            <a:pPr marL="342900" indent="-342900">
              <a:buFont typeface="Arial" panose="020B0604020202020204" pitchFamily="34" charset="0"/>
              <a:buChar char="•"/>
            </a:pP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Sequence generated: </a:t>
            </a:r>
            <a:r>
              <a:rPr lang="en-GB" sz="2400" b="1" dirty="0">
                <a:effectLst/>
                <a:latin typeface="Helvetica Neue" panose="02000503000000020004" pitchFamily="2" charset="0"/>
                <a:ea typeface="Helvetica Neue" panose="02000503000000020004" pitchFamily="2" charset="0"/>
                <a:cs typeface="Helvetica Neue" panose="02000503000000020004" pitchFamily="2" charset="0"/>
              </a:rPr>
              <a:t>0, 5, 10, 15, 20, 25, 30, 35, 40, 45</a:t>
            </a:r>
          </a:p>
        </p:txBody>
      </p:sp>
    </p:spTree>
    <p:extLst>
      <p:ext uri="{BB962C8B-B14F-4D97-AF65-F5344CB8AC3E}">
        <p14:creationId xmlns:p14="http://schemas.microsoft.com/office/powerpoint/2010/main" val="6601912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CE3F3E2-EF0C-DD60-7C29-2D13C930E4B5}"/>
              </a:ext>
            </a:extLst>
          </p:cNvPr>
          <p:cNvSpPr/>
          <p:nvPr/>
        </p:nvSpPr>
        <p:spPr>
          <a:xfrm>
            <a:off x="0" y="4099389"/>
            <a:ext cx="375920" cy="2270931"/>
          </a:xfrm>
          <a:prstGeom prst="rect">
            <a:avLst/>
          </a:prstGeom>
          <a:solidFill>
            <a:srgbClr val="FF9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9519C99-AA9F-E95C-13AB-EA3546581D88}"/>
              </a:ext>
            </a:extLst>
          </p:cNvPr>
          <p:cNvSpPr txBox="1"/>
          <p:nvPr/>
        </p:nvSpPr>
        <p:spPr>
          <a:xfrm rot="16200000">
            <a:off x="-930350" y="5043232"/>
            <a:ext cx="2246881" cy="276999"/>
          </a:xfrm>
          <a:prstGeom prst="rect">
            <a:avLst/>
          </a:prstGeom>
          <a:noFill/>
        </p:spPr>
        <p:txBody>
          <a:bodyPr wrap="square" rtlCol="0">
            <a:spAutoFit/>
          </a:bodyPr>
          <a:lstStyle/>
          <a:p>
            <a:r>
              <a:rPr lang="en-US" sz="1200" b="1" dirty="0">
                <a:solidFill>
                  <a:schemeClr val="bg1"/>
                </a:solidFill>
                <a:latin typeface="Aptos ExtraBold" panose="020B0004020202020204" pitchFamily="34" charset="0"/>
              </a:rPr>
              <a:t>Software Development 1</a:t>
            </a:r>
          </a:p>
        </p:txBody>
      </p:sp>
      <p:sp>
        <p:nvSpPr>
          <p:cNvPr id="8" name="Content Placeholder 2">
            <a:extLst>
              <a:ext uri="{FF2B5EF4-FFF2-40B4-BE49-F238E27FC236}">
                <a16:creationId xmlns:a16="http://schemas.microsoft.com/office/drawing/2014/main" id="{3556E629-A092-313A-245F-87CCA20EFE1C}"/>
              </a:ext>
            </a:extLst>
          </p:cNvPr>
          <p:cNvSpPr txBox="1">
            <a:spLocks/>
          </p:cNvSpPr>
          <p:nvPr/>
        </p:nvSpPr>
        <p:spPr>
          <a:xfrm>
            <a:off x="1681480" y="2089574"/>
            <a:ext cx="7223760" cy="402336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 name="Title 1">
            <a:extLst>
              <a:ext uri="{FF2B5EF4-FFF2-40B4-BE49-F238E27FC236}">
                <a16:creationId xmlns:a16="http://schemas.microsoft.com/office/drawing/2014/main" id="{5E4381F4-C384-7795-00CC-E8F968D916B6}"/>
              </a:ext>
            </a:extLst>
          </p:cNvPr>
          <p:cNvSpPr txBox="1">
            <a:spLocks/>
          </p:cNvSpPr>
          <p:nvPr/>
        </p:nvSpPr>
        <p:spPr>
          <a:xfrm>
            <a:off x="838199" y="583179"/>
            <a:ext cx="9672264" cy="51410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dirty="0">
                <a:latin typeface="Helvetica Neue" panose="02000503000000020004" pitchFamily="2" charset="0"/>
                <a:ea typeface="Helvetica Neue" panose="02000503000000020004" pitchFamily="2" charset="0"/>
                <a:cs typeface="Helvetica Neue" panose="02000503000000020004" pitchFamily="2" charset="0"/>
              </a:rPr>
              <a:t>range( ) Counting in Fives, Counting Backwards</a:t>
            </a:r>
            <a:endParaRPr lang="en-GB" sz="2800" b="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TextBox 3">
            <a:extLst>
              <a:ext uri="{FF2B5EF4-FFF2-40B4-BE49-F238E27FC236}">
                <a16:creationId xmlns:a16="http://schemas.microsoft.com/office/drawing/2014/main" id="{148177C3-6D53-92B4-4D44-A219A0546A0D}"/>
              </a:ext>
            </a:extLst>
          </p:cNvPr>
          <p:cNvSpPr txBox="1"/>
          <p:nvPr/>
        </p:nvSpPr>
        <p:spPr>
          <a:xfrm>
            <a:off x="873760" y="1313379"/>
            <a:ext cx="10830560" cy="6001643"/>
          </a:xfrm>
          <a:prstGeom prst="rect">
            <a:avLst/>
          </a:prstGeom>
          <a:noFill/>
        </p:spPr>
        <p:txBody>
          <a:bodyPr wrap="square">
            <a:spAutoFit/>
          </a:bodyPr>
          <a:lstStyle/>
          <a:p>
            <a:r>
              <a:rPr lang="en-GB" sz="2400" dirty="0">
                <a:effectLst/>
                <a:latin typeface="Courier New" panose="02070309020205020404" pitchFamily="49" charset="0"/>
                <a:ea typeface="Helvetica Neue" panose="02000503000000020004" pitchFamily="2" charset="0"/>
                <a:cs typeface="Courier New" panose="02070309020205020404" pitchFamily="49" charset="0"/>
              </a:rPr>
              <a:t>for </a:t>
            </a:r>
            <a:r>
              <a:rPr lang="en-GB" sz="2400" dirty="0" err="1">
                <a:effectLst/>
                <a:latin typeface="Courier New" panose="02070309020205020404" pitchFamily="49" charset="0"/>
                <a:ea typeface="Helvetica Neue" panose="02000503000000020004" pitchFamily="2" charset="0"/>
                <a:cs typeface="Courier New" panose="02070309020205020404" pitchFamily="49" charset="0"/>
              </a:rPr>
              <a:t>i</a:t>
            </a:r>
            <a:r>
              <a:rPr lang="en-GB" sz="2400" dirty="0">
                <a:effectLst/>
                <a:latin typeface="Courier New" panose="02070309020205020404" pitchFamily="49" charset="0"/>
                <a:ea typeface="Helvetica Neue" panose="02000503000000020004" pitchFamily="2" charset="0"/>
                <a:cs typeface="Courier New" panose="02070309020205020404" pitchFamily="49" charset="0"/>
              </a:rPr>
              <a:t> in range (0,50,5): </a:t>
            </a:r>
          </a:p>
          <a:p>
            <a:r>
              <a:rPr lang="en-GB" sz="2400" dirty="0">
                <a:latin typeface="Courier New" panose="02070309020205020404" pitchFamily="49" charset="0"/>
                <a:ea typeface="Helvetica Neue" panose="02000503000000020004" pitchFamily="2" charset="0"/>
                <a:cs typeface="Courier New" panose="02070309020205020404" pitchFamily="49" charset="0"/>
              </a:rPr>
              <a:t>	</a:t>
            </a:r>
            <a:r>
              <a:rPr lang="en-GB" sz="2400" dirty="0">
                <a:effectLst/>
                <a:latin typeface="Courier New" panose="02070309020205020404" pitchFamily="49" charset="0"/>
                <a:ea typeface="Helvetica Neue" panose="02000503000000020004" pitchFamily="2" charset="0"/>
                <a:cs typeface="Courier New" panose="02070309020205020404" pitchFamily="49" charset="0"/>
              </a:rPr>
              <a:t>print(</a:t>
            </a:r>
            <a:r>
              <a:rPr lang="en-GB" sz="2400" dirty="0" err="1">
                <a:effectLst/>
                <a:latin typeface="Courier New" panose="02070309020205020404" pitchFamily="49" charset="0"/>
                <a:ea typeface="Helvetica Neue" panose="02000503000000020004" pitchFamily="2" charset="0"/>
                <a:cs typeface="Courier New" panose="02070309020205020404" pitchFamily="49" charset="0"/>
              </a:rPr>
              <a:t>i</a:t>
            </a:r>
            <a:r>
              <a:rPr lang="en-GB" sz="2400" dirty="0">
                <a:effectLst/>
                <a:latin typeface="Courier New" panose="02070309020205020404" pitchFamily="49" charset="0"/>
                <a:ea typeface="Helvetica Neue" panose="02000503000000020004" pitchFamily="2" charset="0"/>
                <a:cs typeface="Courier New" panose="02070309020205020404" pitchFamily="49" charset="0"/>
              </a:rPr>
              <a:t>)</a:t>
            </a:r>
          </a:p>
          <a:p>
            <a:endParaRPr lang="en-GB" sz="2400" dirty="0">
              <a:latin typeface="Courier New" panose="02070309020205020404" pitchFamily="49" charset="0"/>
              <a:ea typeface="Helvetica Neue" panose="02000503000000020004" pitchFamily="2" charset="0"/>
              <a:cs typeface="Courier New" panose="02070309020205020404" pitchFamily="49" charset="0"/>
            </a:endParaRPr>
          </a:p>
          <a:p>
            <a:r>
              <a:rPr lang="en-GB" sz="2400" dirty="0">
                <a:effectLst/>
                <a:latin typeface="Calibri" panose="020F0502020204030204" pitchFamily="34" charset="0"/>
              </a:rPr>
              <a:t>Sequence generated: </a:t>
            </a:r>
            <a:r>
              <a:rPr lang="en-GB" sz="2400" b="1" dirty="0">
                <a:effectLst/>
                <a:latin typeface="Calibri" panose="020F0502020204030204" pitchFamily="34" charset="0"/>
              </a:rPr>
              <a:t>0, 5, 10, 15, 20, 25, 30, 35, 40, 45</a:t>
            </a:r>
          </a:p>
          <a:p>
            <a:endParaRPr lang="en-GB" sz="2400" dirty="0">
              <a:latin typeface="Calibri" panose="020F0502020204030204" pitchFamily="34" charset="0"/>
            </a:endParaRPr>
          </a:p>
          <a:p>
            <a:r>
              <a:rPr lang="en-GB" sz="2400" dirty="0">
                <a:effectLst/>
                <a:latin typeface="CourierNewPSMT" panose="02070309020205020404" pitchFamily="49" charset="0"/>
              </a:rPr>
              <a:t>print("Counting Backwards") </a:t>
            </a:r>
          </a:p>
          <a:p>
            <a:r>
              <a:rPr lang="en-GB" sz="2400" dirty="0">
                <a:effectLst/>
                <a:latin typeface="CourierNewPSMT" panose="02070309020205020404" pitchFamily="49" charset="0"/>
              </a:rPr>
              <a:t>for </a:t>
            </a:r>
            <a:r>
              <a:rPr lang="en-GB" sz="2400" dirty="0" err="1">
                <a:effectLst/>
                <a:latin typeface="CourierNewPSMT" panose="02070309020205020404" pitchFamily="49" charset="0"/>
              </a:rPr>
              <a:t>i</a:t>
            </a:r>
            <a:r>
              <a:rPr lang="en-GB" sz="2400" dirty="0">
                <a:effectLst/>
                <a:latin typeface="CourierNewPSMT" panose="02070309020205020404" pitchFamily="49" charset="0"/>
              </a:rPr>
              <a:t> in range (10, 0, -1): </a:t>
            </a:r>
          </a:p>
          <a:p>
            <a:r>
              <a:rPr lang="en-GB" sz="2400" dirty="0">
                <a:latin typeface="CourierNewPSMT" panose="02070309020205020404" pitchFamily="49" charset="0"/>
              </a:rPr>
              <a:t>	</a:t>
            </a:r>
            <a:r>
              <a:rPr lang="en-GB" sz="2400" dirty="0">
                <a:effectLst/>
                <a:latin typeface="CourierNewPSMT" panose="02070309020205020404" pitchFamily="49" charset="0"/>
              </a:rPr>
              <a:t>print(</a:t>
            </a:r>
            <a:r>
              <a:rPr lang="en-GB" sz="2400" dirty="0" err="1">
                <a:effectLst/>
                <a:latin typeface="CourierNewPSMT" panose="02070309020205020404" pitchFamily="49" charset="0"/>
              </a:rPr>
              <a:t>i</a:t>
            </a:r>
            <a:r>
              <a:rPr lang="en-GB" sz="2400" dirty="0">
                <a:effectLst/>
                <a:latin typeface="CourierNewPSMT" panose="02070309020205020404" pitchFamily="49" charset="0"/>
              </a:rPr>
              <a:t>) </a:t>
            </a:r>
          </a:p>
          <a:p>
            <a:endParaRPr lang="en-GB" sz="2400" dirty="0">
              <a:latin typeface="CourierNewPSMT" panose="02070309020205020404" pitchFamily="49" charset="0"/>
            </a:endParaRPr>
          </a:p>
          <a:p>
            <a:pPr marL="342900" indent="-342900">
              <a:buFont typeface="Arial" panose="020B0604020202020204" pitchFamily="34" charset="0"/>
              <a:buChar char="•"/>
            </a:pPr>
            <a:r>
              <a:rPr lang="en-GB" sz="2400" dirty="0">
                <a:effectLst/>
                <a:latin typeface="Calibri" panose="020F0502020204030204" pitchFamily="34" charset="0"/>
              </a:rPr>
              <a:t>Third argument specifies the sequence incrementation (step). </a:t>
            </a:r>
            <a:endParaRPr lang="en-GB" sz="2400" dirty="0">
              <a:effectLst/>
              <a:latin typeface="ArialMT"/>
            </a:endParaRPr>
          </a:p>
          <a:p>
            <a:pPr marL="342900" indent="-342900">
              <a:buFont typeface="Arial" panose="020B0604020202020204" pitchFamily="34" charset="0"/>
              <a:buChar char="•"/>
            </a:pPr>
            <a:r>
              <a:rPr lang="en-GB" sz="2400" dirty="0">
                <a:effectLst/>
                <a:latin typeface="Calibri" panose="020F0502020204030204" pitchFamily="34" charset="0"/>
              </a:rPr>
              <a:t>As well as positive numbers you can also program the computer to loop backwards with a negative number. </a:t>
            </a:r>
            <a:endParaRPr lang="en-GB" sz="2400" dirty="0">
              <a:effectLst/>
              <a:latin typeface="ArialMT"/>
            </a:endParaRPr>
          </a:p>
          <a:p>
            <a:pPr marL="342900" indent="-342900">
              <a:buFont typeface="Arial" panose="020B0604020202020204" pitchFamily="34" charset="0"/>
              <a:buChar char="•"/>
            </a:pPr>
            <a:r>
              <a:rPr lang="en-GB" sz="2400" dirty="0">
                <a:effectLst/>
                <a:latin typeface="Calibri" panose="020F0502020204030204" pitchFamily="34" charset="0"/>
              </a:rPr>
              <a:t>Sequence generated: </a:t>
            </a:r>
            <a:r>
              <a:rPr lang="en-GB" sz="2400" b="1" dirty="0">
                <a:effectLst/>
                <a:latin typeface="Calibri" panose="020F0502020204030204" pitchFamily="34" charset="0"/>
              </a:rPr>
              <a:t>10, 9, 8, 7, 6, 5, 4, 3, 2, 1 </a:t>
            </a:r>
            <a:endParaRPr lang="en-GB" sz="2400" b="1" dirty="0">
              <a:effectLst/>
              <a:latin typeface="ArialMT"/>
            </a:endParaRPr>
          </a:p>
          <a:p>
            <a:endParaRPr lang="en-GB" sz="2400" dirty="0">
              <a:effectLst/>
              <a:latin typeface="Helvetica Neue" panose="02000503000000020004" pitchFamily="2" charset="0"/>
              <a:ea typeface="Helvetica Neue" panose="02000503000000020004" pitchFamily="2" charset="0"/>
              <a:cs typeface="Helvetica Neue" panose="02000503000000020004" pitchFamily="2" charset="0"/>
            </a:endParaRPr>
          </a:p>
          <a:p>
            <a:r>
              <a:rPr lang="en-GB" sz="2400" dirty="0">
                <a:effectLst/>
                <a:latin typeface="Calibri" panose="020F0502020204030204" pitchFamily="34" charset="0"/>
              </a:rPr>
              <a:t> </a:t>
            </a:r>
            <a:endParaRPr lang="en-GB" sz="2400" dirty="0">
              <a:effectLst/>
              <a:latin typeface="ArialMT"/>
            </a:endParaRPr>
          </a:p>
          <a:p>
            <a:endParaRPr lang="en-GB" sz="2400" dirty="0">
              <a:effectLst/>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998068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904F484-9CCB-813B-DA27-CAF9DFFB09F1}"/>
              </a:ext>
            </a:extLst>
          </p:cNvPr>
          <p:cNvSpPr/>
          <p:nvPr/>
        </p:nvSpPr>
        <p:spPr>
          <a:xfrm>
            <a:off x="0" y="4099389"/>
            <a:ext cx="375920" cy="2270931"/>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9519C99-AA9F-E95C-13AB-EA3546581D88}"/>
              </a:ext>
            </a:extLst>
          </p:cNvPr>
          <p:cNvSpPr txBox="1"/>
          <p:nvPr/>
        </p:nvSpPr>
        <p:spPr>
          <a:xfrm rot="16200000">
            <a:off x="-930350" y="5043232"/>
            <a:ext cx="2246881" cy="276999"/>
          </a:xfrm>
          <a:prstGeom prst="rect">
            <a:avLst/>
          </a:prstGeom>
          <a:noFill/>
        </p:spPr>
        <p:txBody>
          <a:bodyPr wrap="square" rtlCol="0">
            <a:spAutoFit/>
          </a:bodyPr>
          <a:lstStyle/>
          <a:p>
            <a:r>
              <a:rPr lang="en-US" sz="1200" b="1" dirty="0">
                <a:solidFill>
                  <a:schemeClr val="bg1"/>
                </a:solidFill>
                <a:latin typeface="Aptos ExtraBold" panose="020B0004020202020204" pitchFamily="34" charset="0"/>
              </a:rPr>
              <a:t>Software Development 1</a:t>
            </a:r>
          </a:p>
        </p:txBody>
      </p:sp>
      <p:sp>
        <p:nvSpPr>
          <p:cNvPr id="8" name="Content Placeholder 2">
            <a:extLst>
              <a:ext uri="{FF2B5EF4-FFF2-40B4-BE49-F238E27FC236}">
                <a16:creationId xmlns:a16="http://schemas.microsoft.com/office/drawing/2014/main" id="{3556E629-A092-313A-245F-87CCA20EFE1C}"/>
              </a:ext>
            </a:extLst>
          </p:cNvPr>
          <p:cNvSpPr txBox="1">
            <a:spLocks/>
          </p:cNvSpPr>
          <p:nvPr/>
        </p:nvSpPr>
        <p:spPr>
          <a:xfrm>
            <a:off x="1681480" y="2089574"/>
            <a:ext cx="7223760" cy="402336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 name="Title 1">
            <a:extLst>
              <a:ext uri="{FF2B5EF4-FFF2-40B4-BE49-F238E27FC236}">
                <a16:creationId xmlns:a16="http://schemas.microsoft.com/office/drawing/2014/main" id="{5E4381F4-C384-7795-00CC-E8F968D916B6}"/>
              </a:ext>
            </a:extLst>
          </p:cNvPr>
          <p:cNvSpPr txBox="1">
            <a:spLocks/>
          </p:cNvSpPr>
          <p:nvPr/>
        </p:nvSpPr>
        <p:spPr>
          <a:xfrm>
            <a:off x="838199" y="583179"/>
            <a:ext cx="9672264" cy="51410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dirty="0">
                <a:latin typeface="Helvetica Neue" panose="02000503000000020004" pitchFamily="2" charset="0"/>
                <a:ea typeface="Helvetica Neue" panose="02000503000000020004" pitchFamily="2" charset="0"/>
                <a:cs typeface="Helvetica Neue" panose="02000503000000020004" pitchFamily="2" charset="0"/>
              </a:rPr>
              <a:t>range( ) Try it yourself</a:t>
            </a:r>
            <a:endParaRPr lang="en-GB" sz="2800" b="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TextBox 3">
            <a:extLst>
              <a:ext uri="{FF2B5EF4-FFF2-40B4-BE49-F238E27FC236}">
                <a16:creationId xmlns:a16="http://schemas.microsoft.com/office/drawing/2014/main" id="{148177C3-6D53-92B4-4D44-A219A0546A0D}"/>
              </a:ext>
            </a:extLst>
          </p:cNvPr>
          <p:cNvSpPr txBox="1"/>
          <p:nvPr/>
        </p:nvSpPr>
        <p:spPr>
          <a:xfrm>
            <a:off x="812800" y="1455619"/>
            <a:ext cx="9550400" cy="4524315"/>
          </a:xfrm>
          <a:prstGeom prst="rect">
            <a:avLst/>
          </a:prstGeom>
          <a:noFill/>
        </p:spPr>
        <p:txBody>
          <a:bodyPr wrap="square">
            <a:spAutoFit/>
          </a:bodyPr>
          <a:lstStyle/>
          <a:p>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What happens if you give range only one argument? E.g., </a:t>
            </a:r>
            <a:r>
              <a:rPr lang="en-GB" sz="2400" dirty="0">
                <a:effectLst/>
                <a:latin typeface="Courier New" panose="02070309020205020404" pitchFamily="49" charset="0"/>
                <a:ea typeface="Helvetica Neue" panose="02000503000000020004" pitchFamily="2" charset="0"/>
                <a:cs typeface="Courier New" panose="02070309020205020404" pitchFamily="49" charset="0"/>
              </a:rPr>
              <a:t>range(4)</a:t>
            </a: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 </a:t>
            </a:r>
          </a:p>
          <a:p>
            <a:endParaRPr lang="en-GB" sz="2400" dirty="0">
              <a:latin typeface="Helvetica Neue" panose="02000503000000020004" pitchFamily="2" charset="0"/>
              <a:ea typeface="Helvetica Neue" panose="02000503000000020004" pitchFamily="2" charset="0"/>
              <a:cs typeface="Helvetica Neue" panose="02000503000000020004" pitchFamily="2" charset="0"/>
            </a:endParaRPr>
          </a:p>
          <a:p>
            <a:pPr marL="457200" indent="-457200">
              <a:buAutoNum type="alphaUcPeriod"/>
            </a:pP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It will generate a sequence starting at 0, with every number included up to but not including the argument it was passed. </a:t>
            </a:r>
          </a:p>
          <a:p>
            <a:pPr marL="457200" indent="-457200">
              <a:buAutoNum type="alphaUcPeriod"/>
            </a:pPr>
            <a:endParaRPr lang="en-GB" sz="2400" dirty="0">
              <a:effectLst/>
              <a:latin typeface="Helvetica Neue" panose="02000503000000020004" pitchFamily="2" charset="0"/>
              <a:ea typeface="Helvetica Neue" panose="02000503000000020004" pitchFamily="2" charset="0"/>
              <a:cs typeface="Helvetica Neue" panose="02000503000000020004" pitchFamily="2" charset="0"/>
            </a:endParaRPr>
          </a:p>
          <a:p>
            <a:pPr marL="457200" indent="-457200">
              <a:buAutoNum type="alphaUcPeriod"/>
            </a:pP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It will generate a sequence starting at 1, with every number up to but not including the argument it was passed. </a:t>
            </a:r>
          </a:p>
          <a:p>
            <a:pPr marL="457200" indent="-457200">
              <a:buAutoNum type="alphaUcPeriod"/>
            </a:pPr>
            <a:endParaRPr lang="en-GB" sz="2400" dirty="0">
              <a:effectLst/>
              <a:latin typeface="Helvetica Neue" panose="02000503000000020004" pitchFamily="2" charset="0"/>
              <a:ea typeface="Helvetica Neue" panose="02000503000000020004" pitchFamily="2" charset="0"/>
              <a:cs typeface="Helvetica Neue" panose="02000503000000020004" pitchFamily="2" charset="0"/>
            </a:endParaRPr>
          </a:p>
          <a:p>
            <a:pPr marL="457200" indent="-457200">
              <a:buAutoNum type="alphaUcPeriod"/>
            </a:pP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It will generate a sequence starting at 1, with every number including the argument it was passed.</a:t>
            </a:r>
          </a:p>
          <a:p>
            <a:pPr marL="457200" indent="-457200">
              <a:buAutoNum type="alphaUcPeriod"/>
            </a:pPr>
            <a:endParaRPr lang="en-GB" sz="2400" dirty="0">
              <a:effectLst/>
              <a:latin typeface="Helvetica Neue" panose="02000503000000020004" pitchFamily="2" charset="0"/>
              <a:ea typeface="Helvetica Neue" panose="02000503000000020004" pitchFamily="2" charset="0"/>
              <a:cs typeface="Helvetica Neue" panose="02000503000000020004" pitchFamily="2" charset="0"/>
            </a:endParaRPr>
          </a:p>
          <a:p>
            <a:pPr marL="457200" indent="-457200">
              <a:buAutoNum type="alphaUcPeriod"/>
            </a:pP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It will cause an error: range always takes exactly 3 arguments.</a:t>
            </a:r>
          </a:p>
        </p:txBody>
      </p:sp>
    </p:spTree>
    <p:extLst>
      <p:ext uri="{BB962C8B-B14F-4D97-AF65-F5344CB8AC3E}">
        <p14:creationId xmlns:p14="http://schemas.microsoft.com/office/powerpoint/2010/main" val="3302460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CE3F3E2-EF0C-DD60-7C29-2D13C930E4B5}"/>
              </a:ext>
            </a:extLst>
          </p:cNvPr>
          <p:cNvSpPr/>
          <p:nvPr/>
        </p:nvSpPr>
        <p:spPr>
          <a:xfrm>
            <a:off x="0" y="4099389"/>
            <a:ext cx="375920" cy="2270931"/>
          </a:xfrm>
          <a:prstGeom prst="rect">
            <a:avLst/>
          </a:prstGeom>
          <a:solidFill>
            <a:srgbClr val="FF9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9519C99-AA9F-E95C-13AB-EA3546581D88}"/>
              </a:ext>
            </a:extLst>
          </p:cNvPr>
          <p:cNvSpPr txBox="1"/>
          <p:nvPr/>
        </p:nvSpPr>
        <p:spPr>
          <a:xfrm rot="16200000">
            <a:off x="-930350" y="5043232"/>
            <a:ext cx="2246881" cy="276999"/>
          </a:xfrm>
          <a:prstGeom prst="rect">
            <a:avLst/>
          </a:prstGeom>
          <a:noFill/>
        </p:spPr>
        <p:txBody>
          <a:bodyPr wrap="square" rtlCol="0">
            <a:spAutoFit/>
          </a:bodyPr>
          <a:lstStyle/>
          <a:p>
            <a:r>
              <a:rPr lang="en-US" sz="1200" b="1" dirty="0">
                <a:solidFill>
                  <a:schemeClr val="bg1"/>
                </a:solidFill>
                <a:latin typeface="Aptos ExtraBold" panose="020B0004020202020204" pitchFamily="34" charset="0"/>
              </a:rPr>
              <a:t>Software Development 1</a:t>
            </a:r>
          </a:p>
        </p:txBody>
      </p:sp>
      <p:sp>
        <p:nvSpPr>
          <p:cNvPr id="8" name="Content Placeholder 2">
            <a:extLst>
              <a:ext uri="{FF2B5EF4-FFF2-40B4-BE49-F238E27FC236}">
                <a16:creationId xmlns:a16="http://schemas.microsoft.com/office/drawing/2014/main" id="{3556E629-A092-313A-245F-87CCA20EFE1C}"/>
              </a:ext>
            </a:extLst>
          </p:cNvPr>
          <p:cNvSpPr txBox="1">
            <a:spLocks/>
          </p:cNvSpPr>
          <p:nvPr/>
        </p:nvSpPr>
        <p:spPr>
          <a:xfrm>
            <a:off x="1681480" y="2089574"/>
            <a:ext cx="7223760" cy="402336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 name="Title 1">
            <a:extLst>
              <a:ext uri="{FF2B5EF4-FFF2-40B4-BE49-F238E27FC236}">
                <a16:creationId xmlns:a16="http://schemas.microsoft.com/office/drawing/2014/main" id="{5E4381F4-C384-7795-00CC-E8F968D916B6}"/>
              </a:ext>
            </a:extLst>
          </p:cNvPr>
          <p:cNvSpPr txBox="1">
            <a:spLocks/>
          </p:cNvSpPr>
          <p:nvPr/>
        </p:nvSpPr>
        <p:spPr>
          <a:xfrm>
            <a:off x="817879" y="491739"/>
            <a:ext cx="9672264" cy="51410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dirty="0">
                <a:latin typeface="Helvetica Neue" panose="02000503000000020004" pitchFamily="2" charset="0"/>
                <a:ea typeface="Helvetica Neue" panose="02000503000000020004" pitchFamily="2" charset="0"/>
                <a:cs typeface="Helvetica Neue" panose="02000503000000020004" pitchFamily="2" charset="0"/>
              </a:rPr>
              <a:t>More ‘for’ loops</a:t>
            </a:r>
            <a:endParaRPr lang="en-GB" sz="2800" b="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TextBox 3">
            <a:extLst>
              <a:ext uri="{FF2B5EF4-FFF2-40B4-BE49-F238E27FC236}">
                <a16:creationId xmlns:a16="http://schemas.microsoft.com/office/drawing/2014/main" id="{148177C3-6D53-92B4-4D44-A219A0546A0D}"/>
              </a:ext>
            </a:extLst>
          </p:cNvPr>
          <p:cNvSpPr txBox="1"/>
          <p:nvPr/>
        </p:nvSpPr>
        <p:spPr>
          <a:xfrm>
            <a:off x="863600" y="1079699"/>
            <a:ext cx="9865360" cy="5632311"/>
          </a:xfrm>
          <a:prstGeom prst="rect">
            <a:avLst/>
          </a:prstGeom>
          <a:noFill/>
        </p:spPr>
        <p:txBody>
          <a:bodyPr wrap="square">
            <a:spAutoFit/>
          </a:bodyPr>
          <a:lstStyle/>
          <a:p>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Also known as a </a:t>
            </a:r>
            <a:r>
              <a:rPr lang="en-GB" sz="2400" b="1" dirty="0">
                <a:effectLst/>
                <a:latin typeface="Helvetica Neue" panose="02000503000000020004" pitchFamily="2" charset="0"/>
                <a:ea typeface="Helvetica Neue" panose="02000503000000020004" pitchFamily="2" charset="0"/>
                <a:cs typeface="Helvetica Neue" panose="02000503000000020004" pitchFamily="2" charset="0"/>
              </a:rPr>
              <a:t>count controlled </a:t>
            </a: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loop. </a:t>
            </a:r>
          </a:p>
          <a:p>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Repeats part of a program for a stated number of times. </a:t>
            </a:r>
          </a:p>
          <a:p>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Repeats its loop body for each element of the sequence in order. </a:t>
            </a:r>
          </a:p>
          <a:p>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The loop ends when it reaches the number of times it was set to loop.</a:t>
            </a:r>
          </a:p>
          <a:p>
            <a:endParaRPr lang="en-GB" sz="2400" dirty="0">
              <a:latin typeface="Helvetica Neue" panose="02000503000000020004" pitchFamily="2" charset="0"/>
              <a:ea typeface="Helvetica Neue" panose="02000503000000020004" pitchFamily="2" charset="0"/>
              <a:cs typeface="Helvetica Neue" panose="02000503000000020004" pitchFamily="2" charset="0"/>
            </a:endParaRPr>
          </a:p>
          <a:p>
            <a:r>
              <a:rPr lang="en-GB" sz="2400" dirty="0">
                <a:effectLst/>
                <a:latin typeface="Calibri" panose="020F0502020204030204" pitchFamily="34" charset="0"/>
              </a:rPr>
              <a:t>In Python, </a:t>
            </a:r>
            <a:r>
              <a:rPr lang="en-GB" sz="2400" dirty="0">
                <a:effectLst/>
                <a:latin typeface="ArialMT"/>
              </a:rPr>
              <a:t>for </a:t>
            </a:r>
            <a:r>
              <a:rPr lang="en-GB" sz="2400" dirty="0">
                <a:effectLst/>
                <a:latin typeface="Calibri" panose="020F0502020204030204" pitchFamily="34" charset="0"/>
              </a:rPr>
              <a:t>loops are constructed like this: </a:t>
            </a:r>
            <a:endParaRPr lang="en-GB" sz="2400" dirty="0">
              <a:effectLst/>
            </a:endParaRPr>
          </a:p>
          <a:p>
            <a:r>
              <a:rPr lang="en-GB" sz="2400" b="1" dirty="0">
                <a:solidFill>
                  <a:srgbClr val="F49344"/>
                </a:solidFill>
                <a:effectLst/>
                <a:latin typeface="CourierNewPS"/>
              </a:rPr>
              <a:t>for </a:t>
            </a:r>
            <a:r>
              <a:rPr lang="en-GB" sz="2400" dirty="0">
                <a:effectLst/>
                <a:latin typeface="ArialMT"/>
              </a:rPr>
              <a:t>[iterating variable] </a:t>
            </a:r>
            <a:r>
              <a:rPr lang="en-GB" sz="2400" b="1" dirty="0">
                <a:solidFill>
                  <a:srgbClr val="F49344"/>
                </a:solidFill>
                <a:effectLst/>
                <a:latin typeface="CourierNewPS"/>
              </a:rPr>
              <a:t>in </a:t>
            </a:r>
            <a:r>
              <a:rPr lang="en-GB" sz="2400" dirty="0">
                <a:effectLst/>
                <a:latin typeface="ArialMT"/>
              </a:rPr>
              <a:t>[sequence]</a:t>
            </a:r>
            <a:r>
              <a:rPr lang="en-GB" sz="2400" b="1" dirty="0">
                <a:effectLst/>
                <a:latin typeface="CourierNewPS"/>
              </a:rPr>
              <a:t>: </a:t>
            </a:r>
            <a:r>
              <a:rPr lang="en-GB" sz="2400" dirty="0">
                <a:effectLst/>
                <a:latin typeface="ArialMT"/>
              </a:rPr>
              <a:t>[do something] </a:t>
            </a:r>
          </a:p>
          <a:p>
            <a:endParaRPr lang="en-GB" sz="2400" dirty="0">
              <a:effectLst/>
            </a:endParaRPr>
          </a:p>
          <a:p>
            <a:pPr marL="342900" indent="-342900">
              <a:buFont typeface="Arial" panose="020B0604020202020204" pitchFamily="34" charset="0"/>
              <a:buChar char="•"/>
            </a:pPr>
            <a:r>
              <a:rPr lang="en-GB" sz="2400" dirty="0">
                <a:effectLst/>
                <a:latin typeface="Calibri" panose="020F0502020204030204" pitchFamily="34" charset="0"/>
              </a:rPr>
              <a:t>The </a:t>
            </a:r>
            <a:r>
              <a:rPr lang="en-GB" sz="2400" b="1" dirty="0">
                <a:effectLst/>
                <a:latin typeface="Calibri" panose="020F0502020204030204" pitchFamily="34" charset="0"/>
              </a:rPr>
              <a:t>for </a:t>
            </a:r>
            <a:r>
              <a:rPr lang="en-GB" sz="2400" dirty="0">
                <a:effectLst/>
                <a:latin typeface="Calibri" panose="020F0502020204030204" pitchFamily="34" charset="0"/>
              </a:rPr>
              <a:t>and </a:t>
            </a:r>
            <a:r>
              <a:rPr lang="en-GB" sz="2400" b="1" dirty="0">
                <a:effectLst/>
                <a:latin typeface="Calibri" panose="020F0502020204030204" pitchFamily="34" charset="0"/>
              </a:rPr>
              <a:t>in </a:t>
            </a:r>
            <a:r>
              <a:rPr lang="en-GB" sz="2400" dirty="0">
                <a:effectLst/>
                <a:latin typeface="Calibri" panose="020F0502020204030204" pitchFamily="34" charset="0"/>
              </a:rPr>
              <a:t>are key words that are inbuilt commands. </a:t>
            </a:r>
            <a:endParaRPr lang="en-GB" sz="2400" dirty="0">
              <a:effectLst/>
              <a:latin typeface="ArialMT"/>
            </a:endParaRPr>
          </a:p>
          <a:p>
            <a:pPr marL="342900" indent="-342900">
              <a:buFont typeface="Arial" panose="020B0604020202020204" pitchFamily="34" charset="0"/>
              <a:buChar char="•"/>
            </a:pPr>
            <a:r>
              <a:rPr lang="en-GB" sz="2400" dirty="0">
                <a:effectLst/>
                <a:latin typeface="Calibri" panose="020F0502020204030204" pitchFamily="34" charset="0"/>
              </a:rPr>
              <a:t>The iterating variable will </a:t>
            </a:r>
            <a:r>
              <a:rPr lang="en-GB" sz="2400" b="1" dirty="0">
                <a:effectLst/>
                <a:latin typeface="Calibri" panose="020F0502020204030204" pitchFamily="34" charset="0"/>
              </a:rPr>
              <a:t>hold the values of the generated sequence </a:t>
            </a:r>
            <a:r>
              <a:rPr lang="en-GB" sz="2400" dirty="0">
                <a:effectLst/>
                <a:latin typeface="Calibri" panose="020F0502020204030204" pitchFamily="34" charset="0"/>
              </a:rPr>
              <a:t>which is stepped through. E.g., </a:t>
            </a:r>
            <a:endParaRPr lang="en-GB" sz="2400" dirty="0">
              <a:effectLst/>
              <a:latin typeface="ArialMT"/>
            </a:endParaRPr>
          </a:p>
          <a:p>
            <a:endParaRPr lang="en-GB" sz="2400" dirty="0">
              <a:effectLst/>
              <a:latin typeface="CourierNewPSMT" panose="02070309020205020404" pitchFamily="49" charset="0"/>
            </a:endParaRPr>
          </a:p>
          <a:p>
            <a:r>
              <a:rPr lang="en-GB" sz="2400" dirty="0">
                <a:effectLst/>
                <a:latin typeface="CourierNewPSMT" panose="02070309020205020404" pitchFamily="49" charset="0"/>
              </a:rPr>
              <a:t>for </a:t>
            </a:r>
            <a:r>
              <a:rPr lang="en-GB" sz="2400" dirty="0" err="1">
                <a:effectLst/>
                <a:latin typeface="CourierNewPSMT" panose="02070309020205020404" pitchFamily="49" charset="0"/>
              </a:rPr>
              <a:t>i</a:t>
            </a:r>
            <a:r>
              <a:rPr lang="en-GB" sz="2400" dirty="0">
                <a:effectLst/>
                <a:latin typeface="CourierNewPSMT" panose="02070309020205020404" pitchFamily="49" charset="0"/>
              </a:rPr>
              <a:t> in range(10): </a:t>
            </a:r>
          </a:p>
          <a:p>
            <a:pPr lvl="1"/>
            <a:r>
              <a:rPr lang="en-GB" sz="2400" dirty="0">
                <a:effectLst/>
                <a:latin typeface="CourierNewPSMT" panose="02070309020205020404" pitchFamily="49" charset="0"/>
              </a:rPr>
              <a:t>print(</a:t>
            </a:r>
            <a:r>
              <a:rPr lang="en-GB" sz="2400" dirty="0" err="1">
                <a:effectLst/>
                <a:latin typeface="CourierNewPSMT" panose="02070309020205020404" pitchFamily="49" charset="0"/>
              </a:rPr>
              <a:t>i</a:t>
            </a:r>
            <a:r>
              <a:rPr lang="en-GB" sz="2400" dirty="0">
                <a:effectLst/>
                <a:latin typeface="CourierNewPSMT" panose="02070309020205020404" pitchFamily="49" charset="0"/>
              </a:rPr>
              <a:t>) </a:t>
            </a:r>
            <a:endParaRPr lang="en-GB" sz="2400" dirty="0">
              <a:effectLst/>
              <a:latin typeface="ArialMT"/>
            </a:endParaRPr>
          </a:p>
          <a:p>
            <a:endParaRPr lang="en-GB" sz="2400" dirty="0">
              <a:effectLst/>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3875493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CE3F3E2-EF0C-DD60-7C29-2D13C930E4B5}"/>
              </a:ext>
            </a:extLst>
          </p:cNvPr>
          <p:cNvSpPr/>
          <p:nvPr/>
        </p:nvSpPr>
        <p:spPr>
          <a:xfrm>
            <a:off x="0" y="4099389"/>
            <a:ext cx="375920" cy="2270931"/>
          </a:xfrm>
          <a:prstGeom prst="rect">
            <a:avLst/>
          </a:prstGeom>
          <a:solidFill>
            <a:srgbClr val="FF9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9519C99-AA9F-E95C-13AB-EA3546581D88}"/>
              </a:ext>
            </a:extLst>
          </p:cNvPr>
          <p:cNvSpPr txBox="1"/>
          <p:nvPr/>
        </p:nvSpPr>
        <p:spPr>
          <a:xfrm rot="16200000">
            <a:off x="-930350" y="5043232"/>
            <a:ext cx="2246881" cy="276999"/>
          </a:xfrm>
          <a:prstGeom prst="rect">
            <a:avLst/>
          </a:prstGeom>
          <a:noFill/>
        </p:spPr>
        <p:txBody>
          <a:bodyPr wrap="square" rtlCol="0">
            <a:spAutoFit/>
          </a:bodyPr>
          <a:lstStyle/>
          <a:p>
            <a:r>
              <a:rPr lang="en-US" sz="1200" b="1" dirty="0">
                <a:solidFill>
                  <a:schemeClr val="bg1"/>
                </a:solidFill>
                <a:latin typeface="Aptos ExtraBold" panose="020B0004020202020204" pitchFamily="34" charset="0"/>
              </a:rPr>
              <a:t>Software Development 1</a:t>
            </a:r>
          </a:p>
        </p:txBody>
      </p:sp>
      <p:sp>
        <p:nvSpPr>
          <p:cNvPr id="8" name="Content Placeholder 2">
            <a:extLst>
              <a:ext uri="{FF2B5EF4-FFF2-40B4-BE49-F238E27FC236}">
                <a16:creationId xmlns:a16="http://schemas.microsoft.com/office/drawing/2014/main" id="{3556E629-A092-313A-245F-87CCA20EFE1C}"/>
              </a:ext>
            </a:extLst>
          </p:cNvPr>
          <p:cNvSpPr txBox="1">
            <a:spLocks/>
          </p:cNvSpPr>
          <p:nvPr/>
        </p:nvSpPr>
        <p:spPr>
          <a:xfrm>
            <a:off x="1681480" y="2089574"/>
            <a:ext cx="7223760" cy="402336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 name="Title 1">
            <a:extLst>
              <a:ext uri="{FF2B5EF4-FFF2-40B4-BE49-F238E27FC236}">
                <a16:creationId xmlns:a16="http://schemas.microsoft.com/office/drawing/2014/main" id="{5E4381F4-C384-7795-00CC-E8F968D916B6}"/>
              </a:ext>
            </a:extLst>
          </p:cNvPr>
          <p:cNvSpPr txBox="1">
            <a:spLocks/>
          </p:cNvSpPr>
          <p:nvPr/>
        </p:nvSpPr>
        <p:spPr>
          <a:xfrm>
            <a:off x="817879" y="491739"/>
            <a:ext cx="9672264" cy="51410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dirty="0">
                <a:latin typeface="Helvetica Neue" panose="02000503000000020004" pitchFamily="2" charset="0"/>
                <a:ea typeface="Helvetica Neue" panose="02000503000000020004" pitchFamily="2" charset="0"/>
                <a:cs typeface="Helvetica Neue" panose="02000503000000020004" pitchFamily="2" charset="0"/>
              </a:rPr>
              <a:t>More ‘for’ loops – Nested Iteration</a:t>
            </a:r>
            <a:endParaRPr lang="en-GB" sz="2800" b="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TextBox 3">
            <a:extLst>
              <a:ext uri="{FF2B5EF4-FFF2-40B4-BE49-F238E27FC236}">
                <a16:creationId xmlns:a16="http://schemas.microsoft.com/office/drawing/2014/main" id="{148177C3-6D53-92B4-4D44-A219A0546A0D}"/>
              </a:ext>
            </a:extLst>
          </p:cNvPr>
          <p:cNvSpPr txBox="1"/>
          <p:nvPr/>
        </p:nvSpPr>
        <p:spPr>
          <a:xfrm>
            <a:off x="814832" y="1115961"/>
            <a:ext cx="10877296" cy="5262979"/>
          </a:xfrm>
          <a:prstGeom prst="rect">
            <a:avLst/>
          </a:prstGeom>
          <a:noFill/>
        </p:spPr>
        <p:txBody>
          <a:bodyPr wrap="square">
            <a:spAutoFit/>
          </a:bodyPr>
          <a:lstStyle/>
          <a:p>
            <a:pPr marL="342900" indent="-342900">
              <a:buFont typeface="Arial" panose="020B0604020202020204" pitchFamily="34" charset="0"/>
              <a:buChar char="•"/>
            </a:pP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A nested iteration is a </a:t>
            </a:r>
            <a:r>
              <a:rPr lang="en-GB" sz="2400" i="1" dirty="0">
                <a:effectLst/>
                <a:latin typeface="Helvetica Neue" panose="02000503000000020004" pitchFamily="2" charset="0"/>
                <a:ea typeface="Helvetica Neue" panose="02000503000000020004" pitchFamily="2" charset="0"/>
                <a:cs typeface="Helvetica Neue" panose="02000503000000020004" pitchFamily="2" charset="0"/>
              </a:rPr>
              <a:t>loop within a loop</a:t>
            </a: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 </a:t>
            </a:r>
          </a:p>
          <a:p>
            <a:pPr marL="342900" indent="-342900">
              <a:buFont typeface="Arial" panose="020B0604020202020204" pitchFamily="34" charset="0"/>
              <a:buChar char="•"/>
            </a:pPr>
            <a:endParaRPr lang="en-GB" sz="2400" dirty="0">
              <a:latin typeface="Helvetica Neue" panose="02000503000000020004" pitchFamily="2" charset="0"/>
              <a:ea typeface="Helvetica Neue" panose="02000503000000020004" pitchFamily="2" charset="0"/>
              <a:cs typeface="Helvetica Neue" panose="02000503000000020004" pitchFamily="2" charset="0"/>
            </a:endParaRPr>
          </a:p>
          <a:p>
            <a:r>
              <a:rPr lang="en-GB" sz="2400" dirty="0">
                <a:effectLst/>
                <a:latin typeface="CourierNewPSMT" panose="02070309020205020404" pitchFamily="49" charset="0"/>
              </a:rPr>
              <a:t>for </a:t>
            </a:r>
            <a:r>
              <a:rPr lang="en-GB" sz="2400" dirty="0" err="1">
                <a:effectLst/>
                <a:latin typeface="CourierNewPSMT" panose="02070309020205020404" pitchFamily="49" charset="0"/>
              </a:rPr>
              <a:t>i</a:t>
            </a:r>
            <a:r>
              <a:rPr lang="en-GB" sz="2400" dirty="0">
                <a:effectLst/>
                <a:latin typeface="CourierNewPSMT" panose="02070309020205020404" pitchFamily="49" charset="0"/>
              </a:rPr>
              <a:t> in range(3): # 0,1,2 for </a:t>
            </a:r>
          </a:p>
          <a:p>
            <a:r>
              <a:rPr lang="en-GB" sz="2400" dirty="0">
                <a:latin typeface="CourierNewPSMT" panose="02070309020205020404" pitchFamily="49" charset="0"/>
              </a:rPr>
              <a:t>	</a:t>
            </a:r>
            <a:r>
              <a:rPr lang="en-GB" sz="2400" dirty="0">
                <a:effectLst/>
                <a:latin typeface="CourierNewPSMT" panose="02070309020205020404" pitchFamily="49" charset="0"/>
              </a:rPr>
              <a:t>j in range(2): # 0,1 	</a:t>
            </a:r>
          </a:p>
          <a:p>
            <a:r>
              <a:rPr lang="en-GB" sz="2400" dirty="0">
                <a:latin typeface="CourierNewPSMT" panose="02070309020205020404" pitchFamily="49" charset="0"/>
              </a:rPr>
              <a:t>		</a:t>
            </a:r>
            <a:r>
              <a:rPr lang="en-GB" sz="2400" dirty="0">
                <a:effectLst/>
                <a:latin typeface="CourierNewPSMT" panose="02070309020205020404" pitchFamily="49" charset="0"/>
              </a:rPr>
              <a:t>print(</a:t>
            </a:r>
            <a:r>
              <a:rPr lang="en-GB" sz="2400" dirty="0" err="1">
                <a:effectLst/>
                <a:latin typeface="CourierNewPSMT" panose="02070309020205020404" pitchFamily="49" charset="0"/>
              </a:rPr>
              <a:t>i</a:t>
            </a:r>
            <a:r>
              <a:rPr lang="en-GB" sz="2400" dirty="0">
                <a:effectLst/>
                <a:latin typeface="CourierNewPSMT" panose="02070309020205020404" pitchFamily="49" charset="0"/>
              </a:rPr>
              <a:t>, j) </a:t>
            </a:r>
          </a:p>
          <a:p>
            <a:endParaRPr lang="en-GB" sz="2400" dirty="0">
              <a:effectLst/>
            </a:endParaRPr>
          </a:p>
          <a:p>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We could call these the outer iteration and the inner iteration.</a:t>
            </a:r>
          </a:p>
          <a:p>
            <a:endParaRPr lang="en-GB" sz="2400" dirty="0">
              <a:effectLst/>
            </a:endParaRPr>
          </a:p>
          <a:p>
            <a:pPr marL="342900" indent="-342900">
              <a:buFont typeface="Arial" panose="020B0604020202020204" pitchFamily="34" charset="0"/>
              <a:buChar char="•"/>
            </a:pP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The program first encounters the outer loop (for </a:t>
            </a:r>
            <a:r>
              <a:rPr lang="en-GB" sz="2400" dirty="0" err="1">
                <a:effectLst/>
                <a:latin typeface="Helvetica Neue" panose="02000503000000020004" pitchFamily="2" charset="0"/>
                <a:ea typeface="Helvetica Neue" panose="02000503000000020004" pitchFamily="2" charset="0"/>
                <a:cs typeface="Helvetica Neue" panose="02000503000000020004" pitchFamily="2" charset="0"/>
              </a:rPr>
              <a:t>i</a:t>
            </a: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 executing its first iteration (0). The first iteration triggers the </a:t>
            </a:r>
            <a:r>
              <a:rPr lang="en-GB" sz="2400" b="1" dirty="0">
                <a:effectLst/>
                <a:latin typeface="Helvetica Neue" panose="02000503000000020004" pitchFamily="2" charset="0"/>
                <a:ea typeface="Helvetica Neue" panose="02000503000000020004" pitchFamily="2" charset="0"/>
                <a:cs typeface="Helvetica Neue" panose="02000503000000020004" pitchFamily="2" charset="0"/>
              </a:rPr>
              <a:t>inner loop </a:t>
            </a: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(for j) </a:t>
            </a:r>
            <a:r>
              <a:rPr lang="en-GB" sz="2400" b="1" dirty="0">
                <a:effectLst/>
                <a:latin typeface="Helvetica Neue" panose="02000503000000020004" pitchFamily="2" charset="0"/>
                <a:ea typeface="Helvetica Neue" panose="02000503000000020004" pitchFamily="2" charset="0"/>
                <a:cs typeface="Helvetica Neue" panose="02000503000000020004" pitchFamily="2" charset="0"/>
              </a:rPr>
              <a:t>which then runs to completion. </a:t>
            </a:r>
            <a:endParaRPr lang="en-GB" sz="2400" dirty="0">
              <a:effectLst/>
              <a:latin typeface="Helvetica Neue" panose="02000503000000020004" pitchFamily="2" charset="0"/>
              <a:ea typeface="Helvetica Neue" panose="02000503000000020004" pitchFamily="2" charset="0"/>
              <a:cs typeface="Helvetica Neue" panose="02000503000000020004" pitchFamily="2" charset="0"/>
            </a:endParaRPr>
          </a:p>
          <a:p>
            <a:pPr marL="342900" indent="-342900">
              <a:buFont typeface="Arial" panose="020B0604020202020204" pitchFamily="34" charset="0"/>
              <a:buChar char="•"/>
            </a:pP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Program then returns back to </a:t>
            </a:r>
            <a:r>
              <a:rPr lang="en-GB" sz="2400" b="1" dirty="0">
                <a:effectLst/>
                <a:latin typeface="Helvetica Neue" panose="02000503000000020004" pitchFamily="2" charset="0"/>
                <a:ea typeface="Helvetica Neue" panose="02000503000000020004" pitchFamily="2" charset="0"/>
                <a:cs typeface="Helvetica Neue" panose="02000503000000020004" pitchFamily="2" charset="0"/>
              </a:rPr>
              <a:t>outer loop </a:t>
            </a: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for next iteration. </a:t>
            </a:r>
          </a:p>
          <a:p>
            <a:pPr marL="342900" indent="-342900">
              <a:buFont typeface="Arial" panose="020B0604020202020204" pitchFamily="34" charset="0"/>
              <a:buChar char="•"/>
            </a:pP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For each value of </a:t>
            </a:r>
            <a:r>
              <a:rPr lang="en-GB" sz="2400" dirty="0" err="1">
                <a:effectLst/>
                <a:latin typeface="Helvetica Neue" panose="02000503000000020004" pitchFamily="2" charset="0"/>
                <a:ea typeface="Helvetica Neue" panose="02000503000000020004" pitchFamily="2" charset="0"/>
                <a:cs typeface="Helvetica Neue" panose="02000503000000020004" pitchFamily="2" charset="0"/>
              </a:rPr>
              <a:t>i</a:t>
            </a: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 all values of j will occur: </a:t>
            </a:r>
            <a:r>
              <a:rPr lang="en-GB" sz="2400" b="1" dirty="0">
                <a:effectLst/>
                <a:latin typeface="Helvetica Neue" panose="02000503000000020004" pitchFamily="2" charset="0"/>
                <a:ea typeface="Helvetica Neue" panose="02000503000000020004" pitchFamily="2" charset="0"/>
                <a:cs typeface="Helvetica Neue" panose="02000503000000020004" pitchFamily="2" charset="0"/>
              </a:rPr>
              <a:t>00  01  10  11  20  21 </a:t>
            </a:r>
          </a:p>
          <a:p>
            <a:pPr marL="342900" indent="-342900">
              <a:buFont typeface="Arial" panose="020B0604020202020204" pitchFamily="34" charset="0"/>
              <a:buChar char="•"/>
            </a:pPr>
            <a:endParaRPr lang="en-GB" sz="2400" dirty="0">
              <a:effectLst/>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1196581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CE3F3E2-EF0C-DD60-7C29-2D13C930E4B5}"/>
              </a:ext>
            </a:extLst>
          </p:cNvPr>
          <p:cNvSpPr/>
          <p:nvPr/>
        </p:nvSpPr>
        <p:spPr>
          <a:xfrm>
            <a:off x="0" y="4099389"/>
            <a:ext cx="375920" cy="2270931"/>
          </a:xfrm>
          <a:prstGeom prst="rect">
            <a:avLst/>
          </a:prstGeom>
          <a:solidFill>
            <a:srgbClr val="FF9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9519C99-AA9F-E95C-13AB-EA3546581D88}"/>
              </a:ext>
            </a:extLst>
          </p:cNvPr>
          <p:cNvSpPr txBox="1"/>
          <p:nvPr/>
        </p:nvSpPr>
        <p:spPr>
          <a:xfrm rot="16200000">
            <a:off x="-930350" y="5043232"/>
            <a:ext cx="2246881" cy="276999"/>
          </a:xfrm>
          <a:prstGeom prst="rect">
            <a:avLst/>
          </a:prstGeom>
          <a:noFill/>
        </p:spPr>
        <p:txBody>
          <a:bodyPr wrap="square" rtlCol="0">
            <a:spAutoFit/>
          </a:bodyPr>
          <a:lstStyle/>
          <a:p>
            <a:r>
              <a:rPr lang="en-US" sz="1200" b="1" dirty="0">
                <a:solidFill>
                  <a:schemeClr val="bg1"/>
                </a:solidFill>
                <a:latin typeface="Aptos ExtraBold" panose="020B0004020202020204" pitchFamily="34" charset="0"/>
              </a:rPr>
              <a:t>Software Development 1</a:t>
            </a:r>
          </a:p>
        </p:txBody>
      </p:sp>
      <p:sp>
        <p:nvSpPr>
          <p:cNvPr id="3" name="Title 1">
            <a:extLst>
              <a:ext uri="{FF2B5EF4-FFF2-40B4-BE49-F238E27FC236}">
                <a16:creationId xmlns:a16="http://schemas.microsoft.com/office/drawing/2014/main" id="{5E4381F4-C384-7795-00CC-E8F968D916B6}"/>
              </a:ext>
            </a:extLst>
          </p:cNvPr>
          <p:cNvSpPr txBox="1">
            <a:spLocks/>
          </p:cNvSpPr>
          <p:nvPr/>
        </p:nvSpPr>
        <p:spPr>
          <a:xfrm>
            <a:off x="817879" y="491739"/>
            <a:ext cx="9672264" cy="51410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dirty="0">
                <a:latin typeface="Helvetica Neue" panose="02000503000000020004" pitchFamily="2" charset="0"/>
                <a:ea typeface="Helvetica Neue" panose="02000503000000020004" pitchFamily="2" charset="0"/>
                <a:cs typeface="Helvetica Neue" panose="02000503000000020004" pitchFamily="2" charset="0"/>
              </a:rPr>
              <a:t>Condition Controlled ‘while’ loops</a:t>
            </a:r>
            <a:endParaRPr lang="en-GB" sz="2800" b="1" dirty="0">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12" name="Picture 11" descr="Example of a while loop">
            <a:extLst>
              <a:ext uri="{FF2B5EF4-FFF2-40B4-BE49-F238E27FC236}">
                <a16:creationId xmlns:a16="http://schemas.microsoft.com/office/drawing/2014/main" id="{A89AE86B-B949-127C-6072-7EBD37DCABEC}"/>
              </a:ext>
            </a:extLst>
          </p:cNvPr>
          <p:cNvPicPr>
            <a:picLocks noChangeAspect="1"/>
          </p:cNvPicPr>
          <p:nvPr/>
        </p:nvPicPr>
        <p:blipFill>
          <a:blip r:embed="rId2"/>
          <a:stretch>
            <a:fillRect/>
          </a:stretch>
        </p:blipFill>
        <p:spPr>
          <a:xfrm>
            <a:off x="682752" y="2593042"/>
            <a:ext cx="7772400" cy="4216190"/>
          </a:xfrm>
          <a:prstGeom prst="rect">
            <a:avLst/>
          </a:prstGeom>
        </p:spPr>
      </p:pic>
      <p:sp>
        <p:nvSpPr>
          <p:cNvPr id="14" name="TextBox 13">
            <a:extLst>
              <a:ext uri="{FF2B5EF4-FFF2-40B4-BE49-F238E27FC236}">
                <a16:creationId xmlns:a16="http://schemas.microsoft.com/office/drawing/2014/main" id="{27D55D0B-2A7A-6A3A-1A18-DBFBE6880A8B}"/>
              </a:ext>
            </a:extLst>
          </p:cNvPr>
          <p:cNvSpPr txBox="1"/>
          <p:nvPr/>
        </p:nvSpPr>
        <p:spPr>
          <a:xfrm>
            <a:off x="853440" y="1040630"/>
            <a:ext cx="10875264" cy="1569660"/>
          </a:xfrm>
          <a:prstGeom prst="rect">
            <a:avLst/>
          </a:prstGeom>
          <a:noFill/>
        </p:spPr>
        <p:txBody>
          <a:bodyPr wrap="square">
            <a:spAutoFit/>
          </a:bodyPr>
          <a:lstStyle/>
          <a:p>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E.g., print out the value of a number.</a:t>
            </a:r>
          </a:p>
          <a:p>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 </a:t>
            </a:r>
          </a:p>
          <a:p>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A condition controlled loop will continue to execute as long as its defined condition is </a:t>
            </a:r>
            <a:r>
              <a:rPr lang="en-GB" sz="2400" dirty="0">
                <a:effectLst/>
                <a:latin typeface="Courier New" panose="02070309020205020404" pitchFamily="49" charset="0"/>
                <a:ea typeface="Helvetica Neue" panose="02000503000000020004" pitchFamily="2" charset="0"/>
                <a:cs typeface="Courier New" panose="02070309020205020404" pitchFamily="49" charset="0"/>
              </a:rPr>
              <a:t>True</a:t>
            </a:r>
          </a:p>
        </p:txBody>
      </p:sp>
    </p:spTree>
    <p:extLst>
      <p:ext uri="{BB962C8B-B14F-4D97-AF65-F5344CB8AC3E}">
        <p14:creationId xmlns:p14="http://schemas.microsoft.com/office/powerpoint/2010/main" val="13540420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CE3F3E2-EF0C-DD60-7C29-2D13C930E4B5}"/>
              </a:ext>
            </a:extLst>
          </p:cNvPr>
          <p:cNvSpPr/>
          <p:nvPr/>
        </p:nvSpPr>
        <p:spPr>
          <a:xfrm>
            <a:off x="0" y="4099389"/>
            <a:ext cx="375920" cy="2270931"/>
          </a:xfrm>
          <a:prstGeom prst="rect">
            <a:avLst/>
          </a:prstGeom>
          <a:solidFill>
            <a:srgbClr val="FF9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9519C99-AA9F-E95C-13AB-EA3546581D88}"/>
              </a:ext>
            </a:extLst>
          </p:cNvPr>
          <p:cNvSpPr txBox="1"/>
          <p:nvPr/>
        </p:nvSpPr>
        <p:spPr>
          <a:xfrm rot="16200000">
            <a:off x="-930350" y="5043232"/>
            <a:ext cx="2246881" cy="276999"/>
          </a:xfrm>
          <a:prstGeom prst="rect">
            <a:avLst/>
          </a:prstGeom>
          <a:noFill/>
        </p:spPr>
        <p:txBody>
          <a:bodyPr wrap="square" rtlCol="0">
            <a:spAutoFit/>
          </a:bodyPr>
          <a:lstStyle/>
          <a:p>
            <a:r>
              <a:rPr lang="en-US" sz="1200" b="1" dirty="0">
                <a:solidFill>
                  <a:schemeClr val="bg1"/>
                </a:solidFill>
                <a:latin typeface="Aptos ExtraBold" panose="020B0004020202020204" pitchFamily="34" charset="0"/>
              </a:rPr>
              <a:t>Software Development 1</a:t>
            </a:r>
          </a:p>
        </p:txBody>
      </p:sp>
      <p:sp>
        <p:nvSpPr>
          <p:cNvPr id="3" name="Title 1">
            <a:extLst>
              <a:ext uri="{FF2B5EF4-FFF2-40B4-BE49-F238E27FC236}">
                <a16:creationId xmlns:a16="http://schemas.microsoft.com/office/drawing/2014/main" id="{5E4381F4-C384-7795-00CC-E8F968D916B6}"/>
              </a:ext>
            </a:extLst>
          </p:cNvPr>
          <p:cNvSpPr txBox="1">
            <a:spLocks/>
          </p:cNvSpPr>
          <p:nvPr/>
        </p:nvSpPr>
        <p:spPr>
          <a:xfrm>
            <a:off x="817879" y="491739"/>
            <a:ext cx="9672264" cy="51410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dirty="0">
                <a:latin typeface="Helvetica Neue" panose="02000503000000020004" pitchFamily="2" charset="0"/>
                <a:ea typeface="Helvetica Neue" panose="02000503000000020004" pitchFamily="2" charset="0"/>
                <a:cs typeface="Helvetica Neue" panose="02000503000000020004" pitchFamily="2" charset="0"/>
              </a:rPr>
              <a:t>Condition Controlled ‘while’ loops</a:t>
            </a:r>
            <a:endParaRPr lang="en-GB" sz="2800" b="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 name="TextBox 13">
            <a:extLst>
              <a:ext uri="{FF2B5EF4-FFF2-40B4-BE49-F238E27FC236}">
                <a16:creationId xmlns:a16="http://schemas.microsoft.com/office/drawing/2014/main" id="{27D55D0B-2A7A-6A3A-1A18-DBFBE6880A8B}"/>
              </a:ext>
            </a:extLst>
          </p:cNvPr>
          <p:cNvSpPr txBox="1"/>
          <p:nvPr/>
        </p:nvSpPr>
        <p:spPr>
          <a:xfrm>
            <a:off x="877824" y="2228671"/>
            <a:ext cx="6096000" cy="1200329"/>
          </a:xfrm>
          <a:prstGeom prst="rect">
            <a:avLst/>
          </a:prstGeom>
          <a:noFill/>
        </p:spPr>
        <p:txBody>
          <a:bodyPr wrap="square">
            <a:spAutoFit/>
          </a:bodyPr>
          <a:lstStyle/>
          <a:p>
            <a:r>
              <a:rPr lang="en-GB" sz="2400" dirty="0">
                <a:effectLst/>
                <a:latin typeface="CourierNewPSMT" panose="02070309020205020404" pitchFamily="49" charset="0"/>
              </a:rPr>
              <a:t>number = 0 while number &lt; 10 : 	print(number) </a:t>
            </a:r>
          </a:p>
          <a:p>
            <a:r>
              <a:rPr lang="en-GB" sz="2400" dirty="0">
                <a:latin typeface="CourierNewPSMT" panose="02070309020205020404" pitchFamily="49" charset="0"/>
              </a:rPr>
              <a:t>	</a:t>
            </a:r>
            <a:r>
              <a:rPr lang="en-GB" sz="2400" dirty="0">
                <a:effectLst/>
                <a:latin typeface="CourierNewPSMT" panose="02070309020205020404" pitchFamily="49" charset="0"/>
              </a:rPr>
              <a:t>number = number + 1 </a:t>
            </a:r>
            <a:endParaRPr lang="en-GB" sz="2400" dirty="0">
              <a:effectLst/>
            </a:endParaRPr>
          </a:p>
        </p:txBody>
      </p:sp>
      <p:pic>
        <p:nvPicPr>
          <p:cNvPr id="4" name="Picture 3" descr="Flow chart">
            <a:extLst>
              <a:ext uri="{FF2B5EF4-FFF2-40B4-BE49-F238E27FC236}">
                <a16:creationId xmlns:a16="http://schemas.microsoft.com/office/drawing/2014/main" id="{BDAB3B6F-2FC4-EC3F-F6E7-1774CC532246}"/>
              </a:ext>
            </a:extLst>
          </p:cNvPr>
          <p:cNvPicPr>
            <a:picLocks noChangeAspect="1"/>
          </p:cNvPicPr>
          <p:nvPr/>
        </p:nvPicPr>
        <p:blipFill>
          <a:blip r:embed="rId2"/>
          <a:stretch>
            <a:fillRect/>
          </a:stretch>
        </p:blipFill>
        <p:spPr>
          <a:xfrm>
            <a:off x="7487357" y="1719072"/>
            <a:ext cx="3425806" cy="3950208"/>
          </a:xfrm>
          <a:prstGeom prst="rect">
            <a:avLst/>
          </a:prstGeom>
        </p:spPr>
      </p:pic>
      <p:sp>
        <p:nvSpPr>
          <p:cNvPr id="5" name="Rectangle 4">
            <a:extLst>
              <a:ext uri="{FF2B5EF4-FFF2-40B4-BE49-F238E27FC236}">
                <a16:creationId xmlns:a16="http://schemas.microsoft.com/office/drawing/2014/main" id="{5E5FDC00-8A78-BFC3-784E-B286B5DD8224}"/>
              </a:ext>
            </a:extLst>
          </p:cNvPr>
          <p:cNvSpPr/>
          <p:nvPr/>
        </p:nvSpPr>
        <p:spPr>
          <a:xfrm>
            <a:off x="7473696" y="1938528"/>
            <a:ext cx="804672" cy="5120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63059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CE3F3E2-EF0C-DD60-7C29-2D13C930E4B5}"/>
              </a:ext>
            </a:extLst>
          </p:cNvPr>
          <p:cNvSpPr/>
          <p:nvPr/>
        </p:nvSpPr>
        <p:spPr>
          <a:xfrm>
            <a:off x="0" y="4099389"/>
            <a:ext cx="375920" cy="2270931"/>
          </a:xfrm>
          <a:prstGeom prst="rect">
            <a:avLst/>
          </a:prstGeom>
          <a:solidFill>
            <a:srgbClr val="FF9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9519C99-AA9F-E95C-13AB-EA3546581D88}"/>
              </a:ext>
            </a:extLst>
          </p:cNvPr>
          <p:cNvSpPr txBox="1"/>
          <p:nvPr/>
        </p:nvSpPr>
        <p:spPr>
          <a:xfrm rot="16200000">
            <a:off x="-930350" y="5043232"/>
            <a:ext cx="2246881" cy="276999"/>
          </a:xfrm>
          <a:prstGeom prst="rect">
            <a:avLst/>
          </a:prstGeom>
          <a:noFill/>
        </p:spPr>
        <p:txBody>
          <a:bodyPr wrap="square" rtlCol="0">
            <a:spAutoFit/>
          </a:bodyPr>
          <a:lstStyle/>
          <a:p>
            <a:r>
              <a:rPr lang="en-US" sz="1200" b="1" dirty="0">
                <a:solidFill>
                  <a:schemeClr val="bg1"/>
                </a:solidFill>
                <a:latin typeface="Aptos ExtraBold" panose="020B0004020202020204" pitchFamily="34" charset="0"/>
              </a:rPr>
              <a:t>Software Development 1</a:t>
            </a:r>
          </a:p>
        </p:txBody>
      </p:sp>
      <p:sp>
        <p:nvSpPr>
          <p:cNvPr id="3" name="Title 1">
            <a:extLst>
              <a:ext uri="{FF2B5EF4-FFF2-40B4-BE49-F238E27FC236}">
                <a16:creationId xmlns:a16="http://schemas.microsoft.com/office/drawing/2014/main" id="{5E4381F4-C384-7795-00CC-E8F968D916B6}"/>
              </a:ext>
            </a:extLst>
          </p:cNvPr>
          <p:cNvSpPr txBox="1">
            <a:spLocks/>
          </p:cNvSpPr>
          <p:nvPr/>
        </p:nvSpPr>
        <p:spPr>
          <a:xfrm>
            <a:off x="817879" y="491739"/>
            <a:ext cx="9672264" cy="51410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dirty="0">
                <a:latin typeface="Helvetica Neue" panose="02000503000000020004" pitchFamily="2" charset="0"/>
                <a:ea typeface="Helvetica Neue" panose="02000503000000020004" pitchFamily="2" charset="0"/>
                <a:cs typeface="Helvetica Neue" panose="02000503000000020004" pitchFamily="2" charset="0"/>
              </a:rPr>
              <a:t>Python’s use of indentation</a:t>
            </a:r>
            <a:endParaRPr lang="en-GB" sz="2800" b="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 name="TextBox 13">
            <a:extLst>
              <a:ext uri="{FF2B5EF4-FFF2-40B4-BE49-F238E27FC236}">
                <a16:creationId xmlns:a16="http://schemas.microsoft.com/office/drawing/2014/main" id="{27D55D0B-2A7A-6A3A-1A18-DBFBE6880A8B}"/>
              </a:ext>
            </a:extLst>
          </p:cNvPr>
          <p:cNvSpPr txBox="1"/>
          <p:nvPr/>
        </p:nvSpPr>
        <p:spPr>
          <a:xfrm>
            <a:off x="841248" y="1154494"/>
            <a:ext cx="10290048" cy="805484"/>
          </a:xfrm>
          <a:prstGeom prst="rect">
            <a:avLst/>
          </a:prstGeom>
          <a:noFill/>
        </p:spPr>
        <p:txBody>
          <a:bodyPr wrap="square">
            <a:spAutoFit/>
          </a:bodyPr>
          <a:lstStyle/>
          <a:p>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The Python indentation for the while “block” is not cosmetic. A sequence of lines that have the same indentation forms a block. Here, both lines get run or neither of them do. The block is ended by the first line that follows it with no indentation. </a:t>
            </a:r>
          </a:p>
        </p:txBody>
      </p:sp>
      <p:pic>
        <p:nvPicPr>
          <p:cNvPr id="4" name="Picture 3" descr="Example of indentation">
            <a:extLst>
              <a:ext uri="{FF2B5EF4-FFF2-40B4-BE49-F238E27FC236}">
                <a16:creationId xmlns:a16="http://schemas.microsoft.com/office/drawing/2014/main" id="{85BDD4AC-2026-9749-6CB8-ED9EF8F8FE45}"/>
              </a:ext>
            </a:extLst>
          </p:cNvPr>
          <p:cNvPicPr>
            <a:picLocks noChangeAspect="1"/>
          </p:cNvPicPr>
          <p:nvPr/>
        </p:nvPicPr>
        <p:blipFill>
          <a:blip r:embed="rId2"/>
          <a:stretch>
            <a:fillRect/>
          </a:stretch>
        </p:blipFill>
        <p:spPr>
          <a:xfrm>
            <a:off x="707136" y="2836407"/>
            <a:ext cx="7772400" cy="3025096"/>
          </a:xfrm>
          <a:prstGeom prst="rect">
            <a:avLst/>
          </a:prstGeom>
        </p:spPr>
      </p:pic>
    </p:spTree>
    <p:extLst>
      <p:ext uri="{BB962C8B-B14F-4D97-AF65-F5344CB8AC3E}">
        <p14:creationId xmlns:p14="http://schemas.microsoft.com/office/powerpoint/2010/main" val="3955768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CE3F3E2-EF0C-DD60-7C29-2D13C930E4B5}"/>
              </a:ext>
            </a:extLst>
          </p:cNvPr>
          <p:cNvSpPr/>
          <p:nvPr/>
        </p:nvSpPr>
        <p:spPr>
          <a:xfrm>
            <a:off x="0" y="4099389"/>
            <a:ext cx="375920" cy="2270931"/>
          </a:xfrm>
          <a:prstGeom prst="rect">
            <a:avLst/>
          </a:prstGeom>
          <a:solidFill>
            <a:srgbClr val="FF9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9519C99-AA9F-E95C-13AB-EA3546581D88}"/>
              </a:ext>
            </a:extLst>
          </p:cNvPr>
          <p:cNvSpPr txBox="1"/>
          <p:nvPr/>
        </p:nvSpPr>
        <p:spPr>
          <a:xfrm rot="16200000">
            <a:off x="-930350" y="5043232"/>
            <a:ext cx="2246881" cy="276999"/>
          </a:xfrm>
          <a:prstGeom prst="rect">
            <a:avLst/>
          </a:prstGeom>
          <a:noFill/>
        </p:spPr>
        <p:txBody>
          <a:bodyPr wrap="square" rtlCol="0">
            <a:spAutoFit/>
          </a:bodyPr>
          <a:lstStyle/>
          <a:p>
            <a:r>
              <a:rPr lang="en-US" sz="1200" b="1" dirty="0">
                <a:solidFill>
                  <a:schemeClr val="bg1"/>
                </a:solidFill>
                <a:latin typeface="Aptos ExtraBold" panose="020B0004020202020204" pitchFamily="34" charset="0"/>
              </a:rPr>
              <a:t>Software Development 1</a:t>
            </a:r>
          </a:p>
        </p:txBody>
      </p:sp>
      <p:sp>
        <p:nvSpPr>
          <p:cNvPr id="8" name="Content Placeholder 2">
            <a:extLst>
              <a:ext uri="{FF2B5EF4-FFF2-40B4-BE49-F238E27FC236}">
                <a16:creationId xmlns:a16="http://schemas.microsoft.com/office/drawing/2014/main" id="{3556E629-A092-313A-245F-87CCA20EFE1C}"/>
              </a:ext>
            </a:extLst>
          </p:cNvPr>
          <p:cNvSpPr txBox="1">
            <a:spLocks/>
          </p:cNvSpPr>
          <p:nvPr/>
        </p:nvSpPr>
        <p:spPr>
          <a:xfrm>
            <a:off x="1681480" y="2089574"/>
            <a:ext cx="7223760" cy="402336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 name="Title 1">
            <a:extLst>
              <a:ext uri="{FF2B5EF4-FFF2-40B4-BE49-F238E27FC236}">
                <a16:creationId xmlns:a16="http://schemas.microsoft.com/office/drawing/2014/main" id="{5E4381F4-C384-7795-00CC-E8F968D916B6}"/>
              </a:ext>
            </a:extLst>
          </p:cNvPr>
          <p:cNvSpPr txBox="1">
            <a:spLocks/>
          </p:cNvSpPr>
          <p:nvPr/>
        </p:nvSpPr>
        <p:spPr>
          <a:xfrm>
            <a:off x="838199" y="583179"/>
            <a:ext cx="9672264" cy="51410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dirty="0">
                <a:latin typeface="Helvetica Neue" panose="02000503000000020004" pitchFamily="2" charset="0"/>
                <a:ea typeface="Helvetica Neue" panose="02000503000000020004" pitchFamily="2" charset="0"/>
                <a:cs typeface="Helvetica Neue" panose="02000503000000020004" pitchFamily="2" charset="0"/>
              </a:rPr>
              <a:t>Some Common Errors - Infinite Loops</a:t>
            </a:r>
            <a:endParaRPr lang="en-GB" sz="2800" b="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TextBox 3">
            <a:extLst>
              <a:ext uri="{FF2B5EF4-FFF2-40B4-BE49-F238E27FC236}">
                <a16:creationId xmlns:a16="http://schemas.microsoft.com/office/drawing/2014/main" id="{148177C3-6D53-92B4-4D44-A219A0546A0D}"/>
              </a:ext>
            </a:extLst>
          </p:cNvPr>
          <p:cNvSpPr txBox="1"/>
          <p:nvPr/>
        </p:nvSpPr>
        <p:spPr>
          <a:xfrm>
            <a:off x="894080" y="1209747"/>
            <a:ext cx="9550400" cy="5632311"/>
          </a:xfrm>
          <a:prstGeom prst="rect">
            <a:avLst/>
          </a:prstGeom>
          <a:noFill/>
        </p:spPr>
        <p:txBody>
          <a:bodyPr wrap="square">
            <a:spAutoFit/>
          </a:bodyPr>
          <a:lstStyle/>
          <a:p>
            <a:r>
              <a:rPr lang="en-GB" sz="2400" dirty="0">
                <a:effectLst/>
                <a:latin typeface="Courier New" panose="02070309020205020404" pitchFamily="49" charset="0"/>
                <a:cs typeface="Courier New" panose="02070309020205020404" pitchFamily="49" charset="0"/>
              </a:rPr>
              <a:t>counter = 1 </a:t>
            </a:r>
          </a:p>
          <a:p>
            <a:r>
              <a:rPr lang="en-GB" sz="2400" dirty="0">
                <a:effectLst/>
                <a:latin typeface="Courier New" panose="02070309020205020404" pitchFamily="49" charset="0"/>
                <a:cs typeface="Courier New" panose="02070309020205020404" pitchFamily="49" charset="0"/>
              </a:rPr>
              <a:t>while counter &lt;= 10 : 	</a:t>
            </a:r>
            <a:r>
              <a:rPr lang="en-GB" sz="1800" b="1" dirty="0">
                <a:effectLst/>
                <a:latin typeface="Courier New" panose="02070309020205020404" pitchFamily="49" charset="0"/>
                <a:cs typeface="Courier New" panose="02070309020205020404" pitchFamily="49" charset="0"/>
              </a:rPr>
              <a:t># Executes 5 passes </a:t>
            </a:r>
            <a:endParaRPr lang="en-GB" sz="2400" dirty="0">
              <a:effectLst/>
              <a:latin typeface="Courier New" panose="02070309020205020404" pitchFamily="49" charset="0"/>
              <a:cs typeface="Courier New" panose="02070309020205020404" pitchFamily="49" charset="0"/>
            </a:endParaRPr>
          </a:p>
          <a:p>
            <a:r>
              <a:rPr lang="en-GB" sz="2400" dirty="0">
                <a:effectLst/>
                <a:latin typeface="Courier New" panose="02070309020205020404" pitchFamily="49" charset="0"/>
                <a:cs typeface="Courier New" panose="02070309020205020404" pitchFamily="49" charset="0"/>
              </a:rPr>
              <a:t>	print(counter) </a:t>
            </a:r>
          </a:p>
          <a:p>
            <a:r>
              <a:rPr lang="en-GB" sz="2400" dirty="0">
                <a:latin typeface="Courier New" panose="02070309020205020404" pitchFamily="49" charset="0"/>
                <a:cs typeface="Courier New" panose="02070309020205020404" pitchFamily="49" charset="0"/>
              </a:rPr>
              <a:t>	</a:t>
            </a:r>
            <a:r>
              <a:rPr lang="en-GB" sz="2400" dirty="0">
                <a:effectLst/>
                <a:latin typeface="Courier New" panose="02070309020205020404" pitchFamily="49" charset="0"/>
                <a:cs typeface="Courier New" panose="02070309020205020404" pitchFamily="49" charset="0"/>
              </a:rPr>
              <a:t>counter = counter + 2 </a:t>
            </a:r>
          </a:p>
          <a:p>
            <a:endParaRPr lang="en-GB" sz="2400" dirty="0">
              <a:latin typeface="Courier New" panose="02070309020205020404" pitchFamily="49" charset="0"/>
              <a:ea typeface="Helvetica Neue" panose="02000503000000020004" pitchFamily="2" charset="0"/>
              <a:cs typeface="Courier New" panose="02070309020205020404" pitchFamily="49" charset="0"/>
            </a:endParaRPr>
          </a:p>
          <a:p>
            <a:r>
              <a:rPr lang="en-GB" sz="2400" dirty="0">
                <a:latin typeface="Courier New" panose="02070309020205020404" pitchFamily="49" charset="0"/>
                <a:ea typeface="Helvetica Neue" panose="02000503000000020004" pitchFamily="2" charset="0"/>
                <a:cs typeface="Courier New" panose="02070309020205020404" pitchFamily="49" charset="0"/>
              </a:rPr>
              <a:t>counter = 1 </a:t>
            </a:r>
          </a:p>
          <a:p>
            <a:r>
              <a:rPr lang="en-GB" sz="2400" dirty="0">
                <a:latin typeface="Courier New" panose="02070309020205020404" pitchFamily="49" charset="0"/>
                <a:ea typeface="Helvetica Neue" panose="02000503000000020004" pitchFamily="2" charset="0"/>
                <a:cs typeface="Courier New" panose="02070309020205020404" pitchFamily="49" charset="0"/>
              </a:rPr>
              <a:t>while counter != 10 : 	</a:t>
            </a:r>
            <a:r>
              <a:rPr lang="en-GB" b="1" dirty="0">
                <a:effectLst/>
                <a:latin typeface="Courier New" panose="02070309020205020404" pitchFamily="49" charset="0"/>
                <a:cs typeface="Courier New" panose="02070309020205020404" pitchFamily="49" charset="0"/>
              </a:rPr>
              <a:t># loops forever (why?)</a:t>
            </a:r>
            <a:endParaRPr lang="en-GB" dirty="0">
              <a:latin typeface="Courier New" panose="02070309020205020404" pitchFamily="49" charset="0"/>
              <a:ea typeface="Helvetica Neue" panose="02000503000000020004" pitchFamily="2" charset="0"/>
              <a:cs typeface="Courier New" panose="02070309020205020404" pitchFamily="49" charset="0"/>
            </a:endParaRPr>
          </a:p>
          <a:p>
            <a:r>
              <a:rPr lang="en-GB" sz="2400" dirty="0">
                <a:latin typeface="Courier New" panose="02070309020205020404" pitchFamily="49" charset="0"/>
                <a:ea typeface="Helvetica Neue" panose="02000503000000020004" pitchFamily="2" charset="0"/>
                <a:cs typeface="Courier New" panose="02070309020205020404" pitchFamily="49" charset="0"/>
              </a:rPr>
              <a:t>	print(counter) </a:t>
            </a:r>
          </a:p>
          <a:p>
            <a:r>
              <a:rPr lang="en-GB" sz="2400" dirty="0">
                <a:latin typeface="Courier New" panose="02070309020205020404" pitchFamily="49" charset="0"/>
                <a:ea typeface="Helvetica Neue" panose="02000503000000020004" pitchFamily="2" charset="0"/>
                <a:cs typeface="Courier New" panose="02070309020205020404" pitchFamily="49" charset="0"/>
              </a:rPr>
              <a:t>	counter = counter + 2 </a:t>
            </a:r>
          </a:p>
          <a:p>
            <a:endParaRPr lang="en-GB" sz="2400" dirty="0">
              <a:latin typeface="Courier New" panose="02070309020205020404" pitchFamily="49" charset="0"/>
              <a:ea typeface="Helvetica Neue" panose="02000503000000020004" pitchFamily="2" charset="0"/>
              <a:cs typeface="Courier New" panose="02070309020205020404" pitchFamily="49" charset="0"/>
            </a:endParaRPr>
          </a:p>
          <a:p>
            <a:r>
              <a:rPr lang="en-GB" sz="2400" dirty="0">
                <a:latin typeface="Courier New" panose="02070309020205020404" pitchFamily="49" charset="0"/>
                <a:ea typeface="Helvetica Neue" panose="02000503000000020004" pitchFamily="2" charset="0"/>
                <a:cs typeface="Courier New" panose="02070309020205020404" pitchFamily="49" charset="0"/>
              </a:rPr>
              <a:t>counter = 1 </a:t>
            </a:r>
          </a:p>
          <a:p>
            <a:r>
              <a:rPr lang="en-GB" sz="2400" dirty="0">
                <a:latin typeface="Courier New" panose="02070309020205020404" pitchFamily="49" charset="0"/>
                <a:ea typeface="Helvetica Neue" panose="02000503000000020004" pitchFamily="2" charset="0"/>
                <a:cs typeface="Courier New" panose="02070309020205020404" pitchFamily="49" charset="0"/>
              </a:rPr>
              <a:t>while counter != 9 : 	</a:t>
            </a:r>
            <a:r>
              <a:rPr lang="en-GB" b="1" dirty="0">
                <a:effectLst/>
                <a:latin typeface="Courier New" panose="02070309020205020404" pitchFamily="49" charset="0"/>
                <a:cs typeface="Courier New" panose="02070309020205020404" pitchFamily="49" charset="0"/>
              </a:rPr>
              <a:t># loops forever (why?)</a:t>
            </a:r>
            <a:endParaRPr lang="en-GB" dirty="0">
              <a:latin typeface="Courier New" panose="02070309020205020404" pitchFamily="49" charset="0"/>
              <a:ea typeface="Helvetica Neue" panose="02000503000000020004" pitchFamily="2" charset="0"/>
              <a:cs typeface="Courier New" panose="02070309020205020404" pitchFamily="49" charset="0"/>
            </a:endParaRPr>
          </a:p>
          <a:p>
            <a:r>
              <a:rPr lang="en-GB" sz="2400" dirty="0">
                <a:latin typeface="Courier New" panose="02070309020205020404" pitchFamily="49" charset="0"/>
                <a:ea typeface="Helvetica Neue" panose="02000503000000020004" pitchFamily="2" charset="0"/>
                <a:cs typeface="Courier New" panose="02070309020205020404" pitchFamily="49" charset="0"/>
              </a:rPr>
              <a:t>	print(counter) </a:t>
            </a:r>
          </a:p>
          <a:p>
            <a:r>
              <a:rPr lang="en-GB" sz="2400" dirty="0">
                <a:latin typeface="Courier New" panose="02070309020205020404" pitchFamily="49" charset="0"/>
                <a:ea typeface="Helvetica Neue" panose="02000503000000020004" pitchFamily="2" charset="0"/>
                <a:cs typeface="Courier New" panose="02070309020205020404" pitchFamily="49" charset="0"/>
              </a:rPr>
              <a:t>counter = counter + 2</a:t>
            </a:r>
          </a:p>
          <a:p>
            <a:pPr marL="342900" indent="-342900">
              <a:buFont typeface="Arial" panose="020B0604020202020204" pitchFamily="34" charset="0"/>
              <a:buChar char="•"/>
            </a:pPr>
            <a:endParaRPr lang="en-GB" sz="2400" dirty="0">
              <a:effectLst/>
              <a:latin typeface="Courier New" panose="02070309020205020404" pitchFamily="49" charset="0"/>
              <a:ea typeface="Helvetica Neue" panose="02000503000000020004" pitchFamily="2" charset="0"/>
              <a:cs typeface="Courier New" panose="02070309020205020404" pitchFamily="49" charset="0"/>
            </a:endParaRPr>
          </a:p>
        </p:txBody>
      </p:sp>
    </p:spTree>
    <p:extLst>
      <p:ext uri="{BB962C8B-B14F-4D97-AF65-F5344CB8AC3E}">
        <p14:creationId xmlns:p14="http://schemas.microsoft.com/office/powerpoint/2010/main" val="1267904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CE3F3E2-EF0C-DD60-7C29-2D13C930E4B5}"/>
              </a:ext>
            </a:extLst>
          </p:cNvPr>
          <p:cNvSpPr/>
          <p:nvPr/>
        </p:nvSpPr>
        <p:spPr>
          <a:xfrm>
            <a:off x="0" y="4099389"/>
            <a:ext cx="375920" cy="2270931"/>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9519C99-AA9F-E95C-13AB-EA3546581D88}"/>
              </a:ext>
            </a:extLst>
          </p:cNvPr>
          <p:cNvSpPr txBox="1"/>
          <p:nvPr/>
        </p:nvSpPr>
        <p:spPr>
          <a:xfrm rot="16200000">
            <a:off x="-930350" y="5043232"/>
            <a:ext cx="2246881" cy="276999"/>
          </a:xfrm>
          <a:prstGeom prst="rect">
            <a:avLst/>
          </a:prstGeom>
          <a:noFill/>
        </p:spPr>
        <p:txBody>
          <a:bodyPr wrap="square" rtlCol="0">
            <a:spAutoFit/>
          </a:bodyPr>
          <a:lstStyle/>
          <a:p>
            <a:r>
              <a:rPr lang="en-US" sz="1200" b="1" dirty="0">
                <a:solidFill>
                  <a:schemeClr val="bg1"/>
                </a:solidFill>
                <a:latin typeface="Aptos ExtraBold" panose="020B0004020202020204" pitchFamily="34" charset="0"/>
              </a:rPr>
              <a:t>Software Development 1</a:t>
            </a:r>
          </a:p>
        </p:txBody>
      </p:sp>
      <p:sp>
        <p:nvSpPr>
          <p:cNvPr id="8" name="Content Placeholder 2">
            <a:extLst>
              <a:ext uri="{FF2B5EF4-FFF2-40B4-BE49-F238E27FC236}">
                <a16:creationId xmlns:a16="http://schemas.microsoft.com/office/drawing/2014/main" id="{3556E629-A092-313A-245F-87CCA20EFE1C}"/>
              </a:ext>
            </a:extLst>
          </p:cNvPr>
          <p:cNvSpPr txBox="1">
            <a:spLocks/>
          </p:cNvSpPr>
          <p:nvPr/>
        </p:nvSpPr>
        <p:spPr>
          <a:xfrm>
            <a:off x="1681480" y="2089574"/>
            <a:ext cx="7223760" cy="402336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 name="Title 1">
            <a:extLst>
              <a:ext uri="{FF2B5EF4-FFF2-40B4-BE49-F238E27FC236}">
                <a16:creationId xmlns:a16="http://schemas.microsoft.com/office/drawing/2014/main" id="{5E4381F4-C384-7795-00CC-E8F968D916B6}"/>
              </a:ext>
            </a:extLst>
          </p:cNvPr>
          <p:cNvSpPr txBox="1">
            <a:spLocks/>
          </p:cNvSpPr>
          <p:nvPr/>
        </p:nvSpPr>
        <p:spPr>
          <a:xfrm>
            <a:off x="838199" y="583179"/>
            <a:ext cx="9672264" cy="51410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dirty="0">
                <a:latin typeface="Helvetica Neue" panose="02000503000000020004" pitchFamily="2" charset="0"/>
                <a:ea typeface="Helvetica Neue" panose="02000503000000020004" pitchFamily="2" charset="0"/>
                <a:cs typeface="Helvetica Neue" panose="02000503000000020004" pitchFamily="2" charset="0"/>
              </a:rPr>
              <a:t>Some Common Errors – “Off by One” error</a:t>
            </a:r>
            <a:endParaRPr lang="en-GB" sz="2800" b="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TextBox 3">
            <a:extLst>
              <a:ext uri="{FF2B5EF4-FFF2-40B4-BE49-F238E27FC236}">
                <a16:creationId xmlns:a16="http://schemas.microsoft.com/office/drawing/2014/main" id="{148177C3-6D53-92B4-4D44-A219A0546A0D}"/>
              </a:ext>
            </a:extLst>
          </p:cNvPr>
          <p:cNvSpPr txBox="1"/>
          <p:nvPr/>
        </p:nvSpPr>
        <p:spPr>
          <a:xfrm>
            <a:off x="851216" y="1124019"/>
            <a:ext cx="9550400" cy="5816977"/>
          </a:xfrm>
          <a:prstGeom prst="rect">
            <a:avLst/>
          </a:prstGeom>
          <a:noFill/>
        </p:spPr>
        <p:txBody>
          <a:bodyPr wrap="square">
            <a:spAutoFit/>
          </a:bodyPr>
          <a:lstStyle/>
          <a:p>
            <a:r>
              <a:rPr lang="en-GB" dirty="0">
                <a:effectLst/>
                <a:latin typeface="Courier New" panose="02070309020205020404" pitchFamily="49" charset="0"/>
                <a:cs typeface="Courier New" panose="02070309020205020404" pitchFamily="49" charset="0"/>
              </a:rPr>
              <a:t>counter = 0 </a:t>
            </a:r>
          </a:p>
          <a:p>
            <a:r>
              <a:rPr lang="en-GB" dirty="0">
                <a:effectLst/>
                <a:latin typeface="Courier New" panose="02070309020205020404" pitchFamily="49" charset="0"/>
                <a:cs typeface="Courier New" panose="02070309020205020404" pitchFamily="49" charset="0"/>
              </a:rPr>
              <a:t>while counter = 10 : 		</a:t>
            </a:r>
            <a:r>
              <a:rPr lang="en-GB" b="1" dirty="0">
                <a:effectLst/>
                <a:latin typeface="Courier New" panose="02070309020205020404" pitchFamily="49" charset="0"/>
                <a:cs typeface="Courier New" panose="02070309020205020404" pitchFamily="49" charset="0"/>
              </a:rPr>
              <a:t># q1 How many passes </a:t>
            </a:r>
            <a:endParaRPr lang="en-GB" dirty="0">
              <a:effectLst/>
              <a:latin typeface="Courier New" panose="02070309020205020404" pitchFamily="49" charset="0"/>
              <a:cs typeface="Courier New" panose="02070309020205020404" pitchFamily="49" charset="0"/>
            </a:endParaRPr>
          </a:p>
          <a:p>
            <a:r>
              <a:rPr lang="en-GB" dirty="0">
                <a:effectLst/>
                <a:latin typeface="Courier New" panose="02070309020205020404" pitchFamily="49" charset="0"/>
                <a:cs typeface="Courier New" panose="02070309020205020404" pitchFamily="49" charset="0"/>
              </a:rPr>
              <a:t>	&lt;do something&gt; </a:t>
            </a:r>
          </a:p>
          <a:p>
            <a:r>
              <a:rPr lang="en-GB" dirty="0">
                <a:latin typeface="Courier New" panose="02070309020205020404" pitchFamily="49" charset="0"/>
                <a:cs typeface="Courier New" panose="02070309020205020404" pitchFamily="49" charset="0"/>
              </a:rPr>
              <a:t>	</a:t>
            </a:r>
            <a:r>
              <a:rPr lang="en-GB" dirty="0">
                <a:effectLst/>
                <a:latin typeface="Courier New" panose="02070309020205020404" pitchFamily="49" charset="0"/>
                <a:cs typeface="Courier New" panose="02070309020205020404" pitchFamily="49" charset="0"/>
              </a:rPr>
              <a:t>counter = counter + 1 </a:t>
            </a:r>
          </a:p>
          <a:p>
            <a:endParaRPr lang="en-GB" dirty="0">
              <a:latin typeface="Courier New" panose="02070309020205020404" pitchFamily="49" charset="0"/>
              <a:ea typeface="Helvetica Neue" panose="02000503000000020004" pitchFamily="2" charset="0"/>
              <a:cs typeface="Courier New" panose="02070309020205020404" pitchFamily="49" charset="0"/>
            </a:endParaRPr>
          </a:p>
          <a:p>
            <a:r>
              <a:rPr lang="en-GB" dirty="0">
                <a:latin typeface="Courier New" panose="02070309020205020404" pitchFamily="49" charset="0"/>
                <a:ea typeface="Helvetica Neue" panose="02000503000000020004" pitchFamily="2" charset="0"/>
                <a:cs typeface="Courier New" panose="02070309020205020404" pitchFamily="49" charset="0"/>
              </a:rPr>
              <a:t>counter = 1 </a:t>
            </a:r>
          </a:p>
          <a:p>
            <a:r>
              <a:rPr lang="en-GB" dirty="0">
                <a:latin typeface="Courier New" panose="02070309020205020404" pitchFamily="49" charset="0"/>
                <a:ea typeface="Helvetica Neue" panose="02000503000000020004" pitchFamily="2" charset="0"/>
                <a:cs typeface="Courier New" panose="02070309020205020404" pitchFamily="49" charset="0"/>
              </a:rPr>
              <a:t>while counter &lt;= 10 : 		</a:t>
            </a:r>
            <a:r>
              <a:rPr lang="en-GB" b="1" dirty="0">
                <a:effectLst/>
                <a:latin typeface="Courier New" panose="02070309020205020404" pitchFamily="49" charset="0"/>
                <a:cs typeface="Courier New" panose="02070309020205020404" pitchFamily="49" charset="0"/>
              </a:rPr>
              <a:t># q2 How many passes </a:t>
            </a:r>
            <a:endParaRPr lang="en-GB" dirty="0">
              <a:latin typeface="Courier New" panose="02070309020205020404" pitchFamily="49" charset="0"/>
              <a:ea typeface="Helvetica Neue" panose="02000503000000020004" pitchFamily="2" charset="0"/>
              <a:cs typeface="Courier New" panose="02070309020205020404" pitchFamily="49" charset="0"/>
            </a:endParaRPr>
          </a:p>
          <a:p>
            <a:r>
              <a:rPr lang="en-GB" dirty="0">
                <a:latin typeface="Courier New" panose="02070309020205020404" pitchFamily="49" charset="0"/>
                <a:ea typeface="Helvetica Neue" panose="02000503000000020004" pitchFamily="2" charset="0"/>
                <a:cs typeface="Courier New" panose="02070309020205020404" pitchFamily="49" charset="0"/>
              </a:rPr>
              <a:t>	</a:t>
            </a:r>
            <a:r>
              <a:rPr lang="en-GB" dirty="0">
                <a:effectLst/>
                <a:latin typeface="Courier New" panose="02070309020205020404" pitchFamily="49" charset="0"/>
                <a:cs typeface="Courier New" panose="02070309020205020404" pitchFamily="49" charset="0"/>
              </a:rPr>
              <a:t>&lt;do something&gt; </a:t>
            </a:r>
            <a:r>
              <a:rPr lang="en-GB" dirty="0">
                <a:latin typeface="Courier New" panose="02070309020205020404" pitchFamily="49" charset="0"/>
                <a:ea typeface="Helvetica Neue" panose="02000503000000020004" pitchFamily="2" charset="0"/>
                <a:cs typeface="Courier New" panose="02070309020205020404" pitchFamily="49" charset="0"/>
              </a:rPr>
              <a:t>	</a:t>
            </a:r>
          </a:p>
          <a:p>
            <a:r>
              <a:rPr lang="en-GB" dirty="0">
                <a:latin typeface="Courier New" panose="02070309020205020404" pitchFamily="49" charset="0"/>
                <a:ea typeface="Helvetica Neue" panose="02000503000000020004" pitchFamily="2" charset="0"/>
                <a:cs typeface="Courier New" panose="02070309020205020404" pitchFamily="49" charset="0"/>
              </a:rPr>
              <a:t>	counter = counter + 1 </a:t>
            </a:r>
          </a:p>
          <a:p>
            <a:endParaRPr lang="en-GB" dirty="0">
              <a:latin typeface="Courier New" panose="02070309020205020404" pitchFamily="49" charset="0"/>
              <a:ea typeface="Helvetica Neue" panose="02000503000000020004" pitchFamily="2" charset="0"/>
              <a:cs typeface="Courier New" panose="02070309020205020404" pitchFamily="49" charset="0"/>
            </a:endParaRPr>
          </a:p>
          <a:p>
            <a:r>
              <a:rPr lang="en-GB" dirty="0">
                <a:latin typeface="Courier New" panose="02070309020205020404" pitchFamily="49" charset="0"/>
                <a:ea typeface="Helvetica Neue" panose="02000503000000020004" pitchFamily="2" charset="0"/>
                <a:cs typeface="Courier New" panose="02070309020205020404" pitchFamily="49" charset="0"/>
              </a:rPr>
              <a:t>counter = 1 </a:t>
            </a:r>
          </a:p>
          <a:p>
            <a:r>
              <a:rPr lang="en-GB" dirty="0">
                <a:latin typeface="Courier New" panose="02070309020205020404" pitchFamily="49" charset="0"/>
                <a:ea typeface="Helvetica Neue" panose="02000503000000020004" pitchFamily="2" charset="0"/>
                <a:cs typeface="Courier New" panose="02070309020205020404" pitchFamily="49" charset="0"/>
              </a:rPr>
              <a:t>while counter &lt; 10 : 		</a:t>
            </a:r>
            <a:r>
              <a:rPr lang="en-GB" b="1" dirty="0">
                <a:effectLst/>
                <a:latin typeface="Courier New" panose="02070309020205020404" pitchFamily="49" charset="0"/>
                <a:cs typeface="Courier New" panose="02070309020205020404" pitchFamily="49" charset="0"/>
              </a:rPr>
              <a:t># q3 How many passes </a:t>
            </a:r>
            <a:endParaRPr lang="en-GB" dirty="0">
              <a:latin typeface="Courier New" panose="02070309020205020404" pitchFamily="49" charset="0"/>
              <a:ea typeface="Helvetica Neue" panose="02000503000000020004" pitchFamily="2" charset="0"/>
              <a:cs typeface="Courier New" panose="02070309020205020404" pitchFamily="49" charset="0"/>
            </a:endParaRPr>
          </a:p>
          <a:p>
            <a:r>
              <a:rPr lang="en-GB" dirty="0">
                <a:latin typeface="Courier New" panose="02070309020205020404" pitchFamily="49" charset="0"/>
                <a:ea typeface="Helvetica Neue" panose="02000503000000020004" pitchFamily="2" charset="0"/>
                <a:cs typeface="Courier New" panose="02070309020205020404" pitchFamily="49" charset="0"/>
              </a:rPr>
              <a:t>	</a:t>
            </a:r>
            <a:r>
              <a:rPr lang="en-GB" dirty="0">
                <a:effectLst/>
                <a:latin typeface="Courier New" panose="02070309020205020404" pitchFamily="49" charset="0"/>
                <a:cs typeface="Courier New" panose="02070309020205020404" pitchFamily="49" charset="0"/>
              </a:rPr>
              <a:t>&lt;do something&gt; </a:t>
            </a:r>
            <a:endParaRPr lang="en-GB" dirty="0">
              <a:latin typeface="Courier New" panose="02070309020205020404" pitchFamily="49" charset="0"/>
              <a:ea typeface="Helvetica Neue" panose="02000503000000020004" pitchFamily="2" charset="0"/>
              <a:cs typeface="Courier New" panose="02070309020205020404" pitchFamily="49" charset="0"/>
            </a:endParaRPr>
          </a:p>
          <a:p>
            <a:r>
              <a:rPr lang="en-GB" dirty="0">
                <a:latin typeface="Courier New" panose="02070309020205020404" pitchFamily="49" charset="0"/>
                <a:ea typeface="Helvetica Neue" panose="02000503000000020004" pitchFamily="2" charset="0"/>
                <a:cs typeface="Courier New" panose="02070309020205020404" pitchFamily="49" charset="0"/>
              </a:rPr>
              <a:t>	counter = counter + 1</a:t>
            </a:r>
          </a:p>
          <a:p>
            <a:pPr marL="342900" indent="-342900">
              <a:buFont typeface="Arial" panose="020B0604020202020204" pitchFamily="34" charset="0"/>
              <a:buChar char="•"/>
            </a:pPr>
            <a:endParaRPr lang="en-GB" sz="2400" dirty="0">
              <a:effectLst/>
              <a:latin typeface="Courier New" panose="02070309020205020404" pitchFamily="49" charset="0"/>
              <a:ea typeface="Helvetica Neue" panose="02000503000000020004" pitchFamily="2" charset="0"/>
              <a:cs typeface="Courier New" panose="02070309020205020404" pitchFamily="49" charset="0"/>
            </a:endParaRPr>
          </a:p>
          <a:p>
            <a:r>
              <a:rPr lang="en-GB" dirty="0">
                <a:effectLst/>
                <a:latin typeface="Courier New" panose="02070309020205020404" pitchFamily="49" charset="0"/>
                <a:cs typeface="Courier New" panose="02070309020205020404" pitchFamily="49" charset="0"/>
              </a:rPr>
              <a:t>counter = 0 </a:t>
            </a:r>
          </a:p>
          <a:p>
            <a:r>
              <a:rPr lang="en-GB" dirty="0">
                <a:effectLst/>
                <a:latin typeface="Courier New" panose="02070309020205020404" pitchFamily="49" charset="0"/>
                <a:cs typeface="Courier New" panose="02070309020205020404" pitchFamily="49" charset="0"/>
              </a:rPr>
              <a:t>while counter &lt;= 10 : # 		</a:t>
            </a:r>
            <a:r>
              <a:rPr lang="en-GB" b="1" dirty="0">
                <a:effectLst/>
                <a:latin typeface="Courier New" panose="02070309020205020404" pitchFamily="49" charset="0"/>
                <a:cs typeface="Courier New" panose="02070309020205020404" pitchFamily="49" charset="0"/>
              </a:rPr>
              <a:t># q4 How many passes </a:t>
            </a:r>
            <a:endParaRPr lang="en-GB" dirty="0">
              <a:effectLst/>
              <a:latin typeface="Courier New" panose="02070309020205020404" pitchFamily="49" charset="0"/>
              <a:cs typeface="Courier New" panose="02070309020205020404" pitchFamily="49" charset="0"/>
            </a:endParaRPr>
          </a:p>
          <a:p>
            <a:r>
              <a:rPr lang="en-GB" dirty="0">
                <a:effectLst/>
                <a:latin typeface="Courier New" panose="02070309020205020404" pitchFamily="49" charset="0"/>
                <a:cs typeface="Courier New" panose="02070309020205020404" pitchFamily="49" charset="0"/>
              </a:rPr>
              <a:t>	&lt;do something&gt; </a:t>
            </a:r>
          </a:p>
          <a:p>
            <a:r>
              <a:rPr lang="en-GB" dirty="0">
                <a:effectLst/>
                <a:latin typeface="Courier New" panose="02070309020205020404" pitchFamily="49" charset="0"/>
                <a:cs typeface="Courier New" panose="02070309020205020404" pitchFamily="49" charset="0"/>
              </a:rPr>
              <a:t>	counter = counter + 1 </a:t>
            </a:r>
          </a:p>
          <a:p>
            <a:endParaRPr lang="en-GB" sz="2400" dirty="0">
              <a:effectLst/>
              <a:latin typeface="Courier New" panose="02070309020205020404" pitchFamily="49" charset="0"/>
              <a:ea typeface="Helvetica Neue" panose="02000503000000020004" pitchFamily="2" charset="0"/>
              <a:cs typeface="Courier New" panose="02070309020205020404" pitchFamily="49" charset="0"/>
            </a:endParaRPr>
          </a:p>
        </p:txBody>
      </p:sp>
    </p:spTree>
    <p:extLst>
      <p:ext uri="{BB962C8B-B14F-4D97-AF65-F5344CB8AC3E}">
        <p14:creationId xmlns:p14="http://schemas.microsoft.com/office/powerpoint/2010/main" val="6332357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CE3F3E2-EF0C-DD60-7C29-2D13C930E4B5}"/>
              </a:ext>
            </a:extLst>
          </p:cNvPr>
          <p:cNvSpPr/>
          <p:nvPr/>
        </p:nvSpPr>
        <p:spPr>
          <a:xfrm>
            <a:off x="0" y="4099389"/>
            <a:ext cx="375920" cy="2270931"/>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9519C99-AA9F-E95C-13AB-EA3546581D88}"/>
              </a:ext>
            </a:extLst>
          </p:cNvPr>
          <p:cNvSpPr txBox="1"/>
          <p:nvPr/>
        </p:nvSpPr>
        <p:spPr>
          <a:xfrm rot="16200000">
            <a:off x="-930350" y="5043232"/>
            <a:ext cx="2246881" cy="276999"/>
          </a:xfrm>
          <a:prstGeom prst="rect">
            <a:avLst/>
          </a:prstGeom>
          <a:noFill/>
        </p:spPr>
        <p:txBody>
          <a:bodyPr wrap="square" rtlCol="0">
            <a:spAutoFit/>
          </a:bodyPr>
          <a:lstStyle/>
          <a:p>
            <a:r>
              <a:rPr lang="en-US" sz="1200" b="1" dirty="0">
                <a:solidFill>
                  <a:schemeClr val="bg1"/>
                </a:solidFill>
                <a:latin typeface="Aptos ExtraBold" panose="020B0004020202020204" pitchFamily="34" charset="0"/>
              </a:rPr>
              <a:t>Software Development 1</a:t>
            </a:r>
          </a:p>
        </p:txBody>
      </p:sp>
      <p:sp>
        <p:nvSpPr>
          <p:cNvPr id="8" name="Content Placeholder 2">
            <a:extLst>
              <a:ext uri="{FF2B5EF4-FFF2-40B4-BE49-F238E27FC236}">
                <a16:creationId xmlns:a16="http://schemas.microsoft.com/office/drawing/2014/main" id="{3556E629-A092-313A-245F-87CCA20EFE1C}"/>
              </a:ext>
            </a:extLst>
          </p:cNvPr>
          <p:cNvSpPr txBox="1">
            <a:spLocks/>
          </p:cNvSpPr>
          <p:nvPr/>
        </p:nvSpPr>
        <p:spPr>
          <a:xfrm>
            <a:off x="1681480" y="2089574"/>
            <a:ext cx="7223760" cy="402336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 name="Title 1">
            <a:extLst>
              <a:ext uri="{FF2B5EF4-FFF2-40B4-BE49-F238E27FC236}">
                <a16:creationId xmlns:a16="http://schemas.microsoft.com/office/drawing/2014/main" id="{5E4381F4-C384-7795-00CC-E8F968D916B6}"/>
              </a:ext>
            </a:extLst>
          </p:cNvPr>
          <p:cNvSpPr txBox="1">
            <a:spLocks/>
          </p:cNvSpPr>
          <p:nvPr/>
        </p:nvSpPr>
        <p:spPr>
          <a:xfrm>
            <a:off x="838199" y="583179"/>
            <a:ext cx="9672264" cy="51410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dirty="0">
                <a:solidFill>
                  <a:srgbClr val="00B0F0"/>
                </a:solidFill>
                <a:latin typeface="Helvetica Neue" panose="02000503000000020004" pitchFamily="2" charset="0"/>
                <a:ea typeface="Helvetica Neue" panose="02000503000000020004" pitchFamily="2" charset="0"/>
                <a:cs typeface="Helvetica Neue" panose="02000503000000020004" pitchFamily="2" charset="0"/>
              </a:rPr>
              <a:t>ANSWERS</a:t>
            </a:r>
            <a:r>
              <a:rPr lang="en-US" sz="2800" b="1" dirty="0">
                <a:latin typeface="Helvetica Neue" panose="02000503000000020004" pitchFamily="2" charset="0"/>
                <a:ea typeface="Helvetica Neue" panose="02000503000000020004" pitchFamily="2" charset="0"/>
                <a:cs typeface="Helvetica Neue" panose="02000503000000020004" pitchFamily="2" charset="0"/>
              </a:rPr>
              <a:t> – “Off by One” error</a:t>
            </a:r>
            <a:endParaRPr lang="en-GB" sz="2800" b="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TextBox 3">
            <a:extLst>
              <a:ext uri="{FF2B5EF4-FFF2-40B4-BE49-F238E27FC236}">
                <a16:creationId xmlns:a16="http://schemas.microsoft.com/office/drawing/2014/main" id="{148177C3-6D53-92B4-4D44-A219A0546A0D}"/>
              </a:ext>
            </a:extLst>
          </p:cNvPr>
          <p:cNvSpPr txBox="1"/>
          <p:nvPr/>
        </p:nvSpPr>
        <p:spPr>
          <a:xfrm>
            <a:off x="851216" y="1124019"/>
            <a:ext cx="9550400" cy="5816977"/>
          </a:xfrm>
          <a:prstGeom prst="rect">
            <a:avLst/>
          </a:prstGeom>
          <a:noFill/>
        </p:spPr>
        <p:txBody>
          <a:bodyPr wrap="square">
            <a:spAutoFit/>
          </a:bodyPr>
          <a:lstStyle/>
          <a:p>
            <a:r>
              <a:rPr lang="en-GB" dirty="0">
                <a:effectLst/>
                <a:latin typeface="Courier New" panose="02070309020205020404" pitchFamily="49" charset="0"/>
                <a:cs typeface="Courier New" panose="02070309020205020404" pitchFamily="49" charset="0"/>
              </a:rPr>
              <a:t>counter = 0 </a:t>
            </a:r>
          </a:p>
          <a:p>
            <a:r>
              <a:rPr lang="en-GB" dirty="0">
                <a:effectLst/>
                <a:latin typeface="Courier New" panose="02070309020205020404" pitchFamily="49" charset="0"/>
                <a:cs typeface="Courier New" panose="02070309020205020404" pitchFamily="49" charset="0"/>
              </a:rPr>
              <a:t>while counter = 10 : 		</a:t>
            </a:r>
            <a:r>
              <a:rPr lang="en-GB" b="1" dirty="0">
                <a:effectLst/>
                <a:latin typeface="Courier New" panose="02070309020205020404" pitchFamily="49" charset="0"/>
                <a:cs typeface="Courier New" panose="02070309020205020404" pitchFamily="49" charset="0"/>
              </a:rPr>
              <a:t># </a:t>
            </a:r>
            <a:r>
              <a:rPr lang="en-GB" b="1" dirty="0">
                <a:latin typeface="Courier New" panose="02070309020205020404" pitchFamily="49" charset="0"/>
                <a:cs typeface="Courier New" panose="02070309020205020404" pitchFamily="49" charset="0"/>
              </a:rPr>
              <a:t>A</a:t>
            </a:r>
            <a:r>
              <a:rPr lang="en-GB" b="1" dirty="0">
                <a:effectLst/>
                <a:latin typeface="Courier New" panose="02070309020205020404" pitchFamily="49" charset="0"/>
                <a:cs typeface="Courier New" panose="02070309020205020404" pitchFamily="49" charset="0"/>
              </a:rPr>
              <a:t>1 </a:t>
            </a:r>
            <a:r>
              <a:rPr lang="en-GB" sz="1800" b="1" dirty="0">
                <a:effectLst/>
                <a:latin typeface="CourierNewPS"/>
              </a:rPr>
              <a:t>Executes 10 passes </a:t>
            </a:r>
            <a:endParaRPr lang="en-GB" dirty="0">
              <a:effectLst/>
              <a:latin typeface="Courier New" panose="02070309020205020404" pitchFamily="49" charset="0"/>
              <a:cs typeface="Courier New" panose="02070309020205020404" pitchFamily="49" charset="0"/>
            </a:endParaRPr>
          </a:p>
          <a:p>
            <a:r>
              <a:rPr lang="en-GB" dirty="0">
                <a:effectLst/>
                <a:latin typeface="Courier New" panose="02070309020205020404" pitchFamily="49" charset="0"/>
                <a:cs typeface="Courier New" panose="02070309020205020404" pitchFamily="49" charset="0"/>
              </a:rPr>
              <a:t>	&lt;do something&gt; </a:t>
            </a:r>
          </a:p>
          <a:p>
            <a:r>
              <a:rPr lang="en-GB" dirty="0">
                <a:latin typeface="Courier New" panose="02070309020205020404" pitchFamily="49" charset="0"/>
                <a:cs typeface="Courier New" panose="02070309020205020404" pitchFamily="49" charset="0"/>
              </a:rPr>
              <a:t>	</a:t>
            </a:r>
            <a:r>
              <a:rPr lang="en-GB" dirty="0">
                <a:effectLst/>
                <a:latin typeface="Courier New" panose="02070309020205020404" pitchFamily="49" charset="0"/>
                <a:cs typeface="Courier New" panose="02070309020205020404" pitchFamily="49" charset="0"/>
              </a:rPr>
              <a:t>counter = counter + 1 </a:t>
            </a:r>
          </a:p>
          <a:p>
            <a:endParaRPr lang="en-GB" dirty="0">
              <a:latin typeface="Courier New" panose="02070309020205020404" pitchFamily="49" charset="0"/>
              <a:ea typeface="Helvetica Neue" panose="02000503000000020004" pitchFamily="2" charset="0"/>
              <a:cs typeface="Courier New" panose="02070309020205020404" pitchFamily="49" charset="0"/>
            </a:endParaRPr>
          </a:p>
          <a:p>
            <a:r>
              <a:rPr lang="en-GB" dirty="0">
                <a:latin typeface="Courier New" panose="02070309020205020404" pitchFamily="49" charset="0"/>
                <a:ea typeface="Helvetica Neue" panose="02000503000000020004" pitchFamily="2" charset="0"/>
                <a:cs typeface="Courier New" panose="02070309020205020404" pitchFamily="49" charset="0"/>
              </a:rPr>
              <a:t>counter = 1 </a:t>
            </a:r>
          </a:p>
          <a:p>
            <a:r>
              <a:rPr lang="en-GB" dirty="0">
                <a:latin typeface="Courier New" panose="02070309020205020404" pitchFamily="49" charset="0"/>
                <a:ea typeface="Helvetica Neue" panose="02000503000000020004" pitchFamily="2" charset="0"/>
                <a:cs typeface="Courier New" panose="02070309020205020404" pitchFamily="49" charset="0"/>
              </a:rPr>
              <a:t>while counter &lt;= 10 : 		</a:t>
            </a:r>
            <a:r>
              <a:rPr lang="en-GB" b="1" dirty="0">
                <a:effectLst/>
                <a:latin typeface="Courier New" panose="02070309020205020404" pitchFamily="49" charset="0"/>
                <a:cs typeface="Courier New" panose="02070309020205020404" pitchFamily="49" charset="0"/>
              </a:rPr>
              <a:t># </a:t>
            </a:r>
            <a:r>
              <a:rPr lang="en-GB" b="1" dirty="0">
                <a:latin typeface="Courier New" panose="02070309020205020404" pitchFamily="49" charset="0"/>
                <a:cs typeface="Courier New" panose="02070309020205020404" pitchFamily="49" charset="0"/>
              </a:rPr>
              <a:t>A</a:t>
            </a:r>
            <a:r>
              <a:rPr lang="en-GB" b="1" dirty="0">
                <a:effectLst/>
                <a:latin typeface="Courier New" panose="02070309020205020404" pitchFamily="49" charset="0"/>
                <a:cs typeface="Courier New" panose="02070309020205020404" pitchFamily="49" charset="0"/>
              </a:rPr>
              <a:t>2 </a:t>
            </a:r>
            <a:r>
              <a:rPr lang="en-GB" sz="1800" b="1" dirty="0">
                <a:effectLst/>
                <a:latin typeface="CourierNewPS"/>
              </a:rPr>
              <a:t>Executes 10 passes </a:t>
            </a:r>
            <a:endParaRPr lang="en-GB" dirty="0">
              <a:latin typeface="Courier New" panose="02070309020205020404" pitchFamily="49" charset="0"/>
              <a:ea typeface="Helvetica Neue" panose="02000503000000020004" pitchFamily="2" charset="0"/>
              <a:cs typeface="Courier New" panose="02070309020205020404" pitchFamily="49" charset="0"/>
            </a:endParaRPr>
          </a:p>
          <a:p>
            <a:r>
              <a:rPr lang="en-GB" dirty="0">
                <a:latin typeface="Courier New" panose="02070309020205020404" pitchFamily="49" charset="0"/>
                <a:ea typeface="Helvetica Neue" panose="02000503000000020004" pitchFamily="2" charset="0"/>
                <a:cs typeface="Courier New" panose="02070309020205020404" pitchFamily="49" charset="0"/>
              </a:rPr>
              <a:t>	</a:t>
            </a:r>
            <a:r>
              <a:rPr lang="en-GB" dirty="0">
                <a:effectLst/>
                <a:latin typeface="Courier New" panose="02070309020205020404" pitchFamily="49" charset="0"/>
                <a:cs typeface="Courier New" panose="02070309020205020404" pitchFamily="49" charset="0"/>
              </a:rPr>
              <a:t>&lt;do something&gt; </a:t>
            </a:r>
            <a:r>
              <a:rPr lang="en-GB" dirty="0">
                <a:latin typeface="Courier New" panose="02070309020205020404" pitchFamily="49" charset="0"/>
                <a:ea typeface="Helvetica Neue" panose="02000503000000020004" pitchFamily="2" charset="0"/>
                <a:cs typeface="Courier New" panose="02070309020205020404" pitchFamily="49" charset="0"/>
              </a:rPr>
              <a:t>	</a:t>
            </a:r>
          </a:p>
          <a:p>
            <a:r>
              <a:rPr lang="en-GB" dirty="0">
                <a:latin typeface="Courier New" panose="02070309020205020404" pitchFamily="49" charset="0"/>
                <a:ea typeface="Helvetica Neue" panose="02000503000000020004" pitchFamily="2" charset="0"/>
                <a:cs typeface="Courier New" panose="02070309020205020404" pitchFamily="49" charset="0"/>
              </a:rPr>
              <a:t>	counter = counter + 1 </a:t>
            </a:r>
          </a:p>
          <a:p>
            <a:endParaRPr lang="en-GB" dirty="0">
              <a:latin typeface="Courier New" panose="02070309020205020404" pitchFamily="49" charset="0"/>
              <a:ea typeface="Helvetica Neue" panose="02000503000000020004" pitchFamily="2" charset="0"/>
              <a:cs typeface="Courier New" panose="02070309020205020404" pitchFamily="49" charset="0"/>
            </a:endParaRPr>
          </a:p>
          <a:p>
            <a:r>
              <a:rPr lang="en-GB" dirty="0">
                <a:latin typeface="Courier New" panose="02070309020205020404" pitchFamily="49" charset="0"/>
                <a:ea typeface="Helvetica Neue" panose="02000503000000020004" pitchFamily="2" charset="0"/>
                <a:cs typeface="Courier New" panose="02070309020205020404" pitchFamily="49" charset="0"/>
              </a:rPr>
              <a:t>counter = 1 </a:t>
            </a:r>
          </a:p>
          <a:p>
            <a:r>
              <a:rPr lang="en-GB" dirty="0">
                <a:latin typeface="Courier New" panose="02070309020205020404" pitchFamily="49" charset="0"/>
                <a:ea typeface="Helvetica Neue" panose="02000503000000020004" pitchFamily="2" charset="0"/>
                <a:cs typeface="Courier New" panose="02070309020205020404" pitchFamily="49" charset="0"/>
              </a:rPr>
              <a:t>while counter &lt; 10 : 		</a:t>
            </a:r>
            <a:r>
              <a:rPr lang="en-GB" b="1" dirty="0">
                <a:effectLst/>
                <a:latin typeface="Courier New" panose="02070309020205020404" pitchFamily="49" charset="0"/>
                <a:cs typeface="Courier New" panose="02070309020205020404" pitchFamily="49" charset="0"/>
              </a:rPr>
              <a:t># </a:t>
            </a:r>
            <a:r>
              <a:rPr lang="en-GB" b="1" dirty="0">
                <a:latin typeface="Courier New" panose="02070309020205020404" pitchFamily="49" charset="0"/>
                <a:cs typeface="Courier New" panose="02070309020205020404" pitchFamily="49" charset="0"/>
              </a:rPr>
              <a:t>A</a:t>
            </a:r>
            <a:r>
              <a:rPr lang="en-GB" b="1" dirty="0">
                <a:effectLst/>
                <a:latin typeface="Courier New" panose="02070309020205020404" pitchFamily="49" charset="0"/>
                <a:cs typeface="Courier New" panose="02070309020205020404" pitchFamily="49" charset="0"/>
              </a:rPr>
              <a:t>3 </a:t>
            </a:r>
            <a:r>
              <a:rPr lang="en-GB" sz="1800" b="1" dirty="0">
                <a:effectLst/>
                <a:latin typeface="CourierNewPS"/>
              </a:rPr>
              <a:t>Executes 9 passes</a:t>
            </a:r>
            <a:r>
              <a:rPr lang="en-GB" b="1" dirty="0">
                <a:effectLst/>
                <a:latin typeface="Courier New" panose="02070309020205020404" pitchFamily="49" charset="0"/>
                <a:cs typeface="Courier New" panose="02070309020205020404" pitchFamily="49" charset="0"/>
              </a:rPr>
              <a:t> </a:t>
            </a:r>
            <a:endParaRPr lang="en-GB" dirty="0">
              <a:latin typeface="Courier New" panose="02070309020205020404" pitchFamily="49" charset="0"/>
              <a:ea typeface="Helvetica Neue" panose="02000503000000020004" pitchFamily="2" charset="0"/>
              <a:cs typeface="Courier New" panose="02070309020205020404" pitchFamily="49" charset="0"/>
            </a:endParaRPr>
          </a:p>
          <a:p>
            <a:r>
              <a:rPr lang="en-GB" dirty="0">
                <a:latin typeface="Courier New" panose="02070309020205020404" pitchFamily="49" charset="0"/>
                <a:ea typeface="Helvetica Neue" panose="02000503000000020004" pitchFamily="2" charset="0"/>
                <a:cs typeface="Courier New" panose="02070309020205020404" pitchFamily="49" charset="0"/>
              </a:rPr>
              <a:t>	</a:t>
            </a:r>
            <a:r>
              <a:rPr lang="en-GB" dirty="0">
                <a:effectLst/>
                <a:latin typeface="Courier New" panose="02070309020205020404" pitchFamily="49" charset="0"/>
                <a:cs typeface="Courier New" panose="02070309020205020404" pitchFamily="49" charset="0"/>
              </a:rPr>
              <a:t>&lt;do something&gt; </a:t>
            </a:r>
            <a:endParaRPr lang="en-GB" dirty="0">
              <a:latin typeface="Courier New" panose="02070309020205020404" pitchFamily="49" charset="0"/>
              <a:ea typeface="Helvetica Neue" panose="02000503000000020004" pitchFamily="2" charset="0"/>
              <a:cs typeface="Courier New" panose="02070309020205020404" pitchFamily="49" charset="0"/>
            </a:endParaRPr>
          </a:p>
          <a:p>
            <a:r>
              <a:rPr lang="en-GB" dirty="0">
                <a:latin typeface="Courier New" panose="02070309020205020404" pitchFamily="49" charset="0"/>
                <a:ea typeface="Helvetica Neue" panose="02000503000000020004" pitchFamily="2" charset="0"/>
                <a:cs typeface="Courier New" panose="02070309020205020404" pitchFamily="49" charset="0"/>
              </a:rPr>
              <a:t>	counter = counter + 1</a:t>
            </a:r>
          </a:p>
          <a:p>
            <a:pPr marL="342900" indent="-342900">
              <a:buFont typeface="Arial" panose="020B0604020202020204" pitchFamily="34" charset="0"/>
              <a:buChar char="•"/>
            </a:pPr>
            <a:endParaRPr lang="en-GB" sz="2400" dirty="0">
              <a:effectLst/>
              <a:latin typeface="Courier New" panose="02070309020205020404" pitchFamily="49" charset="0"/>
              <a:ea typeface="Helvetica Neue" panose="02000503000000020004" pitchFamily="2" charset="0"/>
              <a:cs typeface="Courier New" panose="02070309020205020404" pitchFamily="49" charset="0"/>
            </a:endParaRPr>
          </a:p>
          <a:p>
            <a:r>
              <a:rPr lang="en-GB" dirty="0">
                <a:effectLst/>
                <a:latin typeface="Courier New" panose="02070309020205020404" pitchFamily="49" charset="0"/>
                <a:cs typeface="Courier New" panose="02070309020205020404" pitchFamily="49" charset="0"/>
              </a:rPr>
              <a:t>counter = 0 </a:t>
            </a:r>
          </a:p>
          <a:p>
            <a:r>
              <a:rPr lang="en-GB" dirty="0">
                <a:effectLst/>
                <a:latin typeface="Courier New" panose="02070309020205020404" pitchFamily="49" charset="0"/>
                <a:cs typeface="Courier New" panose="02070309020205020404" pitchFamily="49" charset="0"/>
              </a:rPr>
              <a:t>while counter &lt;= 10 : # 		</a:t>
            </a:r>
            <a:r>
              <a:rPr lang="en-GB" b="1" dirty="0">
                <a:effectLst/>
                <a:latin typeface="Courier New" panose="02070309020205020404" pitchFamily="49" charset="0"/>
                <a:cs typeface="Courier New" panose="02070309020205020404" pitchFamily="49" charset="0"/>
              </a:rPr>
              <a:t># </a:t>
            </a:r>
            <a:r>
              <a:rPr lang="en-GB" b="1" dirty="0">
                <a:latin typeface="Courier New" panose="02070309020205020404" pitchFamily="49" charset="0"/>
                <a:cs typeface="Courier New" panose="02070309020205020404" pitchFamily="49" charset="0"/>
              </a:rPr>
              <a:t>A</a:t>
            </a:r>
            <a:r>
              <a:rPr lang="en-GB" b="1" dirty="0">
                <a:effectLst/>
                <a:latin typeface="Courier New" panose="02070309020205020404" pitchFamily="49" charset="0"/>
                <a:cs typeface="Courier New" panose="02070309020205020404" pitchFamily="49" charset="0"/>
              </a:rPr>
              <a:t>1 </a:t>
            </a:r>
            <a:r>
              <a:rPr lang="en-GB" sz="1800" b="1" dirty="0">
                <a:effectLst/>
                <a:latin typeface="CourierNewPS"/>
              </a:rPr>
              <a:t>Executes 11 passes </a:t>
            </a:r>
            <a:r>
              <a:rPr lang="en-GB" dirty="0">
                <a:effectLst/>
                <a:latin typeface="Courier New" panose="02070309020205020404" pitchFamily="49" charset="0"/>
                <a:cs typeface="Courier New" panose="02070309020205020404" pitchFamily="49" charset="0"/>
              </a:rPr>
              <a:t>	</a:t>
            </a:r>
          </a:p>
          <a:p>
            <a:r>
              <a:rPr lang="en-GB" dirty="0">
                <a:latin typeface="Courier New" panose="02070309020205020404" pitchFamily="49" charset="0"/>
                <a:cs typeface="Courier New" panose="02070309020205020404" pitchFamily="49" charset="0"/>
              </a:rPr>
              <a:t>	</a:t>
            </a:r>
            <a:r>
              <a:rPr lang="en-GB" dirty="0">
                <a:effectLst/>
                <a:latin typeface="Courier New" panose="02070309020205020404" pitchFamily="49" charset="0"/>
                <a:cs typeface="Courier New" panose="02070309020205020404" pitchFamily="49" charset="0"/>
              </a:rPr>
              <a:t>&lt;do something&gt; </a:t>
            </a:r>
          </a:p>
          <a:p>
            <a:r>
              <a:rPr lang="en-GB" dirty="0">
                <a:effectLst/>
                <a:latin typeface="Courier New" panose="02070309020205020404" pitchFamily="49" charset="0"/>
                <a:cs typeface="Courier New" panose="02070309020205020404" pitchFamily="49" charset="0"/>
              </a:rPr>
              <a:t>	counter = counter + 1 </a:t>
            </a:r>
          </a:p>
          <a:p>
            <a:endParaRPr lang="en-GB" sz="2400" dirty="0">
              <a:effectLst/>
              <a:latin typeface="Courier New" panose="02070309020205020404" pitchFamily="49" charset="0"/>
              <a:ea typeface="Helvetica Neue" panose="02000503000000020004" pitchFamily="2" charset="0"/>
              <a:cs typeface="Courier New" panose="02070309020205020404" pitchFamily="49" charset="0"/>
            </a:endParaRPr>
          </a:p>
        </p:txBody>
      </p:sp>
    </p:spTree>
    <p:extLst>
      <p:ext uri="{BB962C8B-B14F-4D97-AF65-F5344CB8AC3E}">
        <p14:creationId xmlns:p14="http://schemas.microsoft.com/office/powerpoint/2010/main" val="15260398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CE3F3E2-EF0C-DD60-7C29-2D13C930E4B5}"/>
              </a:ext>
            </a:extLst>
          </p:cNvPr>
          <p:cNvSpPr/>
          <p:nvPr/>
        </p:nvSpPr>
        <p:spPr>
          <a:xfrm>
            <a:off x="0" y="4099389"/>
            <a:ext cx="375920" cy="2270931"/>
          </a:xfrm>
          <a:prstGeom prst="rect">
            <a:avLst/>
          </a:prstGeom>
          <a:solidFill>
            <a:srgbClr val="FF9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9519C99-AA9F-E95C-13AB-EA3546581D88}"/>
              </a:ext>
            </a:extLst>
          </p:cNvPr>
          <p:cNvSpPr txBox="1"/>
          <p:nvPr/>
        </p:nvSpPr>
        <p:spPr>
          <a:xfrm rot="16200000">
            <a:off x="-930350" y="5043232"/>
            <a:ext cx="2246881" cy="276999"/>
          </a:xfrm>
          <a:prstGeom prst="rect">
            <a:avLst/>
          </a:prstGeom>
          <a:noFill/>
        </p:spPr>
        <p:txBody>
          <a:bodyPr wrap="square" rtlCol="0">
            <a:spAutoFit/>
          </a:bodyPr>
          <a:lstStyle/>
          <a:p>
            <a:r>
              <a:rPr lang="en-US" sz="1200" b="1" dirty="0">
                <a:solidFill>
                  <a:schemeClr val="bg1"/>
                </a:solidFill>
                <a:latin typeface="Aptos ExtraBold" panose="020B0004020202020204" pitchFamily="34" charset="0"/>
              </a:rPr>
              <a:t>Software Development 1</a:t>
            </a:r>
          </a:p>
        </p:txBody>
      </p:sp>
      <p:sp>
        <p:nvSpPr>
          <p:cNvPr id="8" name="Content Placeholder 2">
            <a:extLst>
              <a:ext uri="{FF2B5EF4-FFF2-40B4-BE49-F238E27FC236}">
                <a16:creationId xmlns:a16="http://schemas.microsoft.com/office/drawing/2014/main" id="{3556E629-A092-313A-245F-87CCA20EFE1C}"/>
              </a:ext>
            </a:extLst>
          </p:cNvPr>
          <p:cNvSpPr txBox="1">
            <a:spLocks/>
          </p:cNvSpPr>
          <p:nvPr/>
        </p:nvSpPr>
        <p:spPr>
          <a:xfrm>
            <a:off x="1681480" y="2089574"/>
            <a:ext cx="7223760" cy="402336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 name="Title 1">
            <a:extLst>
              <a:ext uri="{FF2B5EF4-FFF2-40B4-BE49-F238E27FC236}">
                <a16:creationId xmlns:a16="http://schemas.microsoft.com/office/drawing/2014/main" id="{5E4381F4-C384-7795-00CC-E8F968D916B6}"/>
              </a:ext>
            </a:extLst>
          </p:cNvPr>
          <p:cNvSpPr txBox="1">
            <a:spLocks/>
          </p:cNvSpPr>
          <p:nvPr/>
        </p:nvSpPr>
        <p:spPr>
          <a:xfrm>
            <a:off x="838199" y="583179"/>
            <a:ext cx="9672264" cy="51410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dirty="0">
                <a:latin typeface="Helvetica Neue" panose="02000503000000020004" pitchFamily="2" charset="0"/>
                <a:ea typeface="Helvetica Neue" panose="02000503000000020004" pitchFamily="2" charset="0"/>
                <a:cs typeface="Helvetica Neue" panose="02000503000000020004" pitchFamily="2" charset="0"/>
              </a:rPr>
              <a:t>while Loop Summary</a:t>
            </a:r>
            <a:endParaRPr lang="en-GB" sz="2800" b="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TextBox 3">
            <a:extLst>
              <a:ext uri="{FF2B5EF4-FFF2-40B4-BE49-F238E27FC236}">
                <a16:creationId xmlns:a16="http://schemas.microsoft.com/office/drawing/2014/main" id="{148177C3-6D53-92B4-4D44-A219A0546A0D}"/>
              </a:ext>
            </a:extLst>
          </p:cNvPr>
          <p:cNvSpPr txBox="1"/>
          <p:nvPr/>
        </p:nvSpPr>
        <p:spPr>
          <a:xfrm>
            <a:off x="833119" y="1428464"/>
            <a:ext cx="10682606" cy="3239964"/>
          </a:xfrm>
          <a:prstGeom prst="rect">
            <a:avLst/>
          </a:prstGeom>
          <a:noFill/>
        </p:spPr>
        <p:txBody>
          <a:bodyPr wrap="square">
            <a:spAutoFit/>
          </a:bodyPr>
          <a:lstStyle/>
          <a:p>
            <a:pPr marL="342900" indent="-342900">
              <a:buFont typeface="Arial" panose="020B0604020202020204" pitchFamily="34" charset="0"/>
              <a:buChar char="•"/>
            </a:pP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Initialize variables before you test </a:t>
            </a:r>
          </a:p>
          <a:p>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	- The condition is tested BEFORE the loop body </a:t>
            </a:r>
          </a:p>
          <a:p>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	- Something inside the loop should change a variable used in the test</a:t>
            </a:r>
          </a:p>
          <a:p>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 </a:t>
            </a:r>
          </a:p>
          <a:p>
            <a:pPr marL="457200" indent="-457200">
              <a:buFont typeface="Arial" panose="020B0604020202020204" pitchFamily="34" charset="0"/>
              <a:buChar char="•"/>
            </a:pP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Watch out for common errors:</a:t>
            </a:r>
            <a:br>
              <a:rPr lang="en-GB" sz="2400" dirty="0">
                <a:effectLst/>
                <a:latin typeface="Helvetica Neue" panose="02000503000000020004" pitchFamily="2" charset="0"/>
                <a:ea typeface="Helvetica Neue" panose="02000503000000020004" pitchFamily="2" charset="0"/>
                <a:cs typeface="Helvetica Neue" panose="02000503000000020004" pitchFamily="2" charset="0"/>
              </a:rPr>
            </a:b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	- Infinite loops, </a:t>
            </a:r>
          </a:p>
          <a:p>
            <a:r>
              <a:rPr lang="en-GB" sz="2400" dirty="0">
                <a:latin typeface="Helvetica Neue" panose="02000503000000020004" pitchFamily="2" charset="0"/>
                <a:ea typeface="Helvetica Neue" panose="02000503000000020004" pitchFamily="2" charset="0"/>
                <a:cs typeface="Helvetica Neue" panose="02000503000000020004" pitchFamily="2" charset="0"/>
              </a:rPr>
              <a:t> 	- </a:t>
            </a: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Off-by-One Errors, </a:t>
            </a:r>
          </a:p>
        </p:txBody>
      </p:sp>
    </p:spTree>
    <p:extLst>
      <p:ext uri="{BB962C8B-B14F-4D97-AF65-F5344CB8AC3E}">
        <p14:creationId xmlns:p14="http://schemas.microsoft.com/office/powerpoint/2010/main" val="40916895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CE3F3E2-EF0C-DD60-7C29-2D13C930E4B5}"/>
              </a:ext>
            </a:extLst>
          </p:cNvPr>
          <p:cNvSpPr/>
          <p:nvPr/>
        </p:nvSpPr>
        <p:spPr>
          <a:xfrm>
            <a:off x="0" y="4099389"/>
            <a:ext cx="375920" cy="2270931"/>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9519C99-AA9F-E95C-13AB-EA3546581D88}"/>
              </a:ext>
            </a:extLst>
          </p:cNvPr>
          <p:cNvSpPr txBox="1"/>
          <p:nvPr/>
        </p:nvSpPr>
        <p:spPr>
          <a:xfrm rot="16200000">
            <a:off x="-930350" y="5043232"/>
            <a:ext cx="2246881" cy="276999"/>
          </a:xfrm>
          <a:prstGeom prst="rect">
            <a:avLst/>
          </a:prstGeom>
          <a:noFill/>
        </p:spPr>
        <p:txBody>
          <a:bodyPr wrap="square" rtlCol="0">
            <a:spAutoFit/>
          </a:bodyPr>
          <a:lstStyle/>
          <a:p>
            <a:r>
              <a:rPr lang="en-US" sz="1200" b="1" dirty="0">
                <a:solidFill>
                  <a:schemeClr val="bg1"/>
                </a:solidFill>
                <a:latin typeface="Aptos ExtraBold" panose="020B0004020202020204" pitchFamily="34" charset="0"/>
              </a:rPr>
              <a:t>Software Development 1</a:t>
            </a:r>
          </a:p>
        </p:txBody>
      </p:sp>
      <p:sp>
        <p:nvSpPr>
          <p:cNvPr id="8" name="Content Placeholder 2">
            <a:extLst>
              <a:ext uri="{FF2B5EF4-FFF2-40B4-BE49-F238E27FC236}">
                <a16:creationId xmlns:a16="http://schemas.microsoft.com/office/drawing/2014/main" id="{3556E629-A092-313A-245F-87CCA20EFE1C}"/>
              </a:ext>
            </a:extLst>
          </p:cNvPr>
          <p:cNvSpPr txBox="1">
            <a:spLocks/>
          </p:cNvSpPr>
          <p:nvPr/>
        </p:nvSpPr>
        <p:spPr>
          <a:xfrm>
            <a:off x="1681480" y="2089574"/>
            <a:ext cx="7223760" cy="402336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 name="Title 1">
            <a:extLst>
              <a:ext uri="{FF2B5EF4-FFF2-40B4-BE49-F238E27FC236}">
                <a16:creationId xmlns:a16="http://schemas.microsoft.com/office/drawing/2014/main" id="{5E4381F4-C384-7795-00CC-E8F968D916B6}"/>
              </a:ext>
            </a:extLst>
          </p:cNvPr>
          <p:cNvSpPr txBox="1">
            <a:spLocks/>
          </p:cNvSpPr>
          <p:nvPr/>
        </p:nvSpPr>
        <p:spPr>
          <a:xfrm>
            <a:off x="838199" y="583179"/>
            <a:ext cx="9672264" cy="51410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dirty="0">
                <a:latin typeface="Helvetica Neue" panose="02000503000000020004" pitchFamily="2" charset="0"/>
                <a:ea typeface="Helvetica Neue" panose="02000503000000020004" pitchFamily="2" charset="0"/>
                <a:cs typeface="Helvetica Neue" panose="02000503000000020004" pitchFamily="2" charset="0"/>
              </a:rPr>
              <a:t>Loops – ‘while’ Loops versus ‘for’ Loops</a:t>
            </a:r>
            <a:endParaRPr lang="en-GB" sz="2800" b="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TextBox 3">
            <a:extLst>
              <a:ext uri="{FF2B5EF4-FFF2-40B4-BE49-F238E27FC236}">
                <a16:creationId xmlns:a16="http://schemas.microsoft.com/office/drawing/2014/main" id="{148177C3-6D53-92B4-4D44-A219A0546A0D}"/>
              </a:ext>
            </a:extLst>
          </p:cNvPr>
          <p:cNvSpPr txBox="1"/>
          <p:nvPr/>
        </p:nvSpPr>
        <p:spPr>
          <a:xfrm>
            <a:off x="883285" y="1490008"/>
            <a:ext cx="10682606" cy="4154984"/>
          </a:xfrm>
          <a:prstGeom prst="rect">
            <a:avLst/>
          </a:prstGeom>
          <a:noFill/>
        </p:spPr>
        <p:txBody>
          <a:bodyPr wrap="square">
            <a:spAutoFit/>
          </a:bodyPr>
          <a:lstStyle/>
          <a:p>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Which is the best solution?</a:t>
            </a:r>
          </a:p>
          <a:p>
            <a:r>
              <a:rPr lang="en-GB" sz="2400" dirty="0">
                <a:effectLst/>
                <a:latin typeface="Courier New" panose="02070309020205020404" pitchFamily="49" charset="0"/>
                <a:cs typeface="Courier New" panose="02070309020205020404" pitchFamily="49" charset="0"/>
              </a:rPr>
              <a:t> </a:t>
            </a:r>
          </a:p>
          <a:p>
            <a:r>
              <a:rPr lang="en-GB" sz="2400" dirty="0" err="1">
                <a:effectLst/>
                <a:latin typeface="Courier New" panose="02070309020205020404" pitchFamily="49" charset="0"/>
                <a:cs typeface="Courier New" panose="02070309020205020404" pitchFamily="49" charset="0"/>
              </a:rPr>
              <a:t>i</a:t>
            </a:r>
            <a:r>
              <a:rPr lang="en-GB" sz="2400" dirty="0">
                <a:effectLst/>
                <a:latin typeface="Courier New" panose="02070309020205020404" pitchFamily="49" charset="0"/>
                <a:cs typeface="Courier New" panose="02070309020205020404" pitchFamily="49" charset="0"/>
              </a:rPr>
              <a:t>=1 </a:t>
            </a:r>
          </a:p>
          <a:p>
            <a:r>
              <a:rPr lang="en-GB" sz="2400" dirty="0">
                <a:effectLst/>
                <a:latin typeface="Courier New" panose="02070309020205020404" pitchFamily="49" charset="0"/>
                <a:cs typeface="Courier New" panose="02070309020205020404" pitchFamily="49" charset="0"/>
              </a:rPr>
              <a:t>while </a:t>
            </a:r>
            <a:r>
              <a:rPr lang="en-GB" sz="2400" dirty="0" err="1">
                <a:effectLst/>
                <a:latin typeface="Courier New" panose="02070309020205020404" pitchFamily="49" charset="0"/>
                <a:cs typeface="Courier New" panose="02070309020205020404" pitchFamily="49" charset="0"/>
              </a:rPr>
              <a:t>i</a:t>
            </a:r>
            <a:r>
              <a:rPr lang="en-GB" sz="2400" dirty="0">
                <a:effectLst/>
                <a:latin typeface="Courier New" panose="02070309020205020404" pitchFamily="49" charset="0"/>
                <a:cs typeface="Courier New" panose="02070309020205020404" pitchFamily="49" charset="0"/>
              </a:rPr>
              <a:t> &lt; 10 : </a:t>
            </a:r>
          </a:p>
          <a:p>
            <a:r>
              <a:rPr lang="en-GB" sz="2400" dirty="0">
                <a:latin typeface="Courier New" panose="02070309020205020404" pitchFamily="49" charset="0"/>
                <a:cs typeface="Courier New" panose="02070309020205020404" pitchFamily="49" charset="0"/>
              </a:rPr>
              <a:t>	</a:t>
            </a:r>
            <a:r>
              <a:rPr lang="en-GB" sz="2400" dirty="0">
                <a:effectLst/>
                <a:latin typeface="Courier New" panose="02070309020205020404" pitchFamily="49" charset="0"/>
                <a:cs typeface="Courier New" panose="02070309020205020404" pitchFamily="49" charset="0"/>
              </a:rPr>
              <a:t>print(</a:t>
            </a:r>
            <a:r>
              <a:rPr lang="en-GB" sz="2400" dirty="0" err="1">
                <a:effectLst/>
                <a:latin typeface="Courier New" panose="02070309020205020404" pitchFamily="49" charset="0"/>
                <a:cs typeface="Courier New" panose="02070309020205020404" pitchFamily="49" charset="0"/>
              </a:rPr>
              <a:t>i</a:t>
            </a:r>
            <a:r>
              <a:rPr lang="en-GB" sz="2400" dirty="0">
                <a:effectLst/>
                <a:latin typeface="Courier New" panose="02070309020205020404" pitchFamily="49" charset="0"/>
                <a:cs typeface="Courier New" panose="02070309020205020404" pitchFamily="49" charset="0"/>
              </a:rPr>
              <a:t>) </a:t>
            </a:r>
            <a:r>
              <a:rPr lang="en-GB" sz="2400" dirty="0" err="1">
                <a:effectLst/>
                <a:latin typeface="Courier New" panose="02070309020205020404" pitchFamily="49" charset="0"/>
                <a:cs typeface="Courier New" panose="02070309020205020404" pitchFamily="49" charset="0"/>
              </a:rPr>
              <a:t>i</a:t>
            </a:r>
            <a:r>
              <a:rPr lang="en-GB" sz="2400" dirty="0">
                <a:effectLst/>
                <a:latin typeface="Courier New" panose="02070309020205020404" pitchFamily="49" charset="0"/>
                <a:cs typeface="Courier New" panose="02070309020205020404" pitchFamily="49" charset="0"/>
              </a:rPr>
              <a:t>=i+1 </a:t>
            </a:r>
          </a:p>
          <a:p>
            <a:endParaRPr lang="en-GB" sz="2400" dirty="0">
              <a:latin typeface="Courier New" panose="02070309020205020404" pitchFamily="49" charset="0"/>
              <a:cs typeface="Courier New" panose="02070309020205020404" pitchFamily="49" charset="0"/>
            </a:endParaRPr>
          </a:p>
          <a:p>
            <a:r>
              <a:rPr lang="en-GB" sz="2400" b="1" dirty="0">
                <a:effectLst/>
                <a:latin typeface="Helvetica Neue" panose="02000503000000020004" pitchFamily="2" charset="0"/>
                <a:ea typeface="Helvetica Neue" panose="02000503000000020004" pitchFamily="2" charset="0"/>
                <a:cs typeface="Helvetica Neue" panose="02000503000000020004" pitchFamily="2" charset="0"/>
              </a:rPr>
              <a:t>Or…</a:t>
            </a:r>
          </a:p>
          <a:p>
            <a:endParaRPr lang="en-GB" sz="2400" dirty="0">
              <a:latin typeface="Courier New" panose="02070309020205020404" pitchFamily="49" charset="0"/>
              <a:cs typeface="Courier New" panose="02070309020205020404" pitchFamily="49" charset="0"/>
            </a:endParaRPr>
          </a:p>
          <a:p>
            <a:r>
              <a:rPr lang="en-GB" sz="2400" dirty="0">
                <a:effectLst/>
                <a:latin typeface="Courier New" panose="02070309020205020404" pitchFamily="49" charset="0"/>
                <a:cs typeface="Courier New" panose="02070309020205020404" pitchFamily="49" charset="0"/>
              </a:rPr>
              <a:t>for </a:t>
            </a:r>
            <a:r>
              <a:rPr lang="en-GB" sz="2400" dirty="0" err="1">
                <a:effectLst/>
                <a:latin typeface="Courier New" panose="02070309020205020404" pitchFamily="49" charset="0"/>
                <a:cs typeface="Courier New" panose="02070309020205020404" pitchFamily="49" charset="0"/>
              </a:rPr>
              <a:t>i</a:t>
            </a:r>
            <a:r>
              <a:rPr lang="en-GB" sz="2400" dirty="0">
                <a:effectLst/>
                <a:latin typeface="Courier New" panose="02070309020205020404" pitchFamily="49" charset="0"/>
                <a:cs typeface="Courier New" panose="02070309020205020404" pitchFamily="49" charset="0"/>
              </a:rPr>
              <a:t> in range(1, 10) : </a:t>
            </a:r>
          </a:p>
          <a:p>
            <a:r>
              <a:rPr lang="en-GB" sz="2400" dirty="0">
                <a:latin typeface="Courier New" panose="02070309020205020404" pitchFamily="49" charset="0"/>
                <a:cs typeface="Courier New" panose="02070309020205020404" pitchFamily="49" charset="0"/>
              </a:rPr>
              <a:t>	</a:t>
            </a:r>
            <a:r>
              <a:rPr lang="en-GB" sz="2400" dirty="0">
                <a:effectLst/>
                <a:latin typeface="Courier New" panose="02070309020205020404" pitchFamily="49" charset="0"/>
                <a:cs typeface="Courier New" panose="02070309020205020404" pitchFamily="49" charset="0"/>
              </a:rPr>
              <a:t>print(</a:t>
            </a:r>
            <a:r>
              <a:rPr lang="en-GB" sz="2400" dirty="0" err="1">
                <a:effectLst/>
                <a:latin typeface="Courier New" panose="02070309020205020404" pitchFamily="49" charset="0"/>
                <a:cs typeface="Courier New" panose="02070309020205020404" pitchFamily="49" charset="0"/>
              </a:rPr>
              <a:t>i</a:t>
            </a:r>
            <a:r>
              <a:rPr lang="en-GB" sz="2400" dirty="0">
                <a:effectLst/>
                <a:latin typeface="Courier New" panose="02070309020205020404" pitchFamily="49" charset="0"/>
                <a:cs typeface="Courier New" panose="02070309020205020404" pitchFamily="49" charset="0"/>
              </a:rPr>
              <a:t>) </a:t>
            </a:r>
          </a:p>
          <a:p>
            <a:endParaRPr lang="en-GB" sz="2400" dirty="0">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3014182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CE3F3E2-EF0C-DD60-7C29-2D13C930E4B5}"/>
              </a:ext>
            </a:extLst>
          </p:cNvPr>
          <p:cNvSpPr/>
          <p:nvPr/>
        </p:nvSpPr>
        <p:spPr>
          <a:xfrm>
            <a:off x="0" y="4099389"/>
            <a:ext cx="375920" cy="2270931"/>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9519C99-AA9F-E95C-13AB-EA3546581D88}"/>
              </a:ext>
            </a:extLst>
          </p:cNvPr>
          <p:cNvSpPr txBox="1"/>
          <p:nvPr/>
        </p:nvSpPr>
        <p:spPr>
          <a:xfrm rot="16200000">
            <a:off x="-930350" y="5043232"/>
            <a:ext cx="2246881" cy="276999"/>
          </a:xfrm>
          <a:prstGeom prst="rect">
            <a:avLst/>
          </a:prstGeom>
          <a:noFill/>
        </p:spPr>
        <p:txBody>
          <a:bodyPr wrap="square" rtlCol="0">
            <a:spAutoFit/>
          </a:bodyPr>
          <a:lstStyle/>
          <a:p>
            <a:r>
              <a:rPr lang="en-US" sz="1200" b="1" dirty="0">
                <a:solidFill>
                  <a:schemeClr val="bg1"/>
                </a:solidFill>
                <a:latin typeface="Aptos ExtraBold" panose="020B0004020202020204" pitchFamily="34" charset="0"/>
              </a:rPr>
              <a:t>Software Development 1</a:t>
            </a:r>
          </a:p>
        </p:txBody>
      </p:sp>
      <p:sp>
        <p:nvSpPr>
          <p:cNvPr id="8" name="Content Placeholder 2">
            <a:extLst>
              <a:ext uri="{FF2B5EF4-FFF2-40B4-BE49-F238E27FC236}">
                <a16:creationId xmlns:a16="http://schemas.microsoft.com/office/drawing/2014/main" id="{3556E629-A092-313A-245F-87CCA20EFE1C}"/>
              </a:ext>
            </a:extLst>
          </p:cNvPr>
          <p:cNvSpPr txBox="1">
            <a:spLocks/>
          </p:cNvSpPr>
          <p:nvPr/>
        </p:nvSpPr>
        <p:spPr>
          <a:xfrm>
            <a:off x="1681480" y="2089574"/>
            <a:ext cx="7223760" cy="402336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 name="Title 1">
            <a:extLst>
              <a:ext uri="{FF2B5EF4-FFF2-40B4-BE49-F238E27FC236}">
                <a16:creationId xmlns:a16="http://schemas.microsoft.com/office/drawing/2014/main" id="{5E4381F4-C384-7795-00CC-E8F968D916B6}"/>
              </a:ext>
            </a:extLst>
          </p:cNvPr>
          <p:cNvSpPr txBox="1">
            <a:spLocks/>
          </p:cNvSpPr>
          <p:nvPr/>
        </p:nvSpPr>
        <p:spPr>
          <a:xfrm>
            <a:off x="838199" y="583179"/>
            <a:ext cx="9672264" cy="51410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dirty="0">
                <a:latin typeface="Helvetica Neue" panose="02000503000000020004" pitchFamily="2" charset="0"/>
                <a:ea typeface="Helvetica Neue" panose="02000503000000020004" pitchFamily="2" charset="0"/>
                <a:cs typeface="Helvetica Neue" panose="02000503000000020004" pitchFamily="2" charset="0"/>
              </a:rPr>
              <a:t>Loops – ‘while’ Loops or ‘for’ Loops - </a:t>
            </a:r>
            <a:r>
              <a:rPr lang="en-US" sz="2800" b="1" dirty="0">
                <a:solidFill>
                  <a:srgbClr val="00B0F0"/>
                </a:solidFill>
                <a:latin typeface="Helvetica Neue" panose="02000503000000020004" pitchFamily="2" charset="0"/>
                <a:ea typeface="Helvetica Neue" panose="02000503000000020004" pitchFamily="2" charset="0"/>
                <a:cs typeface="Helvetica Neue" panose="02000503000000020004" pitchFamily="2" charset="0"/>
              </a:rPr>
              <a:t>Answer</a:t>
            </a:r>
            <a:endParaRPr lang="en-GB" sz="2800" b="1" dirty="0">
              <a:solidFill>
                <a:srgbClr val="00B0F0"/>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TextBox 3">
            <a:extLst>
              <a:ext uri="{FF2B5EF4-FFF2-40B4-BE49-F238E27FC236}">
                <a16:creationId xmlns:a16="http://schemas.microsoft.com/office/drawing/2014/main" id="{148177C3-6D53-92B4-4D44-A219A0546A0D}"/>
              </a:ext>
            </a:extLst>
          </p:cNvPr>
          <p:cNvSpPr txBox="1"/>
          <p:nvPr/>
        </p:nvSpPr>
        <p:spPr>
          <a:xfrm>
            <a:off x="883285" y="1490008"/>
            <a:ext cx="10682606" cy="3785652"/>
          </a:xfrm>
          <a:prstGeom prst="rect">
            <a:avLst/>
          </a:prstGeom>
          <a:noFill/>
        </p:spPr>
        <p:txBody>
          <a:bodyPr wrap="square">
            <a:spAutoFit/>
          </a:bodyPr>
          <a:lstStyle/>
          <a:p>
            <a:pPr marL="342900" indent="-342900">
              <a:buFont typeface="Arial" panose="020B0604020202020204" pitchFamily="34" charset="0"/>
              <a:buChar char="•"/>
            </a:pP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Both produce the same result. </a:t>
            </a:r>
          </a:p>
          <a:p>
            <a:pPr marL="342900" indent="-342900">
              <a:buFont typeface="Arial" panose="020B0604020202020204" pitchFamily="34" charset="0"/>
              <a:buChar char="•"/>
            </a:pPr>
            <a:endParaRPr lang="en-GB" sz="2400" dirty="0">
              <a:effectLst/>
              <a:latin typeface="Helvetica Neue" panose="02000503000000020004" pitchFamily="2" charset="0"/>
              <a:ea typeface="Helvetica Neue" panose="02000503000000020004" pitchFamily="2" charset="0"/>
              <a:cs typeface="Helvetica Neue" panose="02000503000000020004" pitchFamily="2" charset="0"/>
            </a:endParaRPr>
          </a:p>
          <a:p>
            <a:pPr marL="342900" indent="-342900">
              <a:buFont typeface="Arial" panose="020B0604020202020204" pitchFamily="34" charset="0"/>
              <a:buChar char="•"/>
            </a:pP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The </a:t>
            </a:r>
            <a:r>
              <a:rPr lang="en-GB" sz="2400" b="1" dirty="0">
                <a:effectLst/>
                <a:latin typeface="Helvetica Neue" panose="02000503000000020004" pitchFamily="2" charset="0"/>
                <a:ea typeface="Helvetica Neue" panose="02000503000000020004" pitchFamily="2" charset="0"/>
                <a:cs typeface="Helvetica Neue" panose="02000503000000020004" pitchFamily="2" charset="0"/>
              </a:rPr>
              <a:t>while loop </a:t>
            </a: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has a condition and it runs until the condition is false (condition controlled). </a:t>
            </a:r>
          </a:p>
          <a:p>
            <a:pPr marL="342900" indent="-342900">
              <a:buFont typeface="Arial" panose="020B0604020202020204" pitchFamily="34" charset="0"/>
              <a:buChar char="•"/>
            </a:pPr>
            <a:endParaRPr lang="en-GB" sz="2400" dirty="0">
              <a:effectLst/>
              <a:latin typeface="Helvetica Neue" panose="02000503000000020004" pitchFamily="2" charset="0"/>
              <a:ea typeface="Helvetica Neue" panose="02000503000000020004" pitchFamily="2" charset="0"/>
              <a:cs typeface="Helvetica Neue" panose="02000503000000020004" pitchFamily="2" charset="0"/>
            </a:endParaRPr>
          </a:p>
          <a:p>
            <a:pPr marL="342900" indent="-342900">
              <a:buFont typeface="Arial" panose="020B0604020202020204" pitchFamily="34" charset="0"/>
              <a:buChar char="•"/>
            </a:pP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Use the </a:t>
            </a:r>
            <a:r>
              <a:rPr lang="en-GB" sz="2400" b="1" dirty="0">
                <a:effectLst/>
                <a:latin typeface="Helvetica Neue" panose="02000503000000020004" pitchFamily="2" charset="0"/>
                <a:ea typeface="Helvetica Neue" panose="02000503000000020004" pitchFamily="2" charset="0"/>
                <a:cs typeface="Helvetica Neue" panose="02000503000000020004" pitchFamily="2" charset="0"/>
              </a:rPr>
              <a:t>for loop </a:t>
            </a: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(count controlled) when you know how many items the loop should execute. </a:t>
            </a:r>
          </a:p>
          <a:p>
            <a:endParaRPr lang="en-GB" sz="2400" dirty="0">
              <a:effectLst/>
              <a:latin typeface="Helvetica Neue" panose="02000503000000020004" pitchFamily="2" charset="0"/>
              <a:ea typeface="Helvetica Neue" panose="02000503000000020004" pitchFamily="2" charset="0"/>
              <a:cs typeface="Helvetica Neue" panose="02000503000000020004" pitchFamily="2" charset="0"/>
            </a:endParaRPr>
          </a:p>
          <a:p>
            <a:r>
              <a:rPr lang="en-GB" sz="2400" dirty="0">
                <a:effectLst/>
                <a:latin typeface="Courier New" panose="02070309020205020404" pitchFamily="49" charset="0"/>
                <a:ea typeface="Helvetica Neue" panose="02000503000000020004" pitchFamily="2" charset="0"/>
                <a:cs typeface="Courier New" panose="02070309020205020404" pitchFamily="49" charset="0"/>
              </a:rPr>
              <a:t>for </a:t>
            </a:r>
            <a:r>
              <a:rPr lang="en-GB" sz="2400" dirty="0" err="1">
                <a:effectLst/>
                <a:latin typeface="Courier New" panose="02070309020205020404" pitchFamily="49" charset="0"/>
                <a:ea typeface="Helvetica Neue" panose="02000503000000020004" pitchFamily="2" charset="0"/>
                <a:cs typeface="Courier New" panose="02070309020205020404" pitchFamily="49" charset="0"/>
              </a:rPr>
              <a:t>i</a:t>
            </a:r>
            <a:r>
              <a:rPr lang="en-GB" sz="2400" dirty="0">
                <a:effectLst/>
                <a:latin typeface="Courier New" panose="02070309020205020404" pitchFamily="49" charset="0"/>
                <a:ea typeface="Helvetica Neue" panose="02000503000000020004" pitchFamily="2" charset="0"/>
                <a:cs typeface="Courier New" panose="02070309020205020404" pitchFamily="49" charset="0"/>
              </a:rPr>
              <a:t> in range(1, 10) : </a:t>
            </a:r>
          </a:p>
          <a:p>
            <a:r>
              <a:rPr lang="en-GB" sz="2400" dirty="0">
                <a:latin typeface="Courier New" panose="02070309020205020404" pitchFamily="49" charset="0"/>
                <a:ea typeface="Helvetica Neue" panose="02000503000000020004" pitchFamily="2" charset="0"/>
                <a:cs typeface="Courier New" panose="02070309020205020404" pitchFamily="49" charset="0"/>
              </a:rPr>
              <a:t>	</a:t>
            </a:r>
            <a:r>
              <a:rPr lang="en-GB" sz="2400" dirty="0">
                <a:effectLst/>
                <a:latin typeface="Courier New" panose="02070309020205020404" pitchFamily="49" charset="0"/>
                <a:ea typeface="Helvetica Neue" panose="02000503000000020004" pitchFamily="2" charset="0"/>
                <a:cs typeface="Courier New" panose="02070309020205020404" pitchFamily="49" charset="0"/>
              </a:rPr>
              <a:t>print(</a:t>
            </a:r>
            <a:r>
              <a:rPr lang="en-GB" sz="2400" dirty="0" err="1">
                <a:effectLst/>
                <a:latin typeface="Courier New" panose="02070309020205020404" pitchFamily="49" charset="0"/>
                <a:ea typeface="Helvetica Neue" panose="02000503000000020004" pitchFamily="2" charset="0"/>
                <a:cs typeface="Courier New" panose="02070309020205020404" pitchFamily="49" charset="0"/>
              </a:rPr>
              <a:t>i</a:t>
            </a:r>
            <a:r>
              <a:rPr lang="en-GB" sz="2400" dirty="0">
                <a:effectLst/>
                <a:latin typeface="Courier New" panose="02070309020205020404" pitchFamily="49" charset="0"/>
                <a:ea typeface="Helvetica Neue" panose="02000503000000020004" pitchFamily="2" charset="0"/>
                <a:cs typeface="Courier New" panose="02070309020205020404" pitchFamily="49" charset="0"/>
              </a:rPr>
              <a:t>) </a:t>
            </a:r>
          </a:p>
        </p:txBody>
      </p:sp>
    </p:spTree>
    <p:extLst>
      <p:ext uri="{BB962C8B-B14F-4D97-AF65-F5344CB8AC3E}">
        <p14:creationId xmlns:p14="http://schemas.microsoft.com/office/powerpoint/2010/main" val="32950666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CE3F3E2-EF0C-DD60-7C29-2D13C930E4B5}"/>
              </a:ext>
            </a:extLst>
          </p:cNvPr>
          <p:cNvSpPr/>
          <p:nvPr/>
        </p:nvSpPr>
        <p:spPr>
          <a:xfrm>
            <a:off x="0" y="4099389"/>
            <a:ext cx="375920" cy="2270931"/>
          </a:xfrm>
          <a:prstGeom prst="rect">
            <a:avLst/>
          </a:prstGeom>
          <a:solidFill>
            <a:srgbClr val="FF9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C000"/>
              </a:solidFill>
            </a:endParaRPr>
          </a:p>
        </p:txBody>
      </p:sp>
      <p:sp>
        <p:nvSpPr>
          <p:cNvPr id="7" name="TextBox 6">
            <a:extLst>
              <a:ext uri="{FF2B5EF4-FFF2-40B4-BE49-F238E27FC236}">
                <a16:creationId xmlns:a16="http://schemas.microsoft.com/office/drawing/2014/main" id="{99519C99-AA9F-E95C-13AB-EA3546581D88}"/>
              </a:ext>
            </a:extLst>
          </p:cNvPr>
          <p:cNvSpPr txBox="1"/>
          <p:nvPr/>
        </p:nvSpPr>
        <p:spPr>
          <a:xfrm rot="16200000">
            <a:off x="-930350" y="5043232"/>
            <a:ext cx="2246881" cy="276999"/>
          </a:xfrm>
          <a:prstGeom prst="rect">
            <a:avLst/>
          </a:prstGeom>
          <a:noFill/>
        </p:spPr>
        <p:txBody>
          <a:bodyPr wrap="square" rtlCol="0">
            <a:spAutoFit/>
          </a:bodyPr>
          <a:lstStyle/>
          <a:p>
            <a:r>
              <a:rPr lang="en-US" sz="1200" b="1" dirty="0">
                <a:solidFill>
                  <a:schemeClr val="bg1"/>
                </a:solidFill>
                <a:latin typeface="Aptos ExtraBold" panose="020B0004020202020204" pitchFamily="34" charset="0"/>
              </a:rPr>
              <a:t>Software Development 1</a:t>
            </a:r>
          </a:p>
        </p:txBody>
      </p:sp>
      <p:sp>
        <p:nvSpPr>
          <p:cNvPr id="8" name="Content Placeholder 2">
            <a:extLst>
              <a:ext uri="{FF2B5EF4-FFF2-40B4-BE49-F238E27FC236}">
                <a16:creationId xmlns:a16="http://schemas.microsoft.com/office/drawing/2014/main" id="{3556E629-A092-313A-245F-87CCA20EFE1C}"/>
              </a:ext>
            </a:extLst>
          </p:cNvPr>
          <p:cNvSpPr txBox="1">
            <a:spLocks/>
          </p:cNvSpPr>
          <p:nvPr/>
        </p:nvSpPr>
        <p:spPr>
          <a:xfrm>
            <a:off x="1681480" y="2089574"/>
            <a:ext cx="7223760" cy="402336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 name="Title 1">
            <a:extLst>
              <a:ext uri="{FF2B5EF4-FFF2-40B4-BE49-F238E27FC236}">
                <a16:creationId xmlns:a16="http://schemas.microsoft.com/office/drawing/2014/main" id="{5E4381F4-C384-7795-00CC-E8F968D916B6}"/>
              </a:ext>
            </a:extLst>
          </p:cNvPr>
          <p:cNvSpPr txBox="1">
            <a:spLocks/>
          </p:cNvSpPr>
          <p:nvPr/>
        </p:nvSpPr>
        <p:spPr>
          <a:xfrm>
            <a:off x="838199" y="583179"/>
            <a:ext cx="9672264" cy="51410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dirty="0">
                <a:latin typeface="Helvetica Neue" panose="02000503000000020004" pitchFamily="2" charset="0"/>
                <a:ea typeface="Helvetica Neue" panose="02000503000000020004" pitchFamily="2" charset="0"/>
                <a:cs typeface="Helvetica Neue" panose="02000503000000020004" pitchFamily="2" charset="0"/>
              </a:rPr>
              <a:t>Breaking a Loop</a:t>
            </a:r>
            <a:endParaRPr lang="en-GB" sz="2800" b="1" dirty="0">
              <a:solidFill>
                <a:srgbClr val="00B0F0"/>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TextBox 3">
            <a:extLst>
              <a:ext uri="{FF2B5EF4-FFF2-40B4-BE49-F238E27FC236}">
                <a16:creationId xmlns:a16="http://schemas.microsoft.com/office/drawing/2014/main" id="{148177C3-6D53-92B4-4D44-A219A0546A0D}"/>
              </a:ext>
            </a:extLst>
          </p:cNvPr>
          <p:cNvSpPr txBox="1"/>
          <p:nvPr/>
        </p:nvSpPr>
        <p:spPr>
          <a:xfrm>
            <a:off x="840422" y="1407652"/>
            <a:ext cx="10682606" cy="3433871"/>
          </a:xfrm>
          <a:prstGeom prst="rect">
            <a:avLst/>
          </a:prstGeom>
          <a:noFill/>
        </p:spPr>
        <p:txBody>
          <a:bodyPr wrap="square">
            <a:spAutoFit/>
          </a:bodyPr>
          <a:lstStyle/>
          <a:p>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If you need to break out of a loop there are two important keywords: </a:t>
            </a:r>
            <a:r>
              <a:rPr lang="en-GB" sz="2400" b="1" dirty="0">
                <a:effectLst/>
                <a:latin typeface="Helvetica Neue" panose="02000503000000020004" pitchFamily="2" charset="0"/>
                <a:ea typeface="Helvetica Neue" panose="02000503000000020004" pitchFamily="2" charset="0"/>
                <a:cs typeface="Helvetica Neue" panose="02000503000000020004" pitchFamily="2" charset="0"/>
              </a:rPr>
              <a:t>continue</a:t>
            </a: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 and </a:t>
            </a:r>
            <a:r>
              <a:rPr lang="en-GB" sz="2400" b="1" dirty="0">
                <a:effectLst/>
                <a:latin typeface="Helvetica Neue" panose="02000503000000020004" pitchFamily="2" charset="0"/>
                <a:ea typeface="Helvetica Neue" panose="02000503000000020004" pitchFamily="2" charset="0"/>
                <a:cs typeface="Helvetica Neue" panose="02000503000000020004" pitchFamily="2" charset="0"/>
              </a:rPr>
              <a:t>break</a:t>
            </a: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 </a:t>
            </a:r>
          </a:p>
          <a:p>
            <a:endParaRPr lang="en-GB" sz="2400" b="1" dirty="0">
              <a:latin typeface="Helvetica Neue" panose="02000503000000020004" pitchFamily="2" charset="0"/>
              <a:ea typeface="Helvetica Neue" panose="02000503000000020004" pitchFamily="2" charset="0"/>
              <a:cs typeface="Helvetica Neue" panose="02000503000000020004" pitchFamily="2" charset="0"/>
            </a:endParaRPr>
          </a:p>
          <a:p>
            <a:r>
              <a:rPr lang="en-GB" sz="2400" b="1" dirty="0">
                <a:effectLst/>
                <a:latin typeface="Helvetica Neue" panose="02000503000000020004" pitchFamily="2" charset="0"/>
                <a:ea typeface="Helvetica Neue" panose="02000503000000020004" pitchFamily="2" charset="0"/>
                <a:cs typeface="Helvetica Neue" panose="02000503000000020004" pitchFamily="2" charset="0"/>
              </a:rPr>
              <a:t>Continue </a:t>
            </a:r>
            <a:endParaRPr lang="en-GB" sz="2400" dirty="0">
              <a:effectLst/>
              <a:latin typeface="Helvetica Neue" panose="02000503000000020004" pitchFamily="2" charset="0"/>
              <a:ea typeface="Helvetica Neue" panose="02000503000000020004" pitchFamily="2" charset="0"/>
              <a:cs typeface="Helvetica Neue" panose="02000503000000020004" pitchFamily="2" charset="0"/>
            </a:endParaRPr>
          </a:p>
          <a:p>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When it gets executed the loop will stop the current iteration where it is without executing anything after the continue statement and go on to the next iteration of the loop. </a:t>
            </a:r>
          </a:p>
          <a:p>
            <a:endParaRPr lang="en-GB" sz="2400" b="1" dirty="0">
              <a:effectLst/>
              <a:latin typeface="Helvetica Neue" panose="02000503000000020004" pitchFamily="2" charset="0"/>
              <a:ea typeface="Helvetica Neue" panose="02000503000000020004" pitchFamily="2" charset="0"/>
              <a:cs typeface="Helvetica Neue" panose="02000503000000020004" pitchFamily="2" charset="0"/>
            </a:endParaRPr>
          </a:p>
          <a:p>
            <a:r>
              <a:rPr lang="en-GB" sz="2400" b="1" dirty="0">
                <a:effectLst/>
                <a:latin typeface="Helvetica Neue" panose="02000503000000020004" pitchFamily="2" charset="0"/>
                <a:ea typeface="Helvetica Neue" panose="02000503000000020004" pitchFamily="2" charset="0"/>
                <a:cs typeface="Helvetica Neue" panose="02000503000000020004" pitchFamily="2" charset="0"/>
              </a:rPr>
              <a:t>Break </a:t>
            </a:r>
            <a:endParaRPr lang="en-GB" sz="2400" dirty="0">
              <a:effectLst/>
              <a:latin typeface="Helvetica Neue" panose="02000503000000020004" pitchFamily="2" charset="0"/>
              <a:ea typeface="Helvetica Neue" panose="02000503000000020004" pitchFamily="2" charset="0"/>
              <a:cs typeface="Helvetica Neue" panose="02000503000000020004" pitchFamily="2" charset="0"/>
            </a:endParaRPr>
          </a:p>
          <a:p>
            <a:r>
              <a:rPr lang="en-GB" sz="2400" dirty="0">
                <a:latin typeface="Helvetica Neue" panose="02000503000000020004" pitchFamily="2" charset="0"/>
                <a:ea typeface="Helvetica Neue" panose="02000503000000020004" pitchFamily="2" charset="0"/>
                <a:cs typeface="Helvetica Neue" panose="02000503000000020004" pitchFamily="2" charset="0"/>
              </a:rPr>
              <a:t>W</a:t>
            </a: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hen it gets executed it will break out of the loop and continue executing from the first instruction after the loop. </a:t>
            </a:r>
          </a:p>
        </p:txBody>
      </p:sp>
    </p:spTree>
    <p:extLst>
      <p:ext uri="{BB962C8B-B14F-4D97-AF65-F5344CB8AC3E}">
        <p14:creationId xmlns:p14="http://schemas.microsoft.com/office/powerpoint/2010/main" val="28591402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CE3F3E2-EF0C-DD60-7C29-2D13C930E4B5}"/>
              </a:ext>
            </a:extLst>
          </p:cNvPr>
          <p:cNvSpPr/>
          <p:nvPr/>
        </p:nvSpPr>
        <p:spPr>
          <a:xfrm>
            <a:off x="0" y="4099389"/>
            <a:ext cx="375920" cy="2270931"/>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C000"/>
              </a:solidFill>
            </a:endParaRPr>
          </a:p>
        </p:txBody>
      </p:sp>
      <p:sp>
        <p:nvSpPr>
          <p:cNvPr id="7" name="TextBox 6">
            <a:extLst>
              <a:ext uri="{FF2B5EF4-FFF2-40B4-BE49-F238E27FC236}">
                <a16:creationId xmlns:a16="http://schemas.microsoft.com/office/drawing/2014/main" id="{99519C99-AA9F-E95C-13AB-EA3546581D88}"/>
              </a:ext>
            </a:extLst>
          </p:cNvPr>
          <p:cNvSpPr txBox="1"/>
          <p:nvPr/>
        </p:nvSpPr>
        <p:spPr>
          <a:xfrm rot="16200000">
            <a:off x="-930350" y="5043232"/>
            <a:ext cx="2246881" cy="276999"/>
          </a:xfrm>
          <a:prstGeom prst="rect">
            <a:avLst/>
          </a:prstGeom>
          <a:noFill/>
        </p:spPr>
        <p:txBody>
          <a:bodyPr wrap="square" rtlCol="0">
            <a:spAutoFit/>
          </a:bodyPr>
          <a:lstStyle/>
          <a:p>
            <a:r>
              <a:rPr lang="en-US" sz="1200" b="1" dirty="0">
                <a:solidFill>
                  <a:schemeClr val="bg1"/>
                </a:solidFill>
                <a:latin typeface="Aptos ExtraBold" panose="020B0004020202020204" pitchFamily="34" charset="0"/>
              </a:rPr>
              <a:t>Software Development 1</a:t>
            </a:r>
          </a:p>
        </p:txBody>
      </p:sp>
      <p:sp>
        <p:nvSpPr>
          <p:cNvPr id="8" name="Content Placeholder 2">
            <a:extLst>
              <a:ext uri="{FF2B5EF4-FFF2-40B4-BE49-F238E27FC236}">
                <a16:creationId xmlns:a16="http://schemas.microsoft.com/office/drawing/2014/main" id="{3556E629-A092-313A-245F-87CCA20EFE1C}"/>
              </a:ext>
            </a:extLst>
          </p:cNvPr>
          <p:cNvSpPr txBox="1">
            <a:spLocks/>
          </p:cNvSpPr>
          <p:nvPr/>
        </p:nvSpPr>
        <p:spPr>
          <a:xfrm>
            <a:off x="1681480" y="2089574"/>
            <a:ext cx="7223760" cy="402336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 name="Title 1">
            <a:extLst>
              <a:ext uri="{FF2B5EF4-FFF2-40B4-BE49-F238E27FC236}">
                <a16:creationId xmlns:a16="http://schemas.microsoft.com/office/drawing/2014/main" id="{5E4381F4-C384-7795-00CC-E8F968D916B6}"/>
              </a:ext>
            </a:extLst>
          </p:cNvPr>
          <p:cNvSpPr txBox="1">
            <a:spLocks/>
          </p:cNvSpPr>
          <p:nvPr/>
        </p:nvSpPr>
        <p:spPr>
          <a:xfrm>
            <a:off x="838199" y="583179"/>
            <a:ext cx="9672264" cy="51410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dirty="0">
                <a:latin typeface="Helvetica Neue" panose="02000503000000020004" pitchFamily="2" charset="0"/>
                <a:ea typeface="Helvetica Neue" panose="02000503000000020004" pitchFamily="2" charset="0"/>
                <a:cs typeface="Helvetica Neue" panose="02000503000000020004" pitchFamily="2" charset="0"/>
              </a:rPr>
              <a:t>Breaking a Loop Examples</a:t>
            </a:r>
            <a:endParaRPr lang="en-GB" sz="2800" b="1" dirty="0">
              <a:solidFill>
                <a:srgbClr val="00B0F0"/>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TextBox 3">
            <a:extLst>
              <a:ext uri="{FF2B5EF4-FFF2-40B4-BE49-F238E27FC236}">
                <a16:creationId xmlns:a16="http://schemas.microsoft.com/office/drawing/2014/main" id="{148177C3-6D53-92B4-4D44-A219A0546A0D}"/>
              </a:ext>
            </a:extLst>
          </p:cNvPr>
          <p:cNvSpPr txBox="1"/>
          <p:nvPr/>
        </p:nvSpPr>
        <p:spPr>
          <a:xfrm>
            <a:off x="840422" y="1036172"/>
            <a:ext cx="10682606" cy="6001643"/>
          </a:xfrm>
          <a:prstGeom prst="rect">
            <a:avLst/>
          </a:prstGeom>
          <a:noFill/>
        </p:spPr>
        <p:txBody>
          <a:bodyPr wrap="square">
            <a:spAutoFit/>
          </a:bodyPr>
          <a:lstStyle/>
          <a:p>
            <a:r>
              <a:rPr lang="en-GB" sz="2400" b="1" dirty="0">
                <a:effectLst/>
                <a:latin typeface="Helvetica Neue" panose="02000503000000020004" pitchFamily="2" charset="0"/>
                <a:ea typeface="Helvetica Neue" panose="02000503000000020004" pitchFamily="2" charset="0"/>
                <a:cs typeface="Helvetica Neue" panose="02000503000000020004" pitchFamily="2" charset="0"/>
              </a:rPr>
              <a:t>break </a:t>
            </a: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What will this example print? </a:t>
            </a:r>
          </a:p>
          <a:p>
            <a:pPr>
              <a:buFont typeface="Arial" panose="020B0604020202020204" pitchFamily="34" charset="0"/>
              <a:buChar char="•"/>
            </a:pPr>
            <a:endParaRPr lang="en-GB" sz="2400" dirty="0">
              <a:latin typeface="Helvetica Neue" panose="02000503000000020004" pitchFamily="2" charset="0"/>
              <a:ea typeface="Helvetica Neue" panose="02000503000000020004" pitchFamily="2" charset="0"/>
              <a:cs typeface="Helvetica Neue" panose="02000503000000020004" pitchFamily="2" charset="0"/>
            </a:endParaRPr>
          </a:p>
          <a:p>
            <a:r>
              <a:rPr lang="en-GB" sz="2400" dirty="0">
                <a:effectLst/>
                <a:latin typeface="Courier New" panose="02070309020205020404" pitchFamily="49" charset="0"/>
                <a:ea typeface="Helvetica Neue" panose="02000503000000020004" pitchFamily="2" charset="0"/>
                <a:cs typeface="Courier New" panose="02070309020205020404" pitchFamily="49" charset="0"/>
              </a:rPr>
              <a:t>count = 0 </a:t>
            </a:r>
          </a:p>
          <a:p>
            <a:r>
              <a:rPr lang="en-GB" sz="2400" dirty="0">
                <a:effectLst/>
                <a:latin typeface="Courier New" panose="02070309020205020404" pitchFamily="49" charset="0"/>
                <a:ea typeface="Helvetica Neue" panose="02000503000000020004" pitchFamily="2" charset="0"/>
                <a:cs typeface="Courier New" panose="02070309020205020404" pitchFamily="49" charset="0"/>
              </a:rPr>
              <a:t>while True: </a:t>
            </a:r>
          </a:p>
          <a:p>
            <a:r>
              <a:rPr lang="en-GB" sz="2400" dirty="0">
                <a:latin typeface="Courier New" panose="02070309020205020404" pitchFamily="49" charset="0"/>
                <a:ea typeface="Helvetica Neue" panose="02000503000000020004" pitchFamily="2" charset="0"/>
                <a:cs typeface="Courier New" panose="02070309020205020404" pitchFamily="49" charset="0"/>
              </a:rPr>
              <a:t>	</a:t>
            </a:r>
            <a:r>
              <a:rPr lang="en-GB" sz="2400" dirty="0">
                <a:effectLst/>
                <a:latin typeface="Courier New" panose="02070309020205020404" pitchFamily="49" charset="0"/>
                <a:ea typeface="Helvetica Neue" panose="02000503000000020004" pitchFamily="2" charset="0"/>
                <a:cs typeface="Courier New" panose="02070309020205020404" pitchFamily="49" charset="0"/>
              </a:rPr>
              <a:t>print(count) </a:t>
            </a:r>
          </a:p>
          <a:p>
            <a:r>
              <a:rPr lang="en-GB" sz="2400" dirty="0">
                <a:latin typeface="Courier New" panose="02070309020205020404" pitchFamily="49" charset="0"/>
                <a:ea typeface="Helvetica Neue" panose="02000503000000020004" pitchFamily="2" charset="0"/>
                <a:cs typeface="Courier New" panose="02070309020205020404" pitchFamily="49" charset="0"/>
              </a:rPr>
              <a:t>	</a:t>
            </a:r>
            <a:r>
              <a:rPr lang="en-GB" sz="2400" dirty="0">
                <a:effectLst/>
                <a:latin typeface="Courier New" panose="02070309020205020404" pitchFamily="49" charset="0"/>
                <a:ea typeface="Helvetica Neue" panose="02000503000000020004" pitchFamily="2" charset="0"/>
                <a:cs typeface="Courier New" panose="02070309020205020404" pitchFamily="49" charset="0"/>
              </a:rPr>
              <a:t>count += 1 </a:t>
            </a:r>
          </a:p>
          <a:p>
            <a:r>
              <a:rPr lang="en-GB" sz="2400" dirty="0">
                <a:latin typeface="Courier New" panose="02070309020205020404" pitchFamily="49" charset="0"/>
                <a:ea typeface="Helvetica Neue" panose="02000503000000020004" pitchFamily="2" charset="0"/>
                <a:cs typeface="Courier New" panose="02070309020205020404" pitchFamily="49" charset="0"/>
              </a:rPr>
              <a:t>	</a:t>
            </a:r>
            <a:r>
              <a:rPr lang="en-GB" sz="2400" dirty="0">
                <a:effectLst/>
                <a:latin typeface="Courier New" panose="02070309020205020404" pitchFamily="49" charset="0"/>
                <a:ea typeface="Helvetica Neue" panose="02000503000000020004" pitchFamily="2" charset="0"/>
                <a:cs typeface="Courier New" panose="02070309020205020404" pitchFamily="49" charset="0"/>
              </a:rPr>
              <a:t>if count &gt;= 5: </a:t>
            </a:r>
          </a:p>
          <a:p>
            <a:r>
              <a:rPr lang="en-GB" sz="2400" dirty="0">
                <a:effectLst/>
                <a:latin typeface="Courier New" panose="02070309020205020404" pitchFamily="49" charset="0"/>
                <a:ea typeface="Helvetica Neue" panose="02000503000000020004" pitchFamily="2" charset="0"/>
                <a:cs typeface="Courier New" panose="02070309020205020404" pitchFamily="49" charset="0"/>
              </a:rPr>
              <a:t>		break</a:t>
            </a:r>
          </a:p>
          <a:p>
            <a:endParaRPr lang="en-GB" sz="2400" dirty="0">
              <a:latin typeface="Courier New" panose="02070309020205020404" pitchFamily="49" charset="0"/>
              <a:ea typeface="Helvetica Neue" panose="02000503000000020004" pitchFamily="2" charset="0"/>
              <a:cs typeface="Courier New" panose="02070309020205020404" pitchFamily="49" charset="0"/>
            </a:endParaRPr>
          </a:p>
          <a:p>
            <a:r>
              <a:rPr lang="en-GB" sz="2400" b="1" dirty="0">
                <a:effectLst/>
                <a:latin typeface="Calibri" panose="020F0502020204030204" pitchFamily="34" charset="0"/>
              </a:rPr>
              <a:t>continue </a:t>
            </a:r>
            <a:r>
              <a:rPr lang="en-GB" sz="2400" dirty="0">
                <a:effectLst/>
                <a:latin typeface="Calibri" panose="020F0502020204030204" pitchFamily="34" charset="0"/>
              </a:rPr>
              <a:t>What will this print? </a:t>
            </a:r>
          </a:p>
          <a:p>
            <a:endParaRPr lang="en-GB" sz="2400" dirty="0">
              <a:effectLst/>
              <a:latin typeface="Calibri" panose="020F0502020204030204" pitchFamily="34" charset="0"/>
            </a:endParaRPr>
          </a:p>
          <a:p>
            <a:r>
              <a:rPr lang="en-GB" sz="2400" dirty="0">
                <a:effectLst/>
                <a:latin typeface="Courier New" panose="02070309020205020404" pitchFamily="49" charset="0"/>
                <a:cs typeface="Courier New" panose="02070309020205020404" pitchFamily="49" charset="0"/>
              </a:rPr>
              <a:t>for x in range(10): </a:t>
            </a:r>
          </a:p>
          <a:p>
            <a:r>
              <a:rPr lang="en-GB" sz="2400" dirty="0">
                <a:effectLst/>
                <a:latin typeface="Courier New" panose="02070309020205020404" pitchFamily="49" charset="0"/>
                <a:cs typeface="Courier New" panose="02070309020205020404" pitchFamily="49" charset="0"/>
              </a:rPr>
              <a:t>	if x % 2 == 0: </a:t>
            </a:r>
          </a:p>
          <a:p>
            <a:r>
              <a:rPr lang="en-GB" sz="2400" dirty="0">
                <a:latin typeface="Courier New" panose="02070309020205020404" pitchFamily="49" charset="0"/>
                <a:cs typeface="Courier New" panose="02070309020205020404" pitchFamily="49" charset="0"/>
              </a:rPr>
              <a:t>		</a:t>
            </a:r>
            <a:r>
              <a:rPr lang="en-GB" sz="2400" dirty="0">
                <a:effectLst/>
                <a:latin typeface="Courier New" panose="02070309020205020404" pitchFamily="49" charset="0"/>
                <a:cs typeface="Courier New" panose="02070309020205020404" pitchFamily="49" charset="0"/>
              </a:rPr>
              <a:t>continue </a:t>
            </a:r>
          </a:p>
          <a:p>
            <a:r>
              <a:rPr lang="en-GB" sz="2400" dirty="0">
                <a:effectLst/>
                <a:latin typeface="Courier New" panose="02070309020205020404" pitchFamily="49" charset="0"/>
                <a:cs typeface="Courier New" panose="02070309020205020404" pitchFamily="49" charset="0"/>
              </a:rPr>
              <a:t>	print(x) </a:t>
            </a:r>
          </a:p>
          <a:p>
            <a:r>
              <a:rPr lang="en-GB" sz="2400" dirty="0">
                <a:effectLst/>
                <a:latin typeface="Courier New" panose="02070309020205020404" pitchFamily="49" charset="0"/>
                <a:ea typeface="Helvetica Neue" panose="02000503000000020004" pitchFamily="2" charset="0"/>
                <a:cs typeface="Courier New" panose="02070309020205020404" pitchFamily="49" charset="0"/>
              </a:rPr>
              <a:t> </a:t>
            </a:r>
          </a:p>
        </p:txBody>
      </p:sp>
    </p:spTree>
    <p:extLst>
      <p:ext uri="{BB962C8B-B14F-4D97-AF65-F5344CB8AC3E}">
        <p14:creationId xmlns:p14="http://schemas.microsoft.com/office/powerpoint/2010/main" val="36677300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CE3F3E2-EF0C-DD60-7C29-2D13C930E4B5}"/>
              </a:ext>
            </a:extLst>
          </p:cNvPr>
          <p:cNvSpPr/>
          <p:nvPr/>
        </p:nvSpPr>
        <p:spPr>
          <a:xfrm>
            <a:off x="0" y="4099389"/>
            <a:ext cx="375920" cy="2270931"/>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C000"/>
              </a:solidFill>
            </a:endParaRPr>
          </a:p>
        </p:txBody>
      </p:sp>
      <p:sp>
        <p:nvSpPr>
          <p:cNvPr id="7" name="TextBox 6">
            <a:extLst>
              <a:ext uri="{FF2B5EF4-FFF2-40B4-BE49-F238E27FC236}">
                <a16:creationId xmlns:a16="http://schemas.microsoft.com/office/drawing/2014/main" id="{99519C99-AA9F-E95C-13AB-EA3546581D88}"/>
              </a:ext>
            </a:extLst>
          </p:cNvPr>
          <p:cNvSpPr txBox="1"/>
          <p:nvPr/>
        </p:nvSpPr>
        <p:spPr>
          <a:xfrm rot="16200000">
            <a:off x="-930350" y="5043232"/>
            <a:ext cx="2246881" cy="276999"/>
          </a:xfrm>
          <a:prstGeom prst="rect">
            <a:avLst/>
          </a:prstGeom>
          <a:noFill/>
        </p:spPr>
        <p:txBody>
          <a:bodyPr wrap="square" rtlCol="0">
            <a:spAutoFit/>
          </a:bodyPr>
          <a:lstStyle/>
          <a:p>
            <a:r>
              <a:rPr lang="en-US" sz="1200" b="1" dirty="0">
                <a:solidFill>
                  <a:schemeClr val="bg1"/>
                </a:solidFill>
                <a:latin typeface="Aptos ExtraBold" panose="020B0004020202020204" pitchFamily="34" charset="0"/>
              </a:rPr>
              <a:t>Software Development 1</a:t>
            </a:r>
          </a:p>
        </p:txBody>
      </p:sp>
      <p:sp>
        <p:nvSpPr>
          <p:cNvPr id="8" name="Content Placeholder 2">
            <a:extLst>
              <a:ext uri="{FF2B5EF4-FFF2-40B4-BE49-F238E27FC236}">
                <a16:creationId xmlns:a16="http://schemas.microsoft.com/office/drawing/2014/main" id="{3556E629-A092-313A-245F-87CCA20EFE1C}"/>
              </a:ext>
            </a:extLst>
          </p:cNvPr>
          <p:cNvSpPr txBox="1">
            <a:spLocks/>
          </p:cNvSpPr>
          <p:nvPr/>
        </p:nvSpPr>
        <p:spPr>
          <a:xfrm>
            <a:off x="1681480" y="2089574"/>
            <a:ext cx="7223760" cy="402336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 name="Title 1">
            <a:extLst>
              <a:ext uri="{FF2B5EF4-FFF2-40B4-BE49-F238E27FC236}">
                <a16:creationId xmlns:a16="http://schemas.microsoft.com/office/drawing/2014/main" id="{5E4381F4-C384-7795-00CC-E8F968D916B6}"/>
              </a:ext>
            </a:extLst>
          </p:cNvPr>
          <p:cNvSpPr txBox="1">
            <a:spLocks/>
          </p:cNvSpPr>
          <p:nvPr/>
        </p:nvSpPr>
        <p:spPr>
          <a:xfrm>
            <a:off x="838199" y="583179"/>
            <a:ext cx="9672264" cy="51410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dirty="0">
                <a:latin typeface="Helvetica Neue" panose="02000503000000020004" pitchFamily="2" charset="0"/>
                <a:ea typeface="Helvetica Neue" panose="02000503000000020004" pitchFamily="2" charset="0"/>
                <a:cs typeface="Helvetica Neue" panose="02000503000000020004" pitchFamily="2" charset="0"/>
              </a:rPr>
              <a:t>Breaking a Loop </a:t>
            </a:r>
            <a:r>
              <a:rPr lang="en-US" sz="2800" b="1" dirty="0">
                <a:solidFill>
                  <a:srgbClr val="00B0F0"/>
                </a:solidFill>
                <a:latin typeface="Helvetica Neue" panose="02000503000000020004" pitchFamily="2" charset="0"/>
                <a:ea typeface="Helvetica Neue" panose="02000503000000020004" pitchFamily="2" charset="0"/>
                <a:cs typeface="Helvetica Neue" panose="02000503000000020004" pitchFamily="2" charset="0"/>
              </a:rPr>
              <a:t>Answers</a:t>
            </a:r>
            <a:endParaRPr lang="en-GB" sz="2800" b="1" dirty="0">
              <a:solidFill>
                <a:srgbClr val="00B0F0"/>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TextBox 3">
            <a:extLst>
              <a:ext uri="{FF2B5EF4-FFF2-40B4-BE49-F238E27FC236}">
                <a16:creationId xmlns:a16="http://schemas.microsoft.com/office/drawing/2014/main" id="{148177C3-6D53-92B4-4D44-A219A0546A0D}"/>
              </a:ext>
            </a:extLst>
          </p:cNvPr>
          <p:cNvSpPr txBox="1"/>
          <p:nvPr/>
        </p:nvSpPr>
        <p:spPr>
          <a:xfrm>
            <a:off x="840422" y="1066152"/>
            <a:ext cx="10682606" cy="5632311"/>
          </a:xfrm>
          <a:prstGeom prst="rect">
            <a:avLst/>
          </a:prstGeom>
          <a:noFill/>
        </p:spPr>
        <p:txBody>
          <a:bodyPr wrap="square">
            <a:spAutoFit/>
          </a:bodyPr>
          <a:lstStyle/>
          <a:p>
            <a:r>
              <a:rPr lang="en-GB" sz="2400" b="1" dirty="0">
                <a:effectLst/>
                <a:latin typeface="Helvetica Neue" panose="02000503000000020004" pitchFamily="2" charset="0"/>
                <a:ea typeface="Helvetica Neue" panose="02000503000000020004" pitchFamily="2" charset="0"/>
                <a:cs typeface="Helvetica Neue" panose="02000503000000020004" pitchFamily="2" charset="0"/>
              </a:rPr>
              <a:t>break </a:t>
            </a: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What will this example print? </a:t>
            </a:r>
            <a:endParaRPr lang="en-GB" sz="2400" dirty="0">
              <a:latin typeface="Helvetica Neue" panose="02000503000000020004" pitchFamily="2" charset="0"/>
              <a:ea typeface="Helvetica Neue" panose="02000503000000020004" pitchFamily="2" charset="0"/>
              <a:cs typeface="Helvetica Neue" panose="02000503000000020004" pitchFamily="2" charset="0"/>
            </a:endParaRPr>
          </a:p>
          <a:p>
            <a:r>
              <a:rPr lang="en-GB" sz="2400" dirty="0">
                <a:effectLst/>
                <a:latin typeface="Courier New" panose="02070309020205020404" pitchFamily="49" charset="0"/>
                <a:ea typeface="Helvetica Neue" panose="02000503000000020004" pitchFamily="2" charset="0"/>
                <a:cs typeface="Courier New" panose="02070309020205020404" pitchFamily="49" charset="0"/>
              </a:rPr>
              <a:t>count = 0 </a:t>
            </a:r>
          </a:p>
          <a:p>
            <a:r>
              <a:rPr lang="en-GB" sz="2400" dirty="0">
                <a:effectLst/>
                <a:latin typeface="Courier New" panose="02070309020205020404" pitchFamily="49" charset="0"/>
                <a:ea typeface="Helvetica Neue" panose="02000503000000020004" pitchFamily="2" charset="0"/>
                <a:cs typeface="Courier New" panose="02070309020205020404" pitchFamily="49" charset="0"/>
              </a:rPr>
              <a:t>while True: </a:t>
            </a:r>
          </a:p>
          <a:p>
            <a:r>
              <a:rPr lang="en-GB" sz="2400" dirty="0">
                <a:latin typeface="Courier New" panose="02070309020205020404" pitchFamily="49" charset="0"/>
                <a:ea typeface="Helvetica Neue" panose="02000503000000020004" pitchFamily="2" charset="0"/>
                <a:cs typeface="Courier New" panose="02070309020205020404" pitchFamily="49" charset="0"/>
              </a:rPr>
              <a:t>	</a:t>
            </a:r>
            <a:r>
              <a:rPr lang="en-GB" sz="2400" dirty="0">
                <a:effectLst/>
                <a:latin typeface="Courier New" panose="02070309020205020404" pitchFamily="49" charset="0"/>
                <a:ea typeface="Helvetica Neue" panose="02000503000000020004" pitchFamily="2" charset="0"/>
                <a:cs typeface="Courier New" panose="02070309020205020404" pitchFamily="49" charset="0"/>
              </a:rPr>
              <a:t>print(count) </a:t>
            </a:r>
          </a:p>
          <a:p>
            <a:r>
              <a:rPr lang="en-GB" sz="2400" dirty="0">
                <a:latin typeface="Courier New" panose="02070309020205020404" pitchFamily="49" charset="0"/>
                <a:ea typeface="Helvetica Neue" panose="02000503000000020004" pitchFamily="2" charset="0"/>
                <a:cs typeface="Courier New" panose="02070309020205020404" pitchFamily="49" charset="0"/>
              </a:rPr>
              <a:t>	</a:t>
            </a:r>
            <a:r>
              <a:rPr lang="en-GB" sz="2400" dirty="0">
                <a:effectLst/>
                <a:latin typeface="Courier New" panose="02070309020205020404" pitchFamily="49" charset="0"/>
                <a:ea typeface="Helvetica Neue" panose="02000503000000020004" pitchFamily="2" charset="0"/>
                <a:cs typeface="Courier New" panose="02070309020205020404" pitchFamily="49" charset="0"/>
              </a:rPr>
              <a:t>count += 1 </a:t>
            </a:r>
          </a:p>
          <a:p>
            <a:r>
              <a:rPr lang="en-GB" sz="2400" dirty="0">
                <a:latin typeface="Courier New" panose="02070309020205020404" pitchFamily="49" charset="0"/>
                <a:ea typeface="Helvetica Neue" panose="02000503000000020004" pitchFamily="2" charset="0"/>
                <a:cs typeface="Courier New" panose="02070309020205020404" pitchFamily="49" charset="0"/>
              </a:rPr>
              <a:t>	</a:t>
            </a:r>
            <a:r>
              <a:rPr lang="en-GB" sz="2400" dirty="0">
                <a:effectLst/>
                <a:latin typeface="Courier New" panose="02070309020205020404" pitchFamily="49" charset="0"/>
                <a:ea typeface="Helvetica Neue" panose="02000503000000020004" pitchFamily="2" charset="0"/>
                <a:cs typeface="Courier New" panose="02070309020205020404" pitchFamily="49" charset="0"/>
              </a:rPr>
              <a:t>if count &gt;= 5: </a:t>
            </a:r>
          </a:p>
          <a:p>
            <a:r>
              <a:rPr lang="en-GB" sz="2400" dirty="0">
                <a:effectLst/>
                <a:latin typeface="Courier New" panose="02070309020205020404" pitchFamily="49" charset="0"/>
                <a:ea typeface="Helvetica Neue" panose="02000503000000020004" pitchFamily="2" charset="0"/>
                <a:cs typeface="Courier New" panose="02070309020205020404" pitchFamily="49" charset="0"/>
              </a:rPr>
              <a:t>		break			</a:t>
            </a:r>
            <a:r>
              <a:rPr lang="en-GB" dirty="0">
                <a:effectLst/>
                <a:latin typeface="Helvetica Neue" panose="02000503000000020004" pitchFamily="2" charset="0"/>
                <a:ea typeface="Helvetica Neue" panose="02000503000000020004" pitchFamily="2" charset="0"/>
                <a:cs typeface="Helvetica Neue" panose="02000503000000020004" pitchFamily="2" charset="0"/>
              </a:rPr>
              <a:t>output -&gt; </a:t>
            </a:r>
            <a:r>
              <a:rPr lang="en-GB" b="1" dirty="0">
                <a:effectLst/>
                <a:latin typeface="Helvetica Neue" panose="02000503000000020004" pitchFamily="2" charset="0"/>
                <a:ea typeface="Helvetica Neue" panose="02000503000000020004" pitchFamily="2" charset="0"/>
                <a:cs typeface="Helvetica Neue" panose="02000503000000020004" pitchFamily="2" charset="0"/>
              </a:rPr>
              <a:t>0,1,2,3,4 </a:t>
            </a:r>
            <a:endParaRPr lang="en-GB" dirty="0">
              <a:effectLst/>
              <a:latin typeface="Helvetica Neue" panose="02000503000000020004" pitchFamily="2" charset="0"/>
              <a:ea typeface="Helvetica Neue" panose="02000503000000020004" pitchFamily="2" charset="0"/>
              <a:cs typeface="Helvetica Neue" panose="02000503000000020004" pitchFamily="2" charset="0"/>
            </a:endParaRPr>
          </a:p>
          <a:p>
            <a:endParaRPr lang="en-GB" sz="2400" dirty="0">
              <a:latin typeface="Courier New" panose="02070309020205020404" pitchFamily="49" charset="0"/>
              <a:ea typeface="Helvetica Neue" panose="02000503000000020004" pitchFamily="2" charset="0"/>
              <a:cs typeface="Courier New" panose="02070309020205020404" pitchFamily="49" charset="0"/>
            </a:endParaRPr>
          </a:p>
          <a:p>
            <a:r>
              <a:rPr lang="en-GB" sz="2400" b="1" dirty="0">
                <a:effectLst/>
                <a:latin typeface="Calibri" panose="020F0502020204030204" pitchFamily="34" charset="0"/>
              </a:rPr>
              <a:t>continue </a:t>
            </a:r>
            <a:r>
              <a:rPr lang="en-GB" sz="2400" dirty="0">
                <a:effectLst/>
                <a:latin typeface="Calibri" panose="020F0502020204030204" pitchFamily="34" charset="0"/>
              </a:rPr>
              <a:t>What will this print? </a:t>
            </a:r>
          </a:p>
          <a:p>
            <a:r>
              <a:rPr lang="en-GB" sz="2400" dirty="0">
                <a:effectLst/>
                <a:latin typeface="Courier New" panose="02070309020205020404" pitchFamily="49" charset="0"/>
                <a:cs typeface="Courier New" panose="02070309020205020404" pitchFamily="49" charset="0"/>
              </a:rPr>
              <a:t>	</a:t>
            </a:r>
            <a:endParaRPr lang="en-GB" sz="2400" dirty="0">
              <a:effectLst/>
              <a:latin typeface="Calibri" panose="020F0502020204030204" pitchFamily="34" charset="0"/>
            </a:endParaRPr>
          </a:p>
          <a:p>
            <a:r>
              <a:rPr lang="en-GB" sz="2400" dirty="0">
                <a:effectLst/>
                <a:latin typeface="Courier New" panose="02070309020205020404" pitchFamily="49" charset="0"/>
                <a:cs typeface="Courier New" panose="02070309020205020404" pitchFamily="49" charset="0"/>
              </a:rPr>
              <a:t>for x in range(10): </a:t>
            </a:r>
          </a:p>
          <a:p>
            <a:r>
              <a:rPr lang="en-GB" sz="2400" dirty="0">
                <a:effectLst/>
                <a:latin typeface="Courier New" panose="02070309020205020404" pitchFamily="49" charset="0"/>
                <a:cs typeface="Courier New" panose="02070309020205020404" pitchFamily="49" charset="0"/>
              </a:rPr>
              <a:t>	if x % 2 == 0: </a:t>
            </a:r>
          </a:p>
          <a:p>
            <a:r>
              <a:rPr lang="en-GB" sz="2400" dirty="0">
                <a:latin typeface="Courier New" panose="02070309020205020404" pitchFamily="49" charset="0"/>
                <a:cs typeface="Courier New" panose="02070309020205020404" pitchFamily="49" charset="0"/>
              </a:rPr>
              <a:t>		</a:t>
            </a:r>
            <a:r>
              <a:rPr lang="en-GB" sz="2400" dirty="0">
                <a:effectLst/>
                <a:latin typeface="Courier New" panose="02070309020205020404" pitchFamily="49" charset="0"/>
                <a:cs typeface="Courier New" panose="02070309020205020404" pitchFamily="49" charset="0"/>
              </a:rPr>
              <a:t>continue </a:t>
            </a:r>
          </a:p>
          <a:p>
            <a:r>
              <a:rPr lang="en-GB" sz="2400" dirty="0">
                <a:effectLst/>
                <a:latin typeface="Courier New" panose="02070309020205020404" pitchFamily="49" charset="0"/>
                <a:cs typeface="Courier New" panose="02070309020205020404" pitchFamily="49" charset="0"/>
              </a:rPr>
              <a:t>	print(x) 		</a:t>
            </a:r>
            <a:r>
              <a:rPr lang="en-GB" sz="2400" dirty="0">
                <a:latin typeface="Courier New" panose="02070309020205020404" pitchFamily="49" charset="0"/>
                <a:cs typeface="Courier New" panose="02070309020205020404" pitchFamily="49" charset="0"/>
              </a:rPr>
              <a:t>	</a:t>
            </a:r>
            <a:r>
              <a:rPr lang="en-GB" dirty="0">
                <a:effectLst/>
                <a:latin typeface="Helvetica Neue" panose="02000503000000020004" pitchFamily="2" charset="0"/>
                <a:ea typeface="Helvetica Neue" panose="02000503000000020004" pitchFamily="2" charset="0"/>
                <a:cs typeface="Helvetica Neue" panose="02000503000000020004" pitchFamily="2" charset="0"/>
              </a:rPr>
              <a:t>output -&gt; </a:t>
            </a:r>
            <a:r>
              <a:rPr lang="en-GB" b="1" dirty="0">
                <a:effectLst/>
                <a:latin typeface="Helvetica Neue" panose="02000503000000020004" pitchFamily="2" charset="0"/>
                <a:ea typeface="Helvetica Neue" panose="02000503000000020004" pitchFamily="2" charset="0"/>
                <a:cs typeface="Helvetica Neue" panose="02000503000000020004" pitchFamily="2" charset="0"/>
              </a:rPr>
              <a:t>1,3,5,7,9</a:t>
            </a:r>
            <a:endParaRPr lang="en-GB" dirty="0">
              <a:effectLst/>
              <a:latin typeface="Courier New" panose="02070309020205020404" pitchFamily="49" charset="0"/>
              <a:cs typeface="Courier New" panose="02070309020205020404" pitchFamily="49" charset="0"/>
            </a:endParaRPr>
          </a:p>
          <a:p>
            <a:r>
              <a:rPr lang="en-GB" sz="2400" dirty="0">
                <a:effectLst/>
                <a:latin typeface="Courier New" panose="02070309020205020404" pitchFamily="49" charset="0"/>
                <a:ea typeface="Helvetica Neue" panose="02000503000000020004" pitchFamily="2" charset="0"/>
                <a:cs typeface="Courier New" panose="02070309020205020404" pitchFamily="49" charset="0"/>
              </a:rPr>
              <a:t> </a:t>
            </a:r>
          </a:p>
        </p:txBody>
      </p:sp>
    </p:spTree>
    <p:extLst>
      <p:ext uri="{BB962C8B-B14F-4D97-AF65-F5344CB8AC3E}">
        <p14:creationId xmlns:p14="http://schemas.microsoft.com/office/powerpoint/2010/main" val="5718374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CE3F3E2-EF0C-DD60-7C29-2D13C930E4B5}"/>
              </a:ext>
            </a:extLst>
          </p:cNvPr>
          <p:cNvSpPr/>
          <p:nvPr/>
        </p:nvSpPr>
        <p:spPr>
          <a:xfrm>
            <a:off x="0" y="4099389"/>
            <a:ext cx="375920" cy="2270931"/>
          </a:xfrm>
          <a:prstGeom prst="rect">
            <a:avLst/>
          </a:prstGeom>
          <a:solidFill>
            <a:srgbClr val="FF9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C000"/>
              </a:solidFill>
            </a:endParaRPr>
          </a:p>
        </p:txBody>
      </p:sp>
      <p:sp>
        <p:nvSpPr>
          <p:cNvPr id="7" name="TextBox 6">
            <a:extLst>
              <a:ext uri="{FF2B5EF4-FFF2-40B4-BE49-F238E27FC236}">
                <a16:creationId xmlns:a16="http://schemas.microsoft.com/office/drawing/2014/main" id="{99519C99-AA9F-E95C-13AB-EA3546581D88}"/>
              </a:ext>
            </a:extLst>
          </p:cNvPr>
          <p:cNvSpPr txBox="1"/>
          <p:nvPr/>
        </p:nvSpPr>
        <p:spPr>
          <a:xfrm rot="16200000">
            <a:off x="-930350" y="5043232"/>
            <a:ext cx="2246881" cy="276999"/>
          </a:xfrm>
          <a:prstGeom prst="rect">
            <a:avLst/>
          </a:prstGeom>
          <a:noFill/>
        </p:spPr>
        <p:txBody>
          <a:bodyPr wrap="square" rtlCol="0">
            <a:spAutoFit/>
          </a:bodyPr>
          <a:lstStyle/>
          <a:p>
            <a:r>
              <a:rPr lang="en-US" sz="1200" b="1" dirty="0">
                <a:solidFill>
                  <a:schemeClr val="bg1"/>
                </a:solidFill>
                <a:latin typeface="Aptos ExtraBold" panose="020B0004020202020204" pitchFamily="34" charset="0"/>
              </a:rPr>
              <a:t>Software Development 1</a:t>
            </a:r>
          </a:p>
        </p:txBody>
      </p:sp>
      <p:sp>
        <p:nvSpPr>
          <p:cNvPr id="8" name="Content Placeholder 2">
            <a:extLst>
              <a:ext uri="{FF2B5EF4-FFF2-40B4-BE49-F238E27FC236}">
                <a16:creationId xmlns:a16="http://schemas.microsoft.com/office/drawing/2014/main" id="{3556E629-A092-313A-245F-87CCA20EFE1C}"/>
              </a:ext>
            </a:extLst>
          </p:cNvPr>
          <p:cNvSpPr txBox="1">
            <a:spLocks/>
          </p:cNvSpPr>
          <p:nvPr/>
        </p:nvSpPr>
        <p:spPr>
          <a:xfrm>
            <a:off x="1681480" y="2089574"/>
            <a:ext cx="7223760" cy="402336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 name="Title 1">
            <a:extLst>
              <a:ext uri="{FF2B5EF4-FFF2-40B4-BE49-F238E27FC236}">
                <a16:creationId xmlns:a16="http://schemas.microsoft.com/office/drawing/2014/main" id="{5E4381F4-C384-7795-00CC-E8F968D916B6}"/>
              </a:ext>
            </a:extLst>
          </p:cNvPr>
          <p:cNvSpPr txBox="1">
            <a:spLocks/>
          </p:cNvSpPr>
          <p:nvPr/>
        </p:nvSpPr>
        <p:spPr>
          <a:xfrm>
            <a:off x="838199" y="583179"/>
            <a:ext cx="9672264" cy="51410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dirty="0">
                <a:latin typeface="Helvetica Neue" panose="02000503000000020004" pitchFamily="2" charset="0"/>
                <a:ea typeface="Helvetica Neue" panose="02000503000000020004" pitchFamily="2" charset="0"/>
                <a:cs typeface="Helvetica Neue" panose="02000503000000020004" pitchFamily="2" charset="0"/>
              </a:rPr>
              <a:t>Summary</a:t>
            </a:r>
            <a:endParaRPr lang="en-GB" sz="2800" b="1" dirty="0">
              <a:solidFill>
                <a:srgbClr val="00B0F0"/>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TextBox 3">
            <a:extLst>
              <a:ext uri="{FF2B5EF4-FFF2-40B4-BE49-F238E27FC236}">
                <a16:creationId xmlns:a16="http://schemas.microsoft.com/office/drawing/2014/main" id="{148177C3-6D53-92B4-4D44-A219A0546A0D}"/>
              </a:ext>
            </a:extLst>
          </p:cNvPr>
          <p:cNvSpPr txBox="1"/>
          <p:nvPr/>
        </p:nvSpPr>
        <p:spPr>
          <a:xfrm>
            <a:off x="840422" y="1418200"/>
            <a:ext cx="10682606" cy="3416320"/>
          </a:xfrm>
          <a:prstGeom prst="rect">
            <a:avLst/>
          </a:prstGeom>
          <a:noFill/>
        </p:spPr>
        <p:txBody>
          <a:bodyPr wrap="square">
            <a:spAutoFit/>
          </a:bodyPr>
          <a:lstStyle/>
          <a:p>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while loop vs for loop </a:t>
            </a:r>
          </a:p>
          <a:p>
            <a:pPr marL="342900" indent="-342900">
              <a:buFont typeface="Arial" panose="020B0604020202020204" pitchFamily="34" charset="0"/>
              <a:buChar char="•"/>
            </a:pPr>
            <a:r>
              <a:rPr lang="en-GB" sz="2400" dirty="0">
                <a:latin typeface="Helvetica Neue" panose="02000503000000020004" pitchFamily="2" charset="0"/>
                <a:ea typeface="Helvetica Neue" panose="02000503000000020004" pitchFamily="2" charset="0"/>
                <a:cs typeface="Helvetica Neue" panose="02000503000000020004" pitchFamily="2" charset="0"/>
              </a:rPr>
              <a:t>w</a:t>
            </a: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hile loop - </a:t>
            </a:r>
            <a:r>
              <a:rPr lang="en-GB" sz="2400" b="1" dirty="0">
                <a:effectLst/>
                <a:latin typeface="Helvetica Neue" panose="02000503000000020004" pitchFamily="2" charset="0"/>
                <a:ea typeface="Helvetica Neue" panose="02000503000000020004" pitchFamily="2" charset="0"/>
                <a:cs typeface="Helvetica Neue" panose="02000503000000020004" pitchFamily="2" charset="0"/>
              </a:rPr>
              <a:t>condition controlled </a:t>
            </a:r>
          </a:p>
          <a:p>
            <a:pPr marL="342900" indent="-342900">
              <a:buFont typeface="Arial" panose="020B0604020202020204" pitchFamily="34" charset="0"/>
              <a:buChar char="•"/>
            </a:pP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for loop - </a:t>
            </a:r>
            <a:r>
              <a:rPr lang="en-GB" sz="2400" b="1" dirty="0">
                <a:effectLst/>
                <a:latin typeface="Helvetica Neue" panose="02000503000000020004" pitchFamily="2" charset="0"/>
                <a:ea typeface="Helvetica Neue" panose="02000503000000020004" pitchFamily="2" charset="0"/>
                <a:cs typeface="Helvetica Neue" panose="02000503000000020004" pitchFamily="2" charset="0"/>
              </a:rPr>
              <a:t>count controlled </a:t>
            </a:r>
            <a:endParaRPr lang="en-GB" sz="2400" dirty="0">
              <a:effectLst/>
              <a:latin typeface="Helvetica Neue" panose="02000503000000020004" pitchFamily="2" charset="0"/>
              <a:ea typeface="Helvetica Neue" panose="02000503000000020004" pitchFamily="2" charset="0"/>
              <a:cs typeface="Helvetica Neue" panose="02000503000000020004" pitchFamily="2" charset="0"/>
            </a:endParaRPr>
          </a:p>
          <a:p>
            <a:endParaRPr lang="en-GB" sz="2400" dirty="0">
              <a:effectLst/>
              <a:latin typeface="Helvetica Neue" panose="02000503000000020004" pitchFamily="2" charset="0"/>
              <a:ea typeface="Helvetica Neue" panose="02000503000000020004" pitchFamily="2" charset="0"/>
              <a:cs typeface="Helvetica Neue" panose="02000503000000020004" pitchFamily="2" charset="0"/>
            </a:endParaRPr>
          </a:p>
          <a:p>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Use of continue: </a:t>
            </a:r>
          </a:p>
          <a:p>
            <a:pPr marL="342900" indent="-342900">
              <a:buFont typeface="Arial" panose="020B0604020202020204" pitchFamily="34" charset="0"/>
              <a:buChar char="•"/>
            </a:pPr>
            <a:r>
              <a:rPr lang="en-GB" sz="2400" dirty="0">
                <a:solidFill>
                  <a:srgbClr val="070721"/>
                </a:solidFill>
                <a:effectLst/>
                <a:latin typeface="Helvetica Neue" panose="02000503000000020004" pitchFamily="2" charset="0"/>
                <a:ea typeface="Helvetica Neue" panose="02000503000000020004" pitchFamily="2" charset="0"/>
                <a:cs typeface="Helvetica Neue" panose="02000503000000020004" pitchFamily="2" charset="0"/>
              </a:rPr>
              <a:t>skips the current iteration and goes to the next iteration of the loop </a:t>
            </a:r>
            <a:endParaRPr lang="en-GB" sz="2400" dirty="0">
              <a:effectLst/>
              <a:latin typeface="Helvetica Neue" panose="02000503000000020004" pitchFamily="2" charset="0"/>
              <a:ea typeface="Helvetica Neue" panose="02000503000000020004" pitchFamily="2" charset="0"/>
              <a:cs typeface="Helvetica Neue" panose="02000503000000020004" pitchFamily="2" charset="0"/>
            </a:endParaRPr>
          </a:p>
          <a:p>
            <a:endParaRPr lang="en-GB" sz="2400" dirty="0">
              <a:effectLst/>
              <a:latin typeface="Helvetica Neue" panose="02000503000000020004" pitchFamily="2" charset="0"/>
              <a:ea typeface="Helvetica Neue" panose="02000503000000020004" pitchFamily="2" charset="0"/>
              <a:cs typeface="Helvetica Neue" panose="02000503000000020004" pitchFamily="2" charset="0"/>
            </a:endParaRPr>
          </a:p>
          <a:p>
            <a:pPr marL="342900" indent="-342900">
              <a:buFont typeface="Arial" panose="020B0604020202020204" pitchFamily="34" charset="0"/>
              <a:buChar char="•"/>
            </a:pP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Use of break:</a:t>
            </a:r>
            <a:br>
              <a:rPr lang="en-GB" sz="2400" dirty="0">
                <a:effectLst/>
                <a:latin typeface="Helvetica Neue" panose="02000503000000020004" pitchFamily="2" charset="0"/>
                <a:ea typeface="Helvetica Neue" panose="02000503000000020004" pitchFamily="2" charset="0"/>
                <a:cs typeface="Helvetica Neue" panose="02000503000000020004" pitchFamily="2" charset="0"/>
              </a:rPr>
            </a:b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terminates the loop execution. </a:t>
            </a:r>
          </a:p>
        </p:txBody>
      </p:sp>
    </p:spTree>
    <p:extLst>
      <p:ext uri="{BB962C8B-B14F-4D97-AF65-F5344CB8AC3E}">
        <p14:creationId xmlns:p14="http://schemas.microsoft.com/office/powerpoint/2010/main" val="31907682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CE3F3E2-EF0C-DD60-7C29-2D13C930E4B5}"/>
              </a:ext>
            </a:extLst>
          </p:cNvPr>
          <p:cNvSpPr/>
          <p:nvPr/>
        </p:nvSpPr>
        <p:spPr>
          <a:xfrm>
            <a:off x="0" y="4099389"/>
            <a:ext cx="375920" cy="2270931"/>
          </a:xfrm>
          <a:prstGeom prst="rect">
            <a:avLst/>
          </a:prstGeom>
          <a:solidFill>
            <a:srgbClr val="FF9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B0F0"/>
              </a:solidFill>
            </a:endParaRPr>
          </a:p>
        </p:txBody>
      </p:sp>
      <p:sp>
        <p:nvSpPr>
          <p:cNvPr id="7" name="TextBox 6">
            <a:extLst>
              <a:ext uri="{FF2B5EF4-FFF2-40B4-BE49-F238E27FC236}">
                <a16:creationId xmlns:a16="http://schemas.microsoft.com/office/drawing/2014/main" id="{99519C99-AA9F-E95C-13AB-EA3546581D88}"/>
              </a:ext>
            </a:extLst>
          </p:cNvPr>
          <p:cNvSpPr txBox="1"/>
          <p:nvPr/>
        </p:nvSpPr>
        <p:spPr>
          <a:xfrm rot="16200000">
            <a:off x="-930350" y="5043232"/>
            <a:ext cx="2246881" cy="276999"/>
          </a:xfrm>
          <a:prstGeom prst="rect">
            <a:avLst/>
          </a:prstGeom>
          <a:noFill/>
        </p:spPr>
        <p:txBody>
          <a:bodyPr wrap="square" rtlCol="0">
            <a:spAutoFit/>
          </a:bodyPr>
          <a:lstStyle/>
          <a:p>
            <a:r>
              <a:rPr lang="en-US" sz="1200" b="1" dirty="0">
                <a:solidFill>
                  <a:schemeClr val="bg1"/>
                </a:solidFill>
                <a:latin typeface="Aptos ExtraBold" panose="020B0004020202020204" pitchFamily="34" charset="0"/>
              </a:rPr>
              <a:t>Software Development 1</a:t>
            </a:r>
          </a:p>
        </p:txBody>
      </p:sp>
      <p:sp>
        <p:nvSpPr>
          <p:cNvPr id="8" name="Content Placeholder 2">
            <a:extLst>
              <a:ext uri="{FF2B5EF4-FFF2-40B4-BE49-F238E27FC236}">
                <a16:creationId xmlns:a16="http://schemas.microsoft.com/office/drawing/2014/main" id="{3556E629-A092-313A-245F-87CCA20EFE1C}"/>
              </a:ext>
            </a:extLst>
          </p:cNvPr>
          <p:cNvSpPr txBox="1">
            <a:spLocks/>
          </p:cNvSpPr>
          <p:nvPr/>
        </p:nvSpPr>
        <p:spPr>
          <a:xfrm>
            <a:off x="1681480" y="2089574"/>
            <a:ext cx="7223760" cy="402336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 name="Title 1">
            <a:extLst>
              <a:ext uri="{FF2B5EF4-FFF2-40B4-BE49-F238E27FC236}">
                <a16:creationId xmlns:a16="http://schemas.microsoft.com/office/drawing/2014/main" id="{5E4381F4-C384-7795-00CC-E8F968D916B6}"/>
              </a:ext>
            </a:extLst>
          </p:cNvPr>
          <p:cNvSpPr txBox="1">
            <a:spLocks/>
          </p:cNvSpPr>
          <p:nvPr/>
        </p:nvSpPr>
        <p:spPr>
          <a:xfrm>
            <a:off x="838199" y="583179"/>
            <a:ext cx="9672264" cy="51410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dirty="0">
                <a:latin typeface="Helvetica Neue" panose="02000503000000020004" pitchFamily="2" charset="0"/>
                <a:ea typeface="Helvetica Neue" panose="02000503000000020004" pitchFamily="2" charset="0"/>
                <a:cs typeface="Helvetica Neue" panose="02000503000000020004" pitchFamily="2" charset="0"/>
              </a:rPr>
              <a:t>Sentinel Values</a:t>
            </a:r>
            <a:endParaRPr lang="en-GB" sz="2800" b="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TextBox 3">
            <a:extLst>
              <a:ext uri="{FF2B5EF4-FFF2-40B4-BE49-F238E27FC236}">
                <a16:creationId xmlns:a16="http://schemas.microsoft.com/office/drawing/2014/main" id="{148177C3-6D53-92B4-4D44-A219A0546A0D}"/>
              </a:ext>
            </a:extLst>
          </p:cNvPr>
          <p:cNvSpPr txBox="1"/>
          <p:nvPr/>
        </p:nvSpPr>
        <p:spPr>
          <a:xfrm>
            <a:off x="833119" y="1195786"/>
            <a:ext cx="9668193" cy="5921313"/>
          </a:xfrm>
          <a:prstGeom prst="rect">
            <a:avLst/>
          </a:prstGeom>
          <a:noFill/>
        </p:spPr>
        <p:txBody>
          <a:bodyPr wrap="square">
            <a:spAutoFit/>
          </a:bodyPr>
          <a:lstStyle/>
          <a:p>
            <a:pPr marL="342900" indent="-342900">
              <a:buFont typeface="Arial" panose="020B0604020202020204" pitchFamily="34" charset="0"/>
              <a:buChar char="•"/>
            </a:pP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A </a:t>
            </a:r>
            <a:r>
              <a:rPr lang="en-GB" sz="2400" b="1" dirty="0">
                <a:effectLst/>
                <a:latin typeface="Helvetica Neue" panose="02000503000000020004" pitchFamily="2" charset="0"/>
                <a:ea typeface="Helvetica Neue" panose="02000503000000020004" pitchFamily="2" charset="0"/>
                <a:cs typeface="Helvetica Neue" panose="02000503000000020004" pitchFamily="2" charset="0"/>
              </a:rPr>
              <a:t>sentinel value </a:t>
            </a: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can guarantee termination of a loop when processing sequential data. The </a:t>
            </a:r>
            <a:r>
              <a:rPr lang="en-GB" sz="2400" b="1" dirty="0">
                <a:effectLst/>
                <a:latin typeface="Helvetica Neue" panose="02000503000000020004" pitchFamily="2" charset="0"/>
                <a:ea typeface="Helvetica Neue" panose="02000503000000020004" pitchFamily="2" charset="0"/>
                <a:cs typeface="Helvetica Neue" panose="02000503000000020004" pitchFamily="2" charset="0"/>
              </a:rPr>
              <a:t>sentinel value </a:t>
            </a: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can detect the end of the data set when there is no other means to do so. </a:t>
            </a:r>
          </a:p>
          <a:p>
            <a:pPr marL="342900" indent="-342900">
              <a:buFont typeface="Arial" panose="020B0604020202020204" pitchFamily="34" charset="0"/>
              <a:buChar char="•"/>
            </a:pP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It denotes the end of a data set, but it is not part of the data. </a:t>
            </a:r>
          </a:p>
          <a:p>
            <a:pPr marL="342900" indent="-342900">
              <a:buFont typeface="Arial" panose="020B0604020202020204" pitchFamily="34" charset="0"/>
              <a:buChar char="•"/>
            </a:pPr>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What value will end this loop?</a:t>
            </a:r>
          </a:p>
          <a:p>
            <a:pPr marL="342900" indent="-342900">
              <a:buFont typeface="Arial" panose="020B0604020202020204" pitchFamily="34" charset="0"/>
              <a:buChar char="•"/>
            </a:pPr>
            <a:endParaRPr lang="en-GB" sz="2400" dirty="0">
              <a:latin typeface="Helvetica Neue" panose="02000503000000020004" pitchFamily="2" charset="0"/>
              <a:ea typeface="Helvetica Neue" panose="02000503000000020004" pitchFamily="2" charset="0"/>
              <a:cs typeface="Helvetica Neue" panose="02000503000000020004" pitchFamily="2" charset="0"/>
            </a:endParaRPr>
          </a:p>
          <a:p>
            <a:r>
              <a:rPr lang="en-GB" sz="2400" dirty="0">
                <a:effectLst/>
                <a:latin typeface="CourierNewPSMT" panose="02070309020205020404" pitchFamily="49" charset="0"/>
              </a:rPr>
              <a:t>salary = 0.0 </a:t>
            </a:r>
          </a:p>
          <a:p>
            <a:r>
              <a:rPr lang="en-GB" sz="2400" dirty="0">
                <a:effectLst/>
                <a:latin typeface="CourierNewPSMT" panose="02070309020205020404" pitchFamily="49" charset="0"/>
              </a:rPr>
              <a:t>while salary &gt;= 0 : </a:t>
            </a:r>
          </a:p>
          <a:p>
            <a:r>
              <a:rPr lang="en-GB" sz="2400" dirty="0">
                <a:latin typeface="CourierNewPSMT" panose="02070309020205020404" pitchFamily="49" charset="0"/>
              </a:rPr>
              <a:t>	</a:t>
            </a:r>
            <a:r>
              <a:rPr lang="en-GB" sz="2400" dirty="0">
                <a:effectLst/>
                <a:latin typeface="CourierNewPSMT" panose="02070309020205020404" pitchFamily="49" charset="0"/>
              </a:rPr>
              <a:t>salary = float(input()) </a:t>
            </a:r>
          </a:p>
          <a:p>
            <a:r>
              <a:rPr lang="en-GB" sz="2400" dirty="0">
                <a:latin typeface="CourierNewPSMT" panose="02070309020205020404" pitchFamily="49" charset="0"/>
              </a:rPr>
              <a:t>	</a:t>
            </a:r>
            <a:r>
              <a:rPr lang="en-GB" sz="2400" dirty="0">
                <a:effectLst/>
                <a:latin typeface="CourierNewPSMT" panose="02070309020205020404" pitchFamily="49" charset="0"/>
              </a:rPr>
              <a:t>if salary &gt;= 0 : </a:t>
            </a:r>
          </a:p>
          <a:p>
            <a:r>
              <a:rPr lang="en-GB" sz="2400" dirty="0">
                <a:latin typeface="CourierNewPSMT" panose="02070309020205020404" pitchFamily="49" charset="0"/>
              </a:rPr>
              <a:t>		</a:t>
            </a:r>
            <a:r>
              <a:rPr lang="en-GB" sz="2400" dirty="0">
                <a:effectLst/>
                <a:latin typeface="CourierNewPSMT" panose="02070309020205020404" pitchFamily="49" charset="0"/>
              </a:rPr>
              <a:t>total = total + salary </a:t>
            </a:r>
          </a:p>
          <a:p>
            <a:r>
              <a:rPr lang="en-GB" sz="2400" dirty="0">
                <a:latin typeface="CourierNewPSMT" panose="02070309020205020404" pitchFamily="49" charset="0"/>
              </a:rPr>
              <a:t>		</a:t>
            </a:r>
            <a:r>
              <a:rPr lang="en-GB" sz="2400" dirty="0">
                <a:effectLst/>
                <a:latin typeface="CourierNewPSMT" panose="02070309020205020404" pitchFamily="49" charset="0"/>
              </a:rPr>
              <a:t>count = count + 1 </a:t>
            </a:r>
            <a:endParaRPr lang="en-GB" sz="2400" dirty="0">
              <a:effectLst/>
            </a:endParaRPr>
          </a:p>
          <a:p>
            <a:r>
              <a:rPr lang="en-GB" sz="2400" dirty="0">
                <a:effectLst/>
                <a:latin typeface="Helvetica Neue" panose="02000503000000020004" pitchFamily="2" charset="0"/>
                <a:ea typeface="Helvetica Neue" panose="02000503000000020004" pitchFamily="2" charset="0"/>
                <a:cs typeface="Helvetica Neue" panose="02000503000000020004" pitchFamily="2" charset="0"/>
              </a:rPr>
              <a:t> </a:t>
            </a:r>
          </a:p>
        </p:txBody>
      </p:sp>
    </p:spTree>
    <p:extLst>
      <p:ext uri="{BB962C8B-B14F-4D97-AF65-F5344CB8AC3E}">
        <p14:creationId xmlns:p14="http://schemas.microsoft.com/office/powerpoint/2010/main" val="17580772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369</TotalTime>
  <Words>1929</Words>
  <Application>Microsoft Macintosh PowerPoint</Application>
  <PresentationFormat>Widescreen</PresentationFormat>
  <Paragraphs>280</Paragraphs>
  <Slides>23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Aptos ExtraBold</vt:lpstr>
      <vt:lpstr>Arial</vt:lpstr>
      <vt:lpstr>ArialMT</vt:lpstr>
      <vt:lpstr>Calibri</vt:lpstr>
      <vt:lpstr>Calibri Light</vt:lpstr>
      <vt:lpstr>Courier New</vt:lpstr>
      <vt:lpstr>CourierNewPS</vt:lpstr>
      <vt:lpstr>CourierNewPSMT</vt:lpstr>
      <vt:lpstr>Helvetica 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Stephen Sean Roberts</dc:creator>
  <cp:lastModifiedBy>Stephen Sean Roberts</cp:lastModifiedBy>
  <cp:revision>7</cp:revision>
  <dcterms:created xsi:type="dcterms:W3CDTF">2025-09-02T11:28:24Z</dcterms:created>
  <dcterms:modified xsi:type="dcterms:W3CDTF">2025-09-10T14:52:00Z</dcterms:modified>
</cp:coreProperties>
</file>