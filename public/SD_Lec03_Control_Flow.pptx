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56" r:id="rId2"/>
    <p:sldId id="258" r:id="rId3"/>
    <p:sldId id="259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0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5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00"/>
    <p:restoredTop sz="96405"/>
  </p:normalViewPr>
  <p:slideViewPr>
    <p:cSldViewPr snapToGrid="0">
      <p:cViewPr varScale="1">
        <p:scale>
          <a:sx n="125" d="100"/>
          <a:sy n="125" d="100"/>
        </p:scale>
        <p:origin x="168" y="208"/>
      </p:cViewPr>
      <p:guideLst>
        <p:guide orient="horz" pos="1207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15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211 119 24575,'0'7'0,"0"3"0,0 4 0,0 3 0,0 3 0,0 0 0,0 0 0,0 0 0,0 0 0,0 0 0,0-1 0,0-1 0,0 0 0,0-1 0,0 3 0,0 3 0,0 1 0,0 0 0,0-3 0,0 0 0,0 0 0,0-3 0,0-1 0,0 0 0,0 1 0,0 0 0,0-1 0,0 0 0,0-2 0,0 2 0,0-1 0,0-1 0,0 1 0,0 0 0,0 0 0,0 1 0,0-2 0,0 0 0,0 2 0,0-2 0,0 2 0,0-3 0,0 1 0,0-1 0,0 0 0,0 1 0,0-4 0,2 3 0,2-2 0,1-1 0,1 0 0,0-2 0,-2-1 0,2 0 0,0 0 0,-1-1 0,1 0 0,-1-1 0,0 1 0,0 1 0,0 0 0,-1 0 0,1 0 0,0-1 0,1-1 0,2 0 0,0 1 0,0 1 0,0 0 0,0 0 0,0 0 0,0-2 0,0 0 0,0-1 0,0 2 0,0-1 0,0-1 0,-1 0 0,0-1 0,0 1 0,0 0 0,1 0 0,0 1 0,2 0 0,1-1 0,3 2 0,0-1 0,-2 1 0,1 2 0,-1 0 0,0-1 0,-2 1 0,-1-3 0,-1 0 0,0-1 0,0-1 0,0 0 0,0 0 0,-1 1 0,-2 1 0,-3 0 0,-3-3 0,-1-2 0,-2-3 0,-2 0 0,2-1 0,-2 0 0,1 0 0,-1 0 0,-1 0 0,-1 2 0,1-3 0,0 2 0,-1-1 0,1-1 0,0 3 0,0-2 0,0-1 0,-2 1 0,-4-3 0,-3-1 0,-1 2 0,-3-3 0,-1 0 0,-1 0 0,-4-3 0,1-1 0,0-2 0,1 1 0,5-2 0,1 2 0,3 0 0,2 2 0,2 2 0,5 1 0,0 0 0,0 2 0,2 0 0,-2 0 0,2 0 0,0-2 0,1 1 0,-1 0 0,1 0 0,-1-1 0,0 0 0,1 0 0,0 0 0,1 0 0,-1 0 0,1-1 0,2 1 0,-2 0 0,0 0 0,0 0 0,0 0 0,0 0 0,0 0 0,0 0 0,-2-1 0,2-1 0,-1-2 0,-1-3 0,1-2 0,-2-3 0,0 0 0,2 0 0,-2-1 0,2-2 0,0-2 0,1 1 0,2-1 0,-3 1 0,0 2 0,-1-3 0,2 3 0,1 3 0,1-1 0,0 3 0,0-1 0,0 0 0,0 3 0,0 0 0,0-1 0,0-2 0,0 1 0,2 0 0,1-1 0,1 1 0,1-1 0,0 1 0,2 0 0,-2-2 0,3-1 0,-3 0 0,-1 2 0,1 1 0,-1 3 0,2 0 0,-1-3 0,1 3 0,1-3 0,-1 4 0,0 1 0,-1-1 0,0 3 0,2-3 0,1 3 0,0 0 0,0 1 0,1 2 0,-1 0 0,0 1 0,0 0 0,0 1 0,0 0 0,1 0 0,-1 3 0,0 0 0,-1 2 0,1 0 0,0-1 0,-1 1 0,-1 0 0,1 0 0,0 0 0,1 0 0,-1 0 0,-1 2 0,-2 1 0,-6 2 0,-6 2 0,-9 7 0,0-2 0,-4 7 0,4-4 0,1 0 0,1-1 0,2-2 0,0 2 0,0-2 0,2 0 0,-1 2 0,1-3 0,-1 1 0,1 1 0,2-2 0,1 0 0,-1 0 0,1-3 0,0 0 0,0 0 0,2 0 0,0 0 0,0 0 0,0 0 0,-2-1 0,2 1 0,0 0 0,2-1 0,1 1 0,-1 0 0,-1 0 0,1 0 0,2 0 0,-2 0 0,2 0 0,-1 0 0,2 2 0,-2 4 0,1 0 0,-1 0 0,-1 1 0,2 0 0,-1 1 0,1 1 0,1 0 0,-1 0 0,-1 3 0,1 0 0,-1 0 0,3 1 0,0-1 0,0 0 0,0 1 0,-1-1 0,1 0 0,0 1 0,0-1 0,0 0 0,2-1 0,4 5 0,0 0 0,1 0 0,0-4 0,-1-3 0,2-1 0,1 1 0,-1 2 0,-1-3 0,0 1 0,-1-2 0,3-1 0,-1 0 0,-2-2 0,1 2 0,0-2 0,2-1 0,-1 0 0,0-3 0,0 1 0,0-1 0,0-1 0,0 1 0,-1 0 0,0-1 0,2 0 0,1-1 0,3 1 0,2 0 0,2-1 0,1 0 0,-1 1 0,-3-1 0,1 0 0,-1 1 0,-2-2 0,-1 2 0,-2-2 0,-1 0 0,1 1 0,-1-2 0,0 0 0,0 0 0,-2 0 0,-1-1 0,-3-1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18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24575,'8'0'0,"7"2"0,2 2 0,6 4 0,1 3 0,-4 1 0,1 3 0,-2 0 0,-1-2 0,-1 1 0,0-2 0,-1 3 0,1 0 0,0-2 0,-2 1 0,2-2 0,-3 1 0,-3 0 0,1-3 0,-1 3 0,2 1 0,1 1 0,-1 1 0,-1-1 0,0 0 0,0-1 0,0 0 0,1 3 0,0-2 0,-1 2 0,0-3 0,-3-2 0,0 2 0,-1-3 0,1 1 0,2 1 0,0-2 0,0 0 0,-1-1 0,-3-3 0,0 0 0,1 2 0,0 2 0,-1 0 0,0 2 0,0-2 0,-2 3 0,1 0 0,-1 1 0,-1 1 0,1-1 0,-2 2 0,1 0 0,-1-2 0,0 2 0,-1-3 0,-2 0 0,0 0 0,0-3 0,0 0 0,0-3 0,0 2 0,0 0 0,0 1 0,0 1 0,0 0 0,0 1 0,0-1 0,0 2 0,0 2 0,0-1 0,0 2 0,-1-3 0,-2-2 0,-1 2 0,0-3 0,-1 1 0,0-1 0,1-3 0,0 0 0,0 0 0,-2 3 0,1 0 0,-2 0 0,2-1 0,1-3 0,-1 0 0,1 0 0,-1 1 0,1 0 0,0 0 0,0 0 0,-1-1 0,2-2 0,0 1 0,0-1 0,0 0 0,1 1 0,-2-1 0,2 0 0,-2 1 0,0 0 0,1 1 0,-2 0 0,1 0 0,-1 0 0,0 1 0,1-2 0,0 0 0,1 0 0,0-1 0,0 1 0,-1-2 0,0 0 0,2 2 0,-2-2 0,2 2 0,-3-2 0,0 0 0,0 2 0,-1 0 0,3 1 0,-1-1 0,1-2 0,-1 0 0,-2 0 0,0 1 0,-1 1 0,0 1 0,2 0 0,-1-2 0,1 0 0,-1-1 0,0 0 0,1 0 0,0-1 0,0 1 0,0-4 0,3-2 0,4-2 0,5-3 0,3 1 0,-1 0 0,-2 3 0,-4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23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24575,'0'13'0,"0"3"0,0 4 0,0 2 0,0-1 0,0-1 0,2-2 0,0 0 0,0-4 0,0-2 0,-2 0 0,0-1 0,0 0 0,0 3 0,0 0 0,0-3 0,0 2 0,0-2 0,0 1 0,0 0 0,1-2 0,1 1 0,0-2 0,0-1 0,-2 0 0,0 3 0,0 0 0,2 1 0,0-2 0,0-1 0,0 0 0,-2-1 0,0 0 0,0 0 0,0 0 0,0 0 0,0 0 0,2 3 0,1 0 0,0 3 0,-1-1 0,-2-3 0,0-1 0,0-1 0,1-2 0,1 0 0,0-2 0,0-5 0,-2-1 0,0-5 0,0 1 0,0-2 0,0-1 0,0 1 0,0-1 0,0 1 0,0-1 0,0 1 0,0 0 0,0 0 0,0 0 0,0 0 0,0 0 0,0 1 0,0 0 0,0 0 0,0-1 0,0 0 0,0 0 0,0 0 0,0 0 0,0 0 0,0 0 0,0 0 0,0 0 0,0 0 0,0 0 0,2 0 0,2 0 0,0 0 0,1 1 0,-1 0 0,1 0 0,2 0 0,0-1 0,-1 2 0,-1 0 0,1 0 0,2 1 0,-1 0 0,2 0 0,-1 2 0,0-1 0,1 2 0,-1-1 0,0 1 0,0 2 0,0 0 0,0 0 0,0 0 0,0 0 0,0 0 0,-1 0 0,2 0 0,1 0 0,0 0 0,3 0 0,-2 0 0,3 0 0,0 0 0,-2 0 0,-1 0 0,-2 2 0,0 1 0,-1 2 0,3 1 0,0 0 0,0 1 0,0 1 0,-3 0 0,1 3 0,0 3 0,0 3 0,1 0 0,-1-1 0,0 1 0,0-2 0,-1 3 0,-1-3 0,0 0 0,-2 2 0,0-2 0,0 2 0,-2-2 0,-1-3 0,-2 2 0,0-3 0,0 1 0,0 1 0,0-1 0,0 2 0,0 0 0,0-2 0,0-2 0,0-2 0,0 0 0,0-1 0,2 0 0,0 0 0,1-1 0,-1-1 0,0-3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26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48 558 24575,'0'-8'0,"0"-3"0,0 0 0,0-2 0,0-1 0,0 2 0,0 0 0,-5 1 0,0 0 0,-1-1 0,2 2 0,4 2 0,0 0 0,0 1 0,0-2 0,0 0 0,0-3 0,0 2 0,-2 1 0,0 0 0,0 1 0,0-3 0,2 0 0,0-3 0,-1 0 0,-1 0 0,0-1 0,-1 3 0,1 1 0,1 3 0,1 0 0,-2 0 0,0 0 0,0-1 0,0 1 0,2 1 0,0-1 0,0 1 0,0-3 0,0 0 0,0-1 0,0 0 0,0 0 0,0-1 0,2-2 0,2 0 0,2 3 0,5-1 0,3 3 0,3-1 0,3-1 0,0 4 0,-3 1 0,0 4 0,-1 0 0,-1-1 0,-1 0 0,0 1 0,-1 2 0,2 0 0,-1 0 0,1 0 0,-1 0 0,-2 0 0,2 0 0,-2 0 0,-1 0 0,0 0 0,-2 0 0,0 0 0,-1 0 0,0 0 0,0 0 0,3 0 0,0 0 0,1 0 0,-2 0 0,-2 0 0,3 2 0,-1 1 0,1 1 0,-1 2 0,-3-2 0,1 1 0,-1 0 0,2 0 0,-1 1 0,0-1 0,1 2 0,-2 1 0,1 0 0,1 0 0,-2 0 0,2 0 0,1 3 0,2 0 0,-1 3 0,1 2 0,-3 2 0,1-1 0,-1-1 0,-1-1 0,1-1 0,-3 2 0,-1-3 0,0 0 0,-1 0 0,-1 1 0,-1 0 0,-1-2 0,-1 1 0,0-1 0,0 0 0,0-1 0,0-3 0,0 1 0,0-1 0,0 0 0,0 0 0,0 0 0,0 0 0,-2 0 0,0 0 0,-2-2 0,1-1 0,0 0 0,-3 0 0,0 2 0,-2 0 0,1-1 0,1-2 0,0 0 0,1 1 0,-2-1 0,1 2 0,0-3 0,2 1 0,0 0 0,-2 0 0,0 2 0,-1-2 0,2 1 0,0-2 0,0 1 0,-1 1 0,-1-1 0,0 2 0,2-2 0,-1 0 0,0 0 0,-2-2 0,1-1 0,-1-1 0,1 0 0,0 0 0,-1 0 0,-5 0 0,0 0 0,-1 0 0,0 0 0,1 0 0,0 0 0,-1 0 0,-2 0 0,0 0 0,1-1 0,3-1 0,1-3 0,0 1 0,1-1 0,1 1 0,3-1 0,0-1 0,-2 0 0,1-1 0,0 2 0,2 0 0,0 0 0,0-1 0,1-1 0,-1 1 0,-1 1 0,2-1 0,-2 0 0,0-2 0,2 1 0,0 0 0,3 0 0,1-1 0,0 1 0,0 1 0,0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28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24575,'18'0'0,"18"0"0,27 0 0,5 0 0,-4 0 0,1 0 0,-11 0 0,6 0 0,-7 0 0,-14 0 0,-6 0 0,-11 0 0,-6 0 0,-6 0 0,-3 1 0,-2-1 0,-3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30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24575,'0'12'0,"0"2"0,0 0 0,0 3 0,0 5 0,0 1 0,0 1 0,0 0 0,0 0 0,0 2 0,0 2 0,0 1 0,0 0 0,0 2 0,0 2 0,0-1 0,0-1 0,0 0 0,0-3 0,0 1 0,0-2 0,0 4 0,0 0 0,0 3 0,2-2 0,0-3 0,1 5 0,0 0 0,0-1 0,0 0 0,0-3 0,1-4 0,2 1 0,-1-6 0,1 1 0,-2-5 0,-1-2 0,1-1 0,0-3 0,0-1 0,-1-3 0,1 0 0,0 0 0,-1 0 0,0 1 0,1 0 0,0 0 0,0 0 0,2 1 0,-2-1 0,2 0 0,-2 0 0,0 0 0,0 0 0,0 0 0,0 0 0,0 1 0,2-2 0,-1 1 0,3-1 0,0-1 0,1-2 0,0-3 0,-1-1 0,0 0 0,-1 0 0,1 0 0,0 0 0,-1 0 0,1 0 0,-1 0 0,0 0 0,-1 0 0,-1-1 0,-1-2 0,-3-3 0,1-1 0,-1 1 0,1-1 0,0 0 0,-1 2 0,1 0 0,0 0 0,-1-1 0,1-1 0,0-1 0,0 1 0,1-1 0,-1 0 0,2 1 0,-2 3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34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0 24575,'-8'0'0,"-2"0"0,-3 0 0,-3 0 0,-8 0 0,0 0 0,-2 0 0,4 0 0,5 2 0,0 1 0,0 2 0,-3 2 0,-1 0 0,0 1 0,3 1 0,0 0 0,3 0 0,3 0 0,0 0 0,3 2 0,0 0 0,0 0 0,2 3 0,1-3 0,2 4 0,0-2 0,0 1 0,-1 3 0,1-2 0,1 5 0,1 3 0,2 2 0,0 8 0,0-1 0,0-2 0,0 2 0,0-1 0,0 2 0,0 4 0,0-4 0,0-2 0,0-3 0,0-4 0,0 0 0,0-6 0,0-1 0,1-3 0,3-2 0,3 1 0,1-2 0,1 0 0,-2-1 0,0-4 0,0-1 0,0-2 0,3 0 0,1-1 0,0-1 0,2-1 0,-2 0 0,3 0 0,1 0 0,-1 0 0,3 0 0,0 0 0,3 0 0,0 0 0,1 0 0,-1 0 0,0-2 0,-3-3 0,0-2 0,-4-2 0,-1 1 0,2 0 0,-4 0 0,0 0 0,-1 0 0,-2 1 0,2-2 0,-1 0 0,1 1 0,-3 0 0,-2 0 0,0-2 0,-1-2 0,0 1 0,1-3 0,-1 2 0,0-2 0,-1-2 0,-2-2 0,0-2 0,0 1 0,0-1 0,0 2 0,0 1 0,2 0 0,0 0 0,0-1 0,1-3 0,-1-3 0,2-1 0,-1 0 0,0 1 0,-3 3 0,0 3 0,0 0 0,0 3 0,0 0 0,0-2 0,0 2 0,0 0 0,0 2 0,0 1 0,0-2 0,0-3 0,0-1 0,0 1 0,0 1 0,0 5 0,0 2 0,0 0 0,0 2 0,0 1 0,0 5 0,2 5 0,2 5 0,1 4 0,1 4 0,1 3 0,1 0 0,2 3 0,1 5 0,2 5 0,1 12 0,2 1 0,-2-3 0,-2-7 0,-2-10 0,0-1 0,0 0 0,0-2 0,-1-4 0,0-1 0,0-1 0,1 0 0,-1-3 0,0 1 0,1-2 0,-2-1 0,0-1 0,-2-2 0,0 2 0,1 0 0,1 0 0,1 0 0,-1-3 0,0 0 0,0 0 0,0 0 0,-1-1 0,0 0 0,0-1 0,0-1 0,1 0 0,0-1 0,0 0 0,0-1 0,0-1 0,0-2 0,1 0 0,-1 0 0,0 0 0,0 0 0,0 0 0,1 0 0,-1 0 0,2 0 0,2 0 0,-1 0 0,2 0 0,-3-1 0,4-3 0,-1-2 0,-2-1 0,0 1 0,-4 0 0,-2 3 0,-1-1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36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24575,'0'13'0,"0"4"0,0 3 0,0 2 0,0-1 0,0 2 0,0 4 0,0 0 0,0-2 0,0-3 0,0-4 0,0-1 0,0-3 0,0-3 0,1-3 0,3-1 0,1-1 0,2-1 0,-2-1 0,0 0 0,-1 2 0,-2-1 0,2 2 0,-2 1 0,0 0 0,2 0 0,-2 0 0,0 2 0,2 2 0,-2-1 0,0-1 0,1-3 0,-1 0 0,0-2 0,0-5 0,-2-3 0,1-3 0,-1-2 0,0-1 0,0-3 0,0-1 0,0 1 0,1 0 0,2 2 0,-1-4 0,2 1 0,-2-3 0,2 0 0,3 0 0,-4 6 0,1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36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 24575,'-9'3'0,"4"-1"0,2-1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38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0 193 24575,'0'13'0,"0"1"0,0 0 0,0-2 0,0-1 0,0-4 0,0 1 0,0 0 0,0 0 0,0 0 0,0-1 0,0 3 0,0 1 0,0 5 0,0 5 0,0 3 0,0 3 0,0-3 0,0-3 0,0-5 0,0-3 0,0-3 0,0 0 0,0-3 0,0 1 0,0 0 0,0 0 0,0 0 0,0 0 0,0 0 0,0 1 0,0-1 0,0 0 0,0 0 0,0 0 0,0 0 0,0-1 0,2-1 0,-1-4 0,1-6 0,1-4 0,-1-1 0,0-1 0,0 2 0,-2-1 0,0 2 0,0-4 0,0-3 0,0-3 0,0-3 0,2 0 0,0-4 0,3 0 0,0-8 0,0 2 0,0 1 0,1 1 0,0 5 0,0-1 0,1 3 0,0 0 0,1 1 0,0-1 0,-1 3 0,0 1 0,0 0 0,2 2 0,0 0 0,0 2 0,0 2 0,-1-1 0,0 2 0,0 2 0,0 0 0,2 0 0,0 0 0,4 1 0,0 1 0,-1 2 0,0 0 0,1 0 0,2 1 0,2 1 0,0 1 0,-2 1 0,-2 0 0,0 0 0,0 0 0,0 0 0,0 0 0,0 0 0,0 0 0,-3 0 0,3 0 0,-4 1 0,2 3 0,0 1 0,-1 5 0,2 1 0,0 6 0,2 3 0,1 4 0,-2 4 0,0 0 0,-2 3 0,-1 1 0,2 4 0,-1 0 0,-3 1 0,-2-4 0,-4-1 0,-3-3 0,0-1 0,0 0 0,0-1 0,0 4 0,0-2 0,0-1 0,0-2 0,0 2 0,0 1 0,0 0 0,0-2 0,0-6 0,0-5 0,0-4 0,0-4 0,0 0 0,0 0 0,0-4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41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415 0 24575,'0'13'0,"0"2"0,0 3 0,0 2 0,0 0 0,0 3 0,0 2 0,0 3 0,0 0 0,0 0 0,0-3 0,1-3 0,3-2 0,4 0 0,0 3 0,-1 3 0,-1-2 0,-1 1 0,0 3 0,0-1 0,0 5 0,-1-3 0,-2 1 0,-1-1 0,0-8 0,1 0 0,0-5 0,0-1 0,-2-1 0,0 0 0,0-3 0,2 0 0,0 2 0,0-2 0,0-1 0,-2-1 0,0-2 0,0 1 0,2-1 0,-1-1 0,1-1 0,0 1 0,-2 1 0,-2-3 0,-1-2 0,-2-3 0,-4-5 0,-2 0 0,-3-3 0,0-3 0,-1 0 0,-2 1 0,1 2 0,2 2 0,3 3 0,3 0 0,1 2 0,0 2 0,0-1 0,0-1 0,-1-1 0,0 1 0,0 2 0,0 0 0,0 0 0,0 0 0,0-1 0,0 1 0,-2 0 0,-1 0 0,-1 0 0,-1 0 0,1 0 0,0 0 0,1 0 0,4 0 0,0 0 0,0 0 0,-1 0 0,-3 0 0,0 1 0,0 2 0,2 1 0,0 2 0,2-1 0,0 2 0,1 3 0,-1 1 0,-2 2 0,2 4 0,-1 4 0,0 3 0,-1 0 0,1 0 0,0 0 0,3 0 0,-1 0 0,1-1 0,2 1 0,1-2 0,2 0 0,0 0 0,0-3 0,0-1 0,0-1 0,0-2 0,0 0 0,0 2 0,0 0 0,0 1 0,2 2 0,3 0 0,2 0 0,5 0 0,0-2 0,0-4 0,-1-3 0,-3-3 0,0 0 0,0-2 0,-1-2 0,0-2 0,0-2 0,0 0 0,1 0 0,0 0 0,-1 0 0,1 0 0,1 0 0,-1 0 0,2 0 0,4-2 0,3-3 0,3-3 0,0 1 0,0-1 0,0 1 0,0 1 0,0-1 0,-3 2 0,-3 2 0,-4 0 0,-3 1 0,0 0 0,0 0 0,2 1 0,-1 1 0,0 0 0,0 0 0,0 0 0,0 0 0,0 0 0,0 0 0,-2-2 0,0 0 0,0 0 0,0 0 0,0 0 0,-1-1 0,1 1 0,-2-2 0,1 2 0,0 0 0,0-1 0,3-1 0,-2-1 0,-1-8 0,-3-10 0,-2-9 0,0-18 0,-6-25 0,-4-6 0,-4-4 0,-2 11 0,5 21 0,0 5 0,2 10 0,3 9 0,1 8 0,1 7 0,1 3 0,1 3 0,0 4 0,2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45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1 872 24575,'0'-10'0,"0"-10"0,0-7 0,0-5 0,0-5 0,0 8 0,0 0 0,0 6 0,0 3 0,0 0 0,0 3 0,0 0 0,0 0 0,0-1 0,0-7 0,0-2 0,0-2 0,0-3 0,0 0 0,0 2 0,2-2 0,6-1 0,3 4 0,5 0 0,2 4 0,0 4 0,2 0 0,4 0 0,0 2 0,0 3 0,10-1 0,8-1 0,1 1 0,6-1 0,-5 4 0,1 2 0,8 1 0,2 3 0,-6 1 0,-4 2 0,-7 2 0,-4 0 0,-1 2 0,-3 1 0,3 0 0,-3 0 0,2 2 0,0 4 0,0 6 0,0 5 0,-1 3 0,1 0 0,-4-2 0,0 1 0,-7-5 0,-5 2 0,-3-4 0,-1-1 0,1 3 0,-1-2 0,0 0 0,-3 1 0,0-1 0,0 0 0,0 1 0,0-1 0,0 2 0,0 0 0,-2 0 0,0 3 0,0 1 0,-1 2 0,-1 0 0,-3 3 0,-2 1 0,2 0 0,1-1 0,-1-5 0,1 1 0,-3 2 0,0-2 0,0 2 0,0-1 0,0-1 0,0 0 0,0-2 0,0-4 0,0 0 0,0-3 0,0-1 0,0-1 0,0 0 0,0 0 0,0 3 0,-2 0 0,-3 3 0,-1 0 0,-2-2 0,-2 2 0,-1 0 0,-2 4 0,-3-1 0,1 1 0,-3 0 0,1-2 0,1-1 0,-1-2 0,2-3 0,1-1 0,-3 1 0,2-2 0,-2-3 0,0 0 0,-5-2 0,-2 0 0,-4-1 0,-3 1 0,2 0 0,-2 0 0,3 0 0,4-3 0,-3 0 0,4 0 0,1 0 0,1 0 0,3 0 0,-2 0 0,0 0 0,0 0 0,-1-2 0,1-5 0,-1-3 0,0-4 0,1-1 0,-1-1 0,1 1 0,0 0 0,0 0 0,2 2 0,2-1 0,2 3 0,0-3 0,1 1 0,2 2 0,2 0 0,0 2 0,-3-3 0,0-1 0,1 1 0,1-2 0,1 0 0,-1 0 0,1-1 0,-1 0 0,-2 0 0,0 0 0,1 0 0,1 0 0,3 0 0,-1 1 0,-1 0 0,2 0 0,0-3 0,3 0 0,0 1 0,0 1 0,2-1 0,0 2 0,1-3 0,1 1 0,0 1 0,0-6 0,0-1 0,0-3 0,0 1 0,0-2 0,0 0 0,0 1 0,0 1 0,0 3 0,0 1 0,0 0 0,2 0 0,2 2 0,3 4 0,2 1 0,-2 2 0,1 1 0,-1 2 0,0 3 0,1 0 0,0 3 0,0-1 0,0 3 0,-4 0 0,0-1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3:47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0 695 24575,'0'8'0,"0"2"0,0 5 0,0-1 0,0 2 0,0-1 0,0 0 0,0 2 0,0-2 0,0 2 0,0 0 0,0 4 0,0-1 0,0-2 0,0-1 0,0-3 0,0 0 0,2 1 0,0-1 0,2 0 0,0 0 0,-2-1 0,0-1 0,-2-3 0,0-2 0,1 0 0,1-2 0,0-4 0,0-8 0,-2-11 0,0-5 0,0-2 0,0 2 0,0 0 0,0-2 0,0 1 0,0-4 0,0-4 0,0-6 0,0-3 0,6-3 0,7-2 0,8-5 0,6-5 0,5-2 0,6-2 0,5-1 0,3 3 0,-5 7 0,-4 8 0,-1 6 0,0 2 0,3 0 0,1 3 0,-7 5 0,-4 4 0,-8 9 0,-6 3 0,-3 5 0,-3 2 0,-1-1 0,0 3 0,-3 0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5:43:54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1,'0'51,"0"-2,0-13,0 8,0 3,0 10,0 5,0 2,0 4,3 1,1 0,4 2,3 4,-2 1,3 5,0 4,-3-4,3-1,-4-2,-2-9,2 6,-4 5,3 7,-1 8,-1-1,0 1,-2-10,5-2,0-7,3-7,1 17,1-2,0 0,-1 4,-1-9,3 14,-1 1,-1-1,-3-1,0-1,3 1,-1-13,3-2,1 8,0 1,1 8,1 1,2-9,2 8,-10-44,0 0,10 47,-12-46,0-1,12 46,0-1,1 1,-2-7,-3-1,0-1,-4 1,-1-1,-3 5,-5-7,3 7,0-7,1-9,3-2,-2-8,3 7,3 2,-2-8,-2-6,-1-6,0-8,2 3,1 0,-3-2,0 4,-3 21,-2 7,2 16,-1 1,-1-8,-1 10,-4-3,0-44,0 1,2 39,2-9,0-9,2-8,1 3,2-9,1-10,-1-8,-1-10,0-6,2-6,-2-5,-1-3,4 3,-5-2,2 2,0 0,-1-3,4 1,3-4,-2-4,4-4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5:43:57.5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0,'0'61,"0"-4,0-17,0 8,0 13,0 5,0 1,0 2,0-5,0 5,0 0,0-5,0 3,0-7,0-2,0-2,0-4,3 3,0 1,1-2,-1 1,-3-5,0-1,0-5,0 1,3 5,0-2,0-1,1-1,-4-3,0-1,1-1,-1-2,0-5,0-1,0-1,2 0,1 4,0 0,0 9,0 5,0 0,0-5,0-10,-1-4,1 0,0 2,2-2,-2-2,2-3,-1 2,1-2,0 1,0-3,1-3,2-1,-1-1,1-1,-1 0,0-1,3 1,-1 1,2 5,-1 0,0 0,-1 3,1 0,1 8,2 8,0 6,2 14,0 10,1 12,-2 7,-7-43,0 2,0 3,-1 0,0-4,-1 0,2 1,0 0,6 45,0-9,4 2,-2-19,2-12,-1-11,0-10,-2-5,-4-8,0-4,-2-7,0-1,5 5,-4-2,3 3,-6-8,0 2,2 4,2 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5:43:59.4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1071,'0'-55,"0"6,0 22,0-4,4-5,7-8,8-6,5-4,8-11,-1-4,5-6,0-1,-1 9,3 2,0 3,0 5,-5 7,-3 6,-6 12,-2 7,-2 8,-3 8,0 2,2 5,3 0,2 2,-2 0,-3 0,0 0,0 0,6 0,0 0,0 2,-2 2,-1 4,3 4,0 3,3 5,1 6,7 5,4 7,-3 2,0-1,-1 1,-3-2,-3-3,-6-5,-5-5,-2-4,-1 1,-2-2,-3 1,-1-3,-2-1,-1-2,-2-2,-3 6,0-8,-1 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3T05:44:03.2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21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24575,'-4'3'0,"2"7"0,1 14 0,1 10 0,0 11 0,0 1 0,0 0 0,0 5 0,0-8 0,0-2 0,0-6 0,0-8 0,0-4 0,0-7 0,0-6 0,0-1 0,1-2 0,1 0 0,1-1 0,1 1 0,-2 0 0,1 1 0,0 0 0,1 3 0,0 0 0,1 0 0,-1 2 0,0-2 0,-1 1 0,0 0 0,1 0 0,-1 2 0,0 0 0,0 0 0,2-2 0,-3-5 0,0-3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22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0 24575,'-9'0'0,"-3"0"0,1 1 0,1 2 0,0 1 0,5 1 0,1-3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24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1 207 24575,'0'10'0,"0"5"0,0 4 0,0 4 0,0 8 0,0-3 0,0 7 0,0 2 0,0-1 0,0 1 0,0-4 0,0-4 0,2-4 0,1-4 0,1-7 0,1-4 0,-3-5 0,0-4 0,-2-9 0,0-8 0,0-3 0,0-6 0,0 1 0,0-5 0,0 0 0,2 0 0,1 1 0,0-1 0,2-3 0,0 0 0,3-4 0,3 2 0,0 1 0,1 4 0,-2 6 0,-1 2 0,0 2 0,2 0 0,2 0 0,-1 4 0,-2 3 0,2-1 0,-1 4 0,3-1 0,1 3 0,-1 4 0,2-2 0,0 3 0,4-1 0,1 1 0,-1 1 0,0 1 0,-2 0 0,-2 0 0,1 0 0,-2 4 0,0 4 0,-2 5 0,-2 7 0,1 4 0,0 6 0,0 4 0,1 5 0,0 6 0,0 5 0,1 5 0,-3 0 0,0 1 0,-1 1 0,1-4 0,-1-4 0,0-7 0,-4-9 0,-2-4 0,0-8 0,-2-7 0,0-3 0,0-3 0,-1-1 0,-1-3 0,1-1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25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24575,'0'13'0,"0"-1"0,0-2 0,0 1 0,1 1 0,3 0 0,3 5 0,4-2 0,3 2 0,4 0 0,1 1 0,2 3 0,-1-1 0,4 1 0,3 1 0,5-2 0,8 1 0,1-2 0,-1-2 0,-1 0 0,0-3 0,2 1 0,1-1 0,-17-7 0,-8-1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28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93 24575,'1'-4'0,"2"2"0,4 0 0,4 2 0,6 0 0,6 0 0,0 0 0,0 0 0,-4 0 0,-1 0 0,-3 0 0,-2 0 0,-1-4 0,-3-1 0,0 0 0,0 0 0,-1 3 0,0 0 0,0-3 0,0 1 0,0 0 0,0 0 0,4 1 0,1-1 0,0 0 0,0 1 0,-2-1 0,-1 0 0,1 1 0,-2 1 0,0 0 0,-1-1 0,0 1 0,-2-2 0,0 2 0,-4 0 0,-3 0 0,-3 2 0,-4-1 0,-2 1 0,-2 0 0,-2 0 0,0 0 0,0 0 0,-2 0 0,1 0 0,1 0 0,-3 0 0,4 0 0,-2 0 0,2 2 0,3 1 0,-3 3 0,0 3 0,-2-2 0,-2 0 0,1 0 0,-1 0 0,1 2 0,2-1 0,-3 2 0,3-1 0,-2-1 0,2-2 0,2 0 0,2-2 0,3 2 0,1 0 0,2 0 0,1 2 0,-1-2 0,2 1 0,1 0 0,0 1 0,1 0 0,0 0 0,0 0 0,0 1 0,0-1 0,0 2 0,0 1 0,0 0 0,0 3 0,0-3 0,0 1 0,0-1 0,0-1 0,0 2 0,0-1 0,0-1 0,0-3 0,0 0 0,0 0 0,0 0 0,0 1 0,2 1 0,1-1 0,2 0 0,5 1 0,4 0 0,0 0 0,3 0 0,-1 3 0,-2-1 0,3 1 0,-3 0 0,1-3 0,2 1 0,-2-1 0,1 1 0,1-1 0,0 0 0,0-1 0,1-3 0,-3-3 0,0-2 0,4 0 0,2 0 0,3 0 0,2 0 0,2 0 0,4-5 0,3-3 0,1-6 0,1-3 0,-1 1 0,1-2 0,-4 3 0,-4 0 0,-7 4 0,-8 4 0,-1 0 0,-1 0 0,-1 1 0,-3 0 0,-4 4 0,-2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0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1 236 24575,'0'7'0,"0"6"0,0 4 0,0 1 0,0-1 0,0-3 0,0 0 0,0-4 0,0 0 0,0-7 0,0-5 0,0-3 0,0-3 0,1 2 0,2 3 0,1 5 0,1 5 0,1 6 0,2 3 0,2 7 0,0 1 0,1 0 0,-1 0 0,0-3 0,-2-1 0,0 4 0,0-2 0,-3 2 0,2-2 0,-3-4 0,-2 2 0,2-5 0,-2-2 0,0-3 0,0-3 0,-2 0 0,0 1 0,0 0 0,0 0 0,1 0 0,1 0 0,0 0 0,0 0 0,-2 0 0,0 0 0,0-1 0,2-2 0,-1-7 0,1-9 0,-1-9 0,-1-4 0,0-3 0,0-1 0,2-1 0,1-2 0,2-2 0,1 1 0,-1-2 0,4-1 0,-1 3 0,4 0 0,2-1 0,1 4 0,3-3 0,2 4 0,1 1 0,0-1 0,-2 2 0,-3 1 0,-2 3 0,1 3 0,0 0 0,0 1 0,-2 3 0,-1-2 0,-3 3 0,0 2 0,-1 1 0,0 2 0,1 1 0,-1 2 0,-1 2 0,-2 2 0,-2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2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71 229 24575,'-2'3'0,"5"-1"0,7-1 0,3-1 0,4 0 0,-3 0 0,1 0 0,1-2 0,-1 0 0,-1-3 0,-4-1 0,-2-1 0,0-1 0,0 0 0,0 0 0,0 0 0,0 0 0,0 0 0,0 0 0,0 0 0,-2 0 0,0 0 0,-2 0 0,-2 0 0,0 0 0,-2 0 0,1 2 0,2-2 0,-1 1 0,1 1 0,-1 0 0,2 3 0,-1 0 0,1-2 0,0-2 0,-2 0 0,0-1 0,-1 1 0,-1-1 0,0 0 0,-3 2 0,-3 2 0,-5 2 0,-1 2 0,-2 0 0,0 0 0,0 0 0,0 0 0,3 0 0,0 0 0,3 0 0,0 0 0,-2 0 0,-2 0 0,1 2 0,0 2 0,3 2 0,-2 2 0,-1 0 0,0 1 0,0-1 0,3 0 0,0 0 0,-1 0 0,1 0 0,0 0 0,1-1 0,0 2 0,1 0 0,1 0 0,0 3 0,0 0 0,1 2 0,-1 2 0,1 1 0,0 3 0,2-1 0,1 0 0,1-2 0,-1 4 0,1 1 0,0 3 0,0-1 0,0 0 0,0 1 0,0-1 0,0 0 0,0-7 0,2-1 0,3 1 0,1-4 0,3 2 0,2-1 0,0-3 0,4 4 0,1-2 0,-2 0 0,5 2 0,0-2 0,3-1 0,2-1 0,-2-1 0,1 1 0,2-3 0,0-3 0,0-2 0,-11-3 0,-5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4.4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501 0 24575,'-8'0'0,"-4"0"0,-1 0 0,-1 0 0,-2 0 0,-1 0 0,-1 0 0,-2 5 0,2 2 0,2 5 0,-1 4 0,2 1 0,-2 3 0,-1 0 0,3 0 0,-1 0 0,2 0 0,2 1 0,-2 3 0,-1 1 0,-1 0 0,-2-1 0,2-3 0,-1 0 0,1-1 0,1-1 0,-1-1 0,3-3 0,2-3 0,1 2 0,1-2 0,2 0 0,0-1 0,1-3 0,2 0 0,0 0 0,0 0 0,2-1 0,-1 1 0,2-1 0,1 0 0,0 2 0,0-2 0,0 2 0,0-1 0,0 1 0,0 2 0,0 0 0,0 0 0,0-3 0,1 1 0,3 1 0,3 2 0,1-1 0,1 0 0,-1 0 0,3 1 0,1-1 0,2 3 0,1-3 0,0 2 0,2 0 0,0-2 0,6 1 0,-2-1 0,1 0 0,-1-1 0,-5-2 0,1-2 0,-2-3 0,-3-3 0,-1 1 0,0-1 0,1 0 0,-1-2 0,3-4 0,-9 2 0,1-2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4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0 24575,'-3'1'0,"-1"3"0,-1 3 0,-2 6 0,-2 3 0,-3 3 0,-1 1 0,-2 1 0,-1-1 0,3 1 0,1-4 0,3 0 0,0-4 0,1-1 0,0 0 0,1-2 0,-1 2 0,-1 0 0,1-1 0,0 3 0,2-3 0,0 1 0,-1 1 0,-2-1 0,1 2 0,-2 0 0,1 0 0,1 3 0,2-2 0,-1 2 0,0-3 0,-2 0 0,1 0 0,2 0 0,-1 0 0,2-2 0,-1 0 0,2-3 0,1 3 0,-3 0 0,1 0 0,0 1 0,3 0 0,1-1 0,1-1 0,-1 0 0,1 0 0,0 1 0,0-2 0,0 0 0,0 2 0,0-1 0,0 3 0,2-3 0,2 0 0,3 3 0,1-3 0,1 0 0,-2-1 0,0-3 0,0 0 0,2 0 0,2 0 0,2 0 0,1 0 0,0-2 0,2 0 0,-1-1 0,2-2 0,-2 1 0,-3-1 0,-1-2 0,-2 0 0,-1 0 0,0 0 0,0 0 0,0 0 0,0 0 0,0 0 0,0-4 0,1-4 0,2-4 0,1-1 0,3-2 0,2-2 0,0 2 0,-1-2 0,0 2 0,-2 1 0,-3-2 0,1 1 0,-3 2 0,0 0 0,0 1 0,-2-2 0,-3-3 0,-2 0 0,-1-7 0,-1 0 0,0-4 0,0-7 0,0-3 0,0 1 0,0 1 0,0 5 0,0 1 0,0-3 0,0 1 0,0 3 0,0 1 0,-2 4 0,-1 2 0,1 3 0,-2 4 0,1 3 0,1 6 0,0 5 0,1 6 0,1 5 0,0 10 0,2 5 0,3 4 0,3 1 0,1-4 0,3-2 0,3 3 0,2 3 0,2 0 0,2 3 0,-1-4 0,1-2 0,0-3 0,3-3 0,0-2 0,0-1 0,0-3 0,-5-1 0,2 0 0,3-2 0,1 0 0,0 0 0,-1-1 0,-2-2 0,-1-2 0,-1-1 0,1-2 0,-1-2 0,-2 0 0,-3 1 0,-1-1 0,-2 0 0,0-2 0,-1 0 0,-3 0 0,0 0 0,-1 0 0,-3 0 0,-1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39.2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24575,'-12'0'0,"-1"0"0,0 1 0,-1 2 0,1 5 0,-2 6 0,-2 8 0,-1 6 0,-2 4 0,1 1 0,1 0 0,3-2 0,2 1 0,1-3 0,5-4 0,-1-3 0,4-5 0,1 0 0,1-2 0,2 2 0,0-3 0,0-1 0,0 2 0,0-2 0,0 0 0,0-1 0,0 2 0,1 0 0,1-2 0,2-1 0,1-3 0,2 1 0,0-1 0,2 1 0,1-3 0,1 0 0,3-2 0,2 0 0,2 1 0,2 0 0,0 0 0,-1 0 0,1 0 0,0-1 0,1 2 0,2 1 0,2 3 0,3 1 0,3 0 0,-2-2 0,3 0 0,-3 0 0,-3 0 0,-2 1 0,-3 0 0,-2-2 0,-2 0 0,-2-1 0,-3 0 0,-1 1 0,-3-2 0,0 0 0,-1 0 0,-2 0 0,-1 2 0,-2-1 0,0 0 0,-2 0 0,0 0 0,0 1 0,-4 0 0,-4-2 0,-4 0 0,-3 0 0,-1 1 0,-1 3 0,-4 0 0,0-2 0,2 0 0,2-4 0,3 0 0,0 0 0,0 0 0,3 0 0,0-2 0,4 0 0,3-2 0,1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4:41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168 465 24575,'23'-2'0,"3"-5"0,6-6 0,3-3 0,1-4 0,0-3 0,-1-2 0,-4-2 0,-2 3 0,-4 5 0,1-1 0,0 0 0,-3-2 0,1 1 0,-6 1 0,-1 2 0,0 0 0,-1 1 0,-1 0 0,-1-2 0,-4 3 0,-1 4 0,-5 3 0,-2 2 0,-1-1 0,-1 0 0,0 0 0,-4 2 0,-3 0 0,-5 2 0,-2 0 0,0 0 0,-3 2 0,0 0 0,-3 2 0,0-1 0,0 1 0,-3 0 0,0 0 0,2 0 0,0 0 0,1 0 0,-3 0 0,0 0 0,-2 2 0,3 4 0,0 5 0,2 6 0,-1 2 0,0 4 0,0 1 0,-1 0 0,1 0 0,0-2 0,0-2 0,1 0 0,0 0 0,0 0 0,2 0 0,4-2 0,2-3 0,1 3 0,0 1 0,1 2 0,3 4 0,0-3 0,1 5 0,3-2 0,1 2 0,2-1 0,0 2 0,0 3 0,0-3 0,0 8 0,0 0 0,0 6 0,0 3 0,0-3 0,2-1 0,4-6 0,3-3 0,2-6 0,0-6 0,2-3 0,0-1 0,2-1 0,1 0 0,3-2 0,3 0 0,4 0 0,4-2 0,5-1 0,6-2 0,5-4 0,1-3 0,1-1 0,-1 0 0,-4 0 0,-5 0 0,-10 0 0,-3 0 0,-8 0 0,-3-2 0,-4 0 0,-3-1 0,0-2 0,0 0 0,1-3 0,-1 0 0,1 2 0,0 0 0,0 0 0,0-1 0,0 0 0,0-2 0,1 1 0,-1 0 0,0 0 0,0 0 0,0 0 0,0 0 0,0-3 0,1-1 0,2-2 0,1-3 0,1 2 0,1-2 0,0 1 0,3-4 0,4-4 0,3-4 0,2-4 0,-1 2 0,-4 3 0,-5 4 0,-4 7 0,-6 7 0,-2 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18.25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22 46 16383,'0'19'0,"0"3"0,0 16 0,0 10 0,0 2 0,0 8 0,0-3 0,0 2 0,0-4 0,0-4 0,0-9 0,0-8 0,0-9 0,0-7 0,0-5 0,0-2 0,0-1 0,0 0 0,1-1 0,1 0 0,0-1 0,1 1 0,-1 0 0,1 1 0,1 0 0,1 2 0,-1 1 0,1 1 0,1-2 0,0-1 0,0 2 0,0 0 0,1 3 0,-1 0 0,3 0 0,0 0 0,0 0 0,0 0 0,-2-4 0,1 0 0,-2-4 0,1 1 0,-1 1 0,-1 0 0,0-1 0,-2-1 0,0-3 0,-2-4 0,0-2 0,-1-4 0,0 0 0,0-1 0,0-1 0,0 0 0,0 1 0,0 0 0,0 0 0,0 0 0,0-1 0,-2 1 0,0 0 0,-3-3 0,1 0 0,-1-3 0,-2 0 0,3-4 0,-3-3 0,0-4 0,1-4 0,-2-7 0,1-7 0,0-6 0,0-6 0,2-6 0,1 3 0,4-1 0,-1 6 0,1 13 0,0 2 0,0 8 0,0 8 0,0 1 0,0 7 0,0 0 0,0 0 0,0 2 0,0 3 0,-2 1 0,1 1 0,-2 0 0,0 1 0,1-1 0,-2 3 0,-2 1 0,2 2 0,0 7 0,2 6 0,2 8 0,-1 7 0,1 5 0,0 4 0,0 4 0,0 5 0,0 0 0,0 3 0,0 0 0,0 5 0,0 8 0,0 1 0,0-1 0,0-6 0,0-6 0,0-6 0,0-8 0,0-7 0,2-9 0,0-6 0,0-4 0,0 0 0,-2-1 0,0 0 0,0-5 0,0-9 0,0-11 0,0-11 0,-3-9 0,-3-5 0,-3-3 0,-1-7 0,-3-24 0,8 20 0,-2-16 0,4 32 0,0 2 0,0 2 0,0 3 0,3 6 0,0 3 0,0 6 0,0 3 0,0 2 0,0 6 0,0 6 0,0 12 0,0 9 0,0 8 0,0 4 0,0 6 0,0 8 0,0 4 0,0 10 0,3 10 0,1-6 0,4-6 0,3-13 0,-1-12 0,1-2 0,-1-8 0,0-6 0,-2-4 0,0-4 0,-1 0 0,-1-1 0,0-1 0,1-2 0,-3-4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19.8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0 16383,'13'12'0,"5"7"0,5 6 0,5 5 0,5 6 0,2 2 0,4 6 0,-5 1 0,-5 1 0,-3-1 0,-4 0 0,-2 0 0,-3-1 0,1 4 0,1 1 0,0 6 0,-2 1 0,-2 1 0,0-1 0,2 1 0,1 0 0,-1-4 0,0-2 0,-3 1 0,0-4 0,-1-1 0,0-1 0,0-4 0,-1 0 0,-2-2 0,-4 0 0,-4 0 0,-2-2 0,0-3 0,0-4 0,0 0 0,0 5 0,0 3 0,0-3 0,0 0 0,0-4 0,0-2 0,0 3 0,0 2 0,0-1 0,0-1 0,-2-4 0,0-5 0,-1 0 0,-1-7 0,1-3 0,1-3 0,-2-5 0,1-2 0,-2-2 0,-1-4 0,3 2 0,1-2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1.95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 60 16383,'19'0'0,"7"0"0,10-3 0,10-3 0,8-3 0,7-2 0,5 0 0,1 3 0,-3 2 0,-5 2 0,-6 3 0,0 0 0,-5 1 0,3 3 0,-2 10 0,-5 7 0,-1 10 0,-6 5 0,-7-4 0,-4 2 0,-6-2 0,-4-5 0,-4 2 0,-2-1 0,0-2 0,-1 5 0,-1 1 0,-2-1 0,-1 1 0,-2-2 0,-2-3 0,-1-1 0,0-6 0,0-4 0,0-3 0,0-3 0,0-1 0,-2-2 0,0 0 0,-1-2 0,-3-1 0,0-2 0,-2-1 0,1 1 0,2 1 0,-2 2 0,-1 0 0,-2 1 0,-1 0 0,2 0 0,2 1 0,1-2 0,0 1 0,-1 0 0,0 0 0,-1-2 0,0 1 0,1-2 0,-1 2 0,2 0 0,-1-2 0,0 0 0,-2-2 0,-2 1 0,-2 1 0,0 0 0,1 0 0,-2 0 0,2 1 0,2 1 0,1 2 0,2-2 0,0 2 0,-1-2 0,0 1 0,0 0 0,0 2 0,-1 1 0,1 0 0,-2 0 0,-2 0 0,2 0 0,3-2 0,6-2 0,7-5 0,7-3 0,1-3 0,3-3 0,3 0 0,2 0 0,6-1 0,7 0 0,2-1 0,3 2 0,7 1 0,9 0 0,7-1 0,10-1 0,1 0 0,-5 0 0,1-1 0,-11-1 0,-9 2 0,-9 1 0,-11 4 0,-4 0 0,-7 1 0,-4 2 0,-3 1 0,-4-1 0,-3 3 0,-2-2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3.31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5 16383,'17'0'0,"-1"0"0,17 0 0,7 0 0,6 0 0,9-3 0,-8 2 0,2 3 0,-2 11 0,-6 9 0,3 2 0,-2 5 0,4 1 0,7 8 0,9 14 0,3 5 0,6 12 0,-2 1 0,-4 0 0,0 3 0,-5 0 0,-29-33 0,-1 0 0,26 37 0,-2-2 0,-9-8 0,-5-5 0,-11-8 0,-8-4 0,-6-5 0,-5-4 0,-4-1 0,-3-8 0,-3 2 0,0-1 0,0 2 0,0 4 0,0-6 0,0 5 0,0-8 0,0 0 0,0 3 0,0-4 0,-2 2 0,-3-3 0,-3-4 0,-3 2 0,0 3 0,-1 4 0,-3 3 0,-4 4 0,0 1 0,-3 4 0,2 0 0,3-8 0,1-4 0,5-8 0,3-6 0,4-3 0,2-3 0,1-6 0,1-5 0,-1-3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5.37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16383,'19'0'0,"6"0"0,9 0 0,8 0 0,-4 0 0,4 0 0,-4 0 0,-6 0 0,-2 0 0,-7 0 0,-1 0 0,-3 0 0,-5 5 0,-2 4 0,-2 7 0,-2 7 0,3 1 0,-1 0 0,-2 3 0,-3-5 0,-1 0 0,-2 1 0,1-4 0,-1 2 0,-2-1 0,1-4 0,-1-1 0,0-3 0,0-2 0,0 0 0,0 0 0,-5 2 0,-4 2 0,-6 1 0,-4 0 0,-5 3 0,-1-1 0,1 1 0,0-2 0,1-3 0,-1 2 0,0-2 0,3-1 0,5-2 0,1-1 0,3-1 0,-1 0 0,3 1 0,3-1 0,3-1 0,5-2 0,3-2 0,8-3 0,6 0 0,6 2 0,7 3 0,6 3 0,10 4 0,8 1 0,10 2 0,6 1 0,-6-1 0,-2 0 0,-6 1 0,-4 0 0,6 3 0,-6 0 0,-8-2 0,-12-2 0,-10-2 0,-6-4 0,-3 0 0,-3 2 0,-4 0 0,-2 1 0,-3-3 0,-2-2 0,0 2 0,0 2 0,0 2 0,0 1 0,0 0 0,0 1 0,-2 0 0,-2 1 0,-2 1 0,-5-1 0,-4 1 0,-2 1 0,-1-3 0,-2 3 0,-2-2 0,0 0 0,-1 2 0,-1 0 0,0 1 0,-4 0 0,0-2 0,-3 3 0,-1 2 0,-1-1 0,-1 1 0,2-1 0,1-2 0,3-3 0,5-4 0,3-2 0,3 0 0,5-1 0,3-3 0,4-2 0,2-2 0,0-2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6.66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16383,'12'0'0,"-3"0"0,7 5 0,8 16 0,3 7 0,0 5 0,0 12 0,-3-4 0,4 6 0,6 5 0,-3-1 0,3 9 0,15 21 0,-1 1 0,-23-38 0,1 1 0,1 1 0,-1-1 0,16 42 0,-20-40 0,-1 1 0,-3-1 0,-1 1 0,-1 3 0,-1-1 0,11 45 0,-14-42 0,0 2 0,1 1 0,-1 0 0,-2-3 0,0-2 0,6 37 0,-7-27 0,-6-11 0,-3-4 0,0 4 0,0-3 0,0-7 0,0-2 0,0-3 0,0 0 0,0 3 0,0 9 0,0-2 0,0 0 0,0-3 0,0-10 0,0-3 0,0-6 0,0-6 0,0-3 0,0-4 0,0-5 0,0-2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8.1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142 1 16383,'0'17'0,"0"3"0,0 14 0,0 7 0,-3 7 0,-2 1 0,-5 2 0,-4 7 0,1-4 0,-5 9 0,-1-9 0,2-7 0,3-3 0,3-16 0,3-5 0,3-6 0,0-4 0,6-4 0,5-5 0,4-3 0,6 0 0,2-3 0,5 0 0,5-4 0,4-2 0,9-1 0,5-4 0,5-1 0,10-4 0,6-1 0,12-1 0,7 0 0,-8 5 0,2 1 0,-32 4 0,3-2 0,6-2 0,1-1 0,-1 0 0,0 0 0,-5-1 0,-3 1 0,20-7 0,-15 3 0,-2-1 0,-11 2 0,-5-1 0,-6 4 0,-7 3 0,-6 3 0,-6 5 0,-5 1 0,-2 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29.17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10 0 16383,'0'18'0,"0"6"0,0 15 0,0 15 0,0 2 0,-4 16 0,-1 7 0,5 2 0,10 16 0,14-2 0,-6-44 0,2 0 0,0 4 0,1 0 0,-1-1 0,1 0 0,-2-4 0,1-1 0,-3-1 0,0 0 0,13 36 0,-2-7 0,-2-7 0,-5-17 0,-2-11 0,-6-17 0,-3-8 0,-3-7 0,-3-6 0,-1-1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5:45:30.75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6 8 16383,'-5'-4'0,"5"2"0,6 0 0,15 2 0,16 0 0,11 0 0,12 0 0,-6 0 0,24 0 0,-3 0 0,-7 2 0,0 6 0,-23 6 0,10 8 0,3 8 0,-4 1 0,-6 3 0,-4 2 0,-5 2 0,0 2 0,-4 3 0,-3 4 0,0 6 0,2 5 0,-1 0 0,1 6 0,-3 4 0,2 15 0,-15-34 0,-1 1 0,0 0 0,-1 1 0,-2-1 0,-1-2 0,7 32 0,-7-11 0,-1 2 0,-2-4 0,-1 1 0,3 29 0,-4-33 0,3 34 0,-7-34 0,-1 5 0,-3 0 0,1 0 0,-1 0 0,0 12 0,0-2 0,-7-1 0,-14 16 0,-10-17 0,-9 7 0,-4-2 0,2-14 0,0 1 0,0-6 0,1-5 0,3-6 0,-2 0 0,4-6 0,4-5 0,-1-1 0,3-1 0,1-3 0,1-2 0,5-7 0,2-4 0,5-3 0,4-7 0,6-6 0,2-3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601F-F36B-2E51-5687-C886061A6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65DDAB-B9C1-279A-238D-B2FC8D750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F8F63-C0AE-A3EC-4B99-77C88FB9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C25C3-947F-EBF9-B6C6-D40166E95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4AE7-3542-025F-E85F-F132F307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0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F0D4-F0E0-2339-37E0-0EEC0EBD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1F5F5-4585-F435-471F-481F887A1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DECDA-F3C6-DD7F-8A2F-66383A7B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3B028-8E74-462B-463E-E2DC39EB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14B39-6DD7-8FAA-EBA3-102EE901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8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5E99D-D61E-3F92-DBD8-23EE4DB58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095C-1EFD-402A-A577-55D1EE7D1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C16BA-13DE-D3CB-8AE8-01673F27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61EA-96F3-05F7-0AB0-68A3E720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E5182-AE86-84AE-E872-65C93C7A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1CCF-A754-6B26-4092-18C5F638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67EA6-A7D1-F285-3719-B96E2F419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4EA88-B86F-9B44-8859-E6D5D91B7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412DE-AEE5-B948-3124-5159F8AA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D3772-A9B6-BF42-4ED8-0A210CFA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968AB-9B72-A179-EED0-527095AB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2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D965-43D4-C433-4778-ACFD34AF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EAC58-6071-CFAB-C05C-3485E284C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274C0-E074-DB64-56AC-6E23ED8C6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3733C3-1952-A638-8634-94900D91C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355DB-B3AF-8405-F7B9-F9CDB4A50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E254BE-6E7C-5DE1-74F9-ECB1463E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AF555-35E7-BB1A-3AFA-6141B125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495BF-87AF-E2EF-05D7-5E5029954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D2A8-9306-0A67-BB09-2C9D403E3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7EDDB-E14F-6796-B80A-E5DC2A44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E3051E-751A-68E5-0595-58FB7C36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BC9C-0A80-848E-6183-98692C22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4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6AB77-BA3F-C941-0D0B-63575BD8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3CDDD-52FC-949C-1EA0-64F8E362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8C888-1676-5815-5321-FF53818F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2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36A4-E53E-E66B-93B5-FACD0C27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080FE-9E97-11B8-3FCF-4FC4451A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0BBB5-31EA-F73C-43C4-CB5DE4172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0840A-6827-F0C0-F7DF-EDA0DFE0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84699-7036-839F-663F-5793C096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81BE1-93DF-DD0A-BD89-C2F600E6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55C4F-7A8D-689A-FEDD-F6A703B2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DFE3A3-7D8B-9500-65AD-33618FE27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BE620-304B-3FD1-2833-95FA05990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3AF54-6C0B-929C-5CC8-E745CBDBF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4FFE1-603E-F84D-B404-8E66C30CD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E5D9A-ED9E-C2C9-B666-4620DE5D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6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6922-CD93-82D9-3578-85A285373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C587D-BAFA-8CE1-5F19-9716EA357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217C7-E452-51DF-98E9-CED480E8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2D68B-DC25-566D-B487-00A3E90C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8B197-8A0A-BAD0-81EC-DE59C14D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0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892C5D-4AF5-23F3-D8AA-B4B243F16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18E23-0FAD-CDCB-0C3F-56B5EA3D9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04438-B848-B271-B773-E76865370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9D111-6B48-4CD4-7790-AC95D4EC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12F8-4821-3C46-D1CC-D940425B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66DC0-D211-B540-2A40-A60951059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FE42C-025E-35AE-A908-E50E06FF2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1838C-BDB4-F3E0-2E4B-064B180AE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CD49C-A51E-C443-BEDF-1BC1B0DE076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EE4A8-2977-6A65-AD2A-848C7CE1B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6E42-4F62-2D79-E04A-E2C109298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40121-3CD4-7F4A-93C4-133AC7312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29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2089574"/>
            <a:ext cx="722376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Problem Solving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Use of flowcharts in programming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Boolean variables and expressions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Relational operators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if</a:t>
            </a:r>
            <a:b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if-else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elif</a:t>
            </a:r>
            <a:br>
              <a:rPr lang="en-GB" dirty="0">
                <a:solidFill>
                  <a:srgbClr val="191919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dirty="0">
                <a:solidFill>
                  <a:srgbClr val="191919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Booleans: and, or, not</a:t>
            </a:r>
            <a:endParaRPr lang="en-US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4COSC001W: Lecture Week 3 </a:t>
            </a:r>
          </a:p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00DCBD-98D4-5CFE-6748-96CE1A23C0E5}"/>
              </a:ext>
            </a:extLst>
          </p:cNvPr>
          <p:cNvGrpSpPr/>
          <p:nvPr/>
        </p:nvGrpSpPr>
        <p:grpSpPr>
          <a:xfrm>
            <a:off x="7269240" y="530720"/>
            <a:ext cx="598680" cy="546120"/>
            <a:chOff x="7269240" y="530720"/>
            <a:chExt cx="598680" cy="54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AAFCBC8-FB01-1A12-3BF4-752022981FB4}"/>
                    </a:ext>
                  </a:extLst>
                </p14:cNvPr>
                <p14:cNvContentPartPr/>
                <p14:nvPr/>
              </p14:nvContentPartPr>
              <p14:xfrm>
                <a:off x="7269240" y="607400"/>
                <a:ext cx="220680" cy="469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AAFCBC8-FB01-1A12-3BF4-752022981F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3120" y="601280"/>
                  <a:ext cx="23292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0685C10-AF85-3A71-D14A-CCAB7574D35C}"/>
                    </a:ext>
                  </a:extLst>
                </p14:cNvPr>
                <p14:cNvContentPartPr/>
                <p14:nvPr/>
              </p14:nvContentPartPr>
              <p14:xfrm>
                <a:off x="7638600" y="530720"/>
                <a:ext cx="229320" cy="484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0685C10-AF85-3A71-D14A-CCAB7574D3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32480" y="524600"/>
                  <a:ext cx="241560" cy="49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17FF77-1BCE-A6FB-B619-F2BE20EE4AE6}"/>
                  </a:ext>
                </a:extLst>
              </p14:cNvPr>
              <p14:cNvContentPartPr/>
              <p14:nvPr/>
            </p14:nvContentPartPr>
            <p14:xfrm>
              <a:off x="7408560" y="1652840"/>
              <a:ext cx="185400" cy="234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17FF77-1BCE-A6FB-B619-F2BE20EE4A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02440" y="1646720"/>
                <a:ext cx="197640" cy="24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DE8E8EE-B844-4BA5-DFFE-69CCBC857924}"/>
              </a:ext>
            </a:extLst>
          </p:cNvPr>
          <p:cNvGrpSpPr/>
          <p:nvPr/>
        </p:nvGrpSpPr>
        <p:grpSpPr>
          <a:xfrm>
            <a:off x="7703760" y="1502720"/>
            <a:ext cx="525600" cy="424800"/>
            <a:chOff x="7703760" y="1502720"/>
            <a:chExt cx="525600" cy="4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7CD62AD-1BA7-B989-3039-57D9B342B3A7}"/>
                    </a:ext>
                  </a:extLst>
                </p14:cNvPr>
                <p14:cNvContentPartPr/>
                <p14:nvPr/>
              </p14:nvContentPartPr>
              <p14:xfrm>
                <a:off x="7703760" y="1703600"/>
                <a:ext cx="240120" cy="205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7CD62AD-1BA7-B989-3039-57D9B342B3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97640" y="1697480"/>
                  <a:ext cx="252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7B62F9D-A106-C029-608A-3F6DE981D18A}"/>
                    </a:ext>
                  </a:extLst>
                </p14:cNvPr>
                <p14:cNvContentPartPr/>
                <p14:nvPr/>
              </p14:nvContentPartPr>
              <p14:xfrm>
                <a:off x="8007600" y="1686320"/>
                <a:ext cx="221760" cy="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7B62F9D-A106-C029-608A-3F6DE981D1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01480" y="1680200"/>
                  <a:ext cx="2340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D01447-D2AF-034B-2143-4C60FDBE5FDB}"/>
                    </a:ext>
                  </a:extLst>
                </p14:cNvPr>
                <p14:cNvContentPartPr/>
                <p14:nvPr/>
              </p14:nvContentPartPr>
              <p14:xfrm>
                <a:off x="8123520" y="1502720"/>
                <a:ext cx="104040" cy="424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D01447-D2AF-034B-2143-4C60FDBE5F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17400" y="1496600"/>
                  <a:ext cx="116280" cy="43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376D53-8344-48F7-D7EE-676160B43924}"/>
              </a:ext>
            </a:extLst>
          </p:cNvPr>
          <p:cNvGrpSpPr/>
          <p:nvPr/>
        </p:nvGrpSpPr>
        <p:grpSpPr>
          <a:xfrm>
            <a:off x="7425480" y="2810600"/>
            <a:ext cx="865800" cy="484560"/>
            <a:chOff x="7425480" y="2810600"/>
            <a:chExt cx="865800" cy="4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409A35-E80E-970E-9CDC-493D79CB7FE2}"/>
                    </a:ext>
                  </a:extLst>
                </p14:cNvPr>
                <p14:cNvContentPartPr/>
                <p14:nvPr/>
              </p14:nvContentPartPr>
              <p14:xfrm>
                <a:off x="7425480" y="2906360"/>
                <a:ext cx="376920" cy="277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409A35-E80E-970E-9CDC-493D79CB7FE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19360" y="2900240"/>
                  <a:ext cx="389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4E41E6-F8E4-3B20-7E20-4EFFF0FB2EB6}"/>
                    </a:ext>
                  </a:extLst>
                </p14:cNvPr>
                <p14:cNvContentPartPr/>
                <p14:nvPr/>
              </p14:nvContentPartPr>
              <p14:xfrm>
                <a:off x="7759560" y="2880800"/>
                <a:ext cx="35280" cy="153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4E41E6-F8E4-3B20-7E20-4EFFF0FB2EB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53440" y="2874680"/>
                  <a:ext cx="475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27E34A-60C3-0F22-7C23-FCB470E90888}"/>
                    </a:ext>
                  </a:extLst>
                </p14:cNvPr>
                <p14:cNvContentPartPr/>
                <p14:nvPr/>
              </p14:nvContentPartPr>
              <p14:xfrm>
                <a:off x="7788360" y="2963600"/>
                <a:ext cx="6480" cy="2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27E34A-60C3-0F22-7C23-FCB470E908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82240" y="2957480"/>
                  <a:ext cx="187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A7DFE86-06C0-D76A-17B5-52737E3837F5}"/>
                    </a:ext>
                  </a:extLst>
                </p14:cNvPr>
                <p14:cNvContentPartPr/>
                <p14:nvPr/>
              </p14:nvContentPartPr>
              <p14:xfrm>
                <a:off x="7779000" y="2891960"/>
                <a:ext cx="234720" cy="289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A7DFE86-06C0-D76A-17B5-52737E3837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72880" y="2885840"/>
                  <a:ext cx="2469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86FA3A-EF60-BB14-E407-D54BC64FA333}"/>
                    </a:ext>
                  </a:extLst>
                </p14:cNvPr>
                <p14:cNvContentPartPr/>
                <p14:nvPr/>
              </p14:nvContentPartPr>
              <p14:xfrm>
                <a:off x="8100120" y="2810600"/>
                <a:ext cx="191160" cy="484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86FA3A-EF60-BB14-E407-D54BC64FA33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94000" y="2804480"/>
                  <a:ext cx="203400" cy="49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22F1A7-A51C-3154-12DA-1428DBDA4ED3}"/>
              </a:ext>
            </a:extLst>
          </p:cNvPr>
          <p:cNvGrpSpPr/>
          <p:nvPr/>
        </p:nvGrpSpPr>
        <p:grpSpPr>
          <a:xfrm>
            <a:off x="7665240" y="3906800"/>
            <a:ext cx="777960" cy="600840"/>
            <a:chOff x="7665240" y="3906800"/>
            <a:chExt cx="777960" cy="60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C7268D-9063-7E7B-F395-B59A4E50EDFD}"/>
                    </a:ext>
                  </a:extLst>
                </p14:cNvPr>
                <p14:cNvContentPartPr/>
                <p14:nvPr/>
              </p14:nvContentPartPr>
              <p14:xfrm>
                <a:off x="7665240" y="4150160"/>
                <a:ext cx="459360" cy="357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C7268D-9063-7E7B-F395-B59A4E50ED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59120" y="4144040"/>
                  <a:ext cx="4716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18BC18-0673-1085-AC05-63E617A65D16}"/>
                    </a:ext>
                  </a:extLst>
                </p14:cNvPr>
                <p14:cNvContentPartPr/>
                <p14:nvPr/>
              </p14:nvContentPartPr>
              <p14:xfrm>
                <a:off x="8219280" y="3906800"/>
                <a:ext cx="223920" cy="38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18BC18-0673-1085-AC05-63E617A65D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13160" y="3900680"/>
                  <a:ext cx="236160" cy="397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80B2547-0A4A-A0E0-F73F-06B50602AB10}"/>
                  </a:ext>
                </a:extLst>
              </p14:cNvPr>
              <p14:cNvContentPartPr/>
              <p14:nvPr/>
            </p14:nvContentPartPr>
            <p14:xfrm>
              <a:off x="8573520" y="600200"/>
              <a:ext cx="364320" cy="2689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80B2547-0A4A-A0E0-F73F-06B50602AB1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19520" y="492560"/>
                <a:ext cx="471960" cy="29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8BFBCEF-F0AD-B0ED-BFE7-A7E52BB5EE26}"/>
                  </a:ext>
                </a:extLst>
              </p14:cNvPr>
              <p14:cNvContentPartPr/>
              <p14:nvPr/>
            </p14:nvContentPartPr>
            <p14:xfrm>
              <a:off x="8892120" y="3185360"/>
              <a:ext cx="206280" cy="1557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8BFBCEF-F0AD-B0ED-BFE7-A7E52BB5EE2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38480" y="3077360"/>
                <a:ext cx="313920" cy="17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DE4528B-31F8-DD97-EA07-324DC339C524}"/>
                  </a:ext>
                </a:extLst>
              </p14:cNvPr>
              <p14:cNvContentPartPr/>
              <p14:nvPr/>
            </p14:nvContentPartPr>
            <p14:xfrm>
              <a:off x="8382720" y="433880"/>
              <a:ext cx="454320" cy="385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DE4528B-31F8-DD97-EA07-324DC339C5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29080" y="326240"/>
                <a:ext cx="561960" cy="60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C382EA1-B5C2-2C2A-E5AF-05BEA9C01AB1}"/>
                  </a:ext>
                </a:extLst>
              </p14:cNvPr>
              <p14:cNvContentPartPr/>
              <p14:nvPr/>
            </p14:nvContentPartPr>
            <p14:xfrm>
              <a:off x="9347880" y="2316680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C382EA1-B5C2-2C2A-E5AF-05BEA9C01AB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293880" y="220868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8CE66A3-1B7E-EC4E-21FD-186B70BC903A}"/>
                  </a:ext>
                </a:extLst>
              </p14:cNvPr>
              <p14:cNvContentPartPr/>
              <p14:nvPr/>
            </p14:nvContentPartPr>
            <p14:xfrm>
              <a:off x="9472080" y="2430080"/>
              <a:ext cx="24480" cy="2419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8CE66A3-1B7E-EC4E-21FD-186B70BC903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65960" y="2423960"/>
                <a:ext cx="3672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4B3DB2A-3259-1B26-08EF-E85B3329FFEE}"/>
                  </a:ext>
                </a:extLst>
              </p14:cNvPr>
              <p14:cNvContentPartPr/>
              <p14:nvPr/>
            </p14:nvContentPartPr>
            <p14:xfrm>
              <a:off x="9406200" y="2237840"/>
              <a:ext cx="23040" cy="6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4B3DB2A-3259-1B26-08EF-E85B3329FFE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00080" y="2231720"/>
                <a:ext cx="352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C792C20-728F-F793-2E5B-8300C1C8EE29}"/>
                  </a:ext>
                </a:extLst>
              </p14:cNvPr>
              <p14:cNvContentPartPr/>
              <p14:nvPr/>
            </p14:nvContentPartPr>
            <p14:xfrm>
              <a:off x="9637680" y="2366360"/>
              <a:ext cx="220320" cy="275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C792C20-728F-F793-2E5B-8300C1C8EE2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31560" y="2360240"/>
                <a:ext cx="232560" cy="28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F3455AB-F2F0-0217-25CF-AAD2B04ECD90}"/>
              </a:ext>
            </a:extLst>
          </p:cNvPr>
          <p:cNvGrpSpPr/>
          <p:nvPr/>
        </p:nvGrpSpPr>
        <p:grpSpPr>
          <a:xfrm>
            <a:off x="10091280" y="2237120"/>
            <a:ext cx="647640" cy="330840"/>
            <a:chOff x="10091280" y="2237120"/>
            <a:chExt cx="6476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5A0ABC-542A-BA66-0E6C-BF5D5F1B518B}"/>
                    </a:ext>
                  </a:extLst>
                </p14:cNvPr>
                <p14:cNvContentPartPr/>
                <p14:nvPr/>
              </p14:nvContentPartPr>
              <p14:xfrm>
                <a:off x="10091280" y="2391920"/>
                <a:ext cx="188280" cy="139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5A0ABC-542A-BA66-0E6C-BF5D5F1B518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85160" y="2385800"/>
                  <a:ext cx="200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36660C-30F6-2BFF-C639-D798DBCED59F}"/>
                    </a:ext>
                  </a:extLst>
                </p14:cNvPr>
                <p14:cNvContentPartPr/>
                <p14:nvPr/>
              </p14:nvContentPartPr>
              <p14:xfrm>
                <a:off x="10106760" y="2372840"/>
                <a:ext cx="276480" cy="195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36660C-30F6-2BFF-C639-D798DBCED5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00640" y="2366720"/>
                  <a:ext cx="288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132FE5-DCF0-D0FB-D770-0DC2D0FFA056}"/>
                    </a:ext>
                  </a:extLst>
                </p14:cNvPr>
                <p14:cNvContentPartPr/>
                <p14:nvPr/>
              </p14:nvContentPartPr>
              <p14:xfrm>
                <a:off x="10405560" y="2237120"/>
                <a:ext cx="175680" cy="279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132FE5-DCF0-D0FB-D770-0DC2D0FFA05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99440" y="2231000"/>
                  <a:ext cx="18792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B0586A8-C74F-D8F5-40E0-A19859067081}"/>
                    </a:ext>
                  </a:extLst>
                </p14:cNvPr>
                <p14:cNvContentPartPr/>
                <p14:nvPr/>
              </p14:nvContentPartPr>
              <p14:xfrm>
                <a:off x="10624080" y="2259800"/>
                <a:ext cx="114840" cy="247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B0586A8-C74F-D8F5-40E0-A198590670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17960" y="2253680"/>
                  <a:ext cx="12708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B8BA4B6-1C13-7E74-BDFB-351D94144A82}"/>
              </a:ext>
            </a:extLst>
          </p:cNvPr>
          <p:cNvGrpSpPr/>
          <p:nvPr/>
        </p:nvGrpSpPr>
        <p:grpSpPr>
          <a:xfrm>
            <a:off x="10948080" y="2062880"/>
            <a:ext cx="1067400" cy="434880"/>
            <a:chOff x="10948080" y="2062880"/>
            <a:chExt cx="106740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0F0A91-F6B0-9A22-D25A-375DEFF8E7AD}"/>
                    </a:ext>
                  </a:extLst>
                </p14:cNvPr>
                <p14:cNvContentPartPr/>
                <p14:nvPr/>
              </p14:nvContentPartPr>
              <p14:xfrm>
                <a:off x="10948080" y="2197160"/>
                <a:ext cx="180360" cy="2901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0F0A91-F6B0-9A22-D25A-375DEFF8E7A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41960" y="2191040"/>
                  <a:ext cx="1926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85D84E4-4C23-054D-9D6D-AFE659872360}"/>
                    </a:ext>
                  </a:extLst>
                </p14:cNvPr>
                <p14:cNvContentPartPr/>
                <p14:nvPr/>
              </p14:nvContentPartPr>
              <p14:xfrm>
                <a:off x="11082000" y="2474720"/>
                <a:ext cx="36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85D84E4-4C23-054D-9D6D-AFE6598723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75880" y="24686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CCAF260-5BB4-F341-FCD8-C7C06DB49650}"/>
                    </a:ext>
                  </a:extLst>
                </p14:cNvPr>
                <p14:cNvContentPartPr/>
                <p14:nvPr/>
              </p14:nvContentPartPr>
              <p14:xfrm>
                <a:off x="11076960" y="2201840"/>
                <a:ext cx="380160" cy="295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CCAF260-5BB4-F341-FCD8-C7C06DB496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70840" y="2195720"/>
                  <a:ext cx="3924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F26ECD-D601-955A-02CF-5C16945707CB}"/>
                    </a:ext>
                  </a:extLst>
                </p14:cNvPr>
                <p14:cNvContentPartPr/>
                <p14:nvPr/>
              </p14:nvContentPartPr>
              <p14:xfrm>
                <a:off x="11503560" y="2115800"/>
                <a:ext cx="217080" cy="322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F26ECD-D601-955A-02CF-5C16945707C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497440" y="2109680"/>
                  <a:ext cx="2293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B9D1269-65CF-47F9-7976-8833C3AFD0DC}"/>
                    </a:ext>
                  </a:extLst>
                </p14:cNvPr>
                <p14:cNvContentPartPr/>
                <p14:nvPr/>
              </p14:nvContentPartPr>
              <p14:xfrm>
                <a:off x="11648640" y="2062880"/>
                <a:ext cx="366840" cy="393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B9D1269-65CF-47F9-7976-8833C3AFD0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642520" y="2056760"/>
                  <a:ext cx="37908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3AB5DD4-557A-9301-6EAD-2AA771F12E87}"/>
              </a:ext>
            </a:extLst>
          </p:cNvPr>
          <p:cNvGrpSpPr/>
          <p:nvPr/>
        </p:nvGrpSpPr>
        <p:grpSpPr>
          <a:xfrm>
            <a:off x="6070080" y="650960"/>
            <a:ext cx="810000" cy="1800360"/>
            <a:chOff x="6070080" y="650960"/>
            <a:chExt cx="810000" cy="1800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289492D-D330-082E-04C5-70E45F16CD62}"/>
                    </a:ext>
                  </a:extLst>
                </p14:cNvPr>
                <p14:cNvContentPartPr/>
                <p14:nvPr/>
              </p14:nvContentPartPr>
              <p14:xfrm>
                <a:off x="6139560" y="849680"/>
                <a:ext cx="64080" cy="3294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289492D-D330-082E-04C5-70E45F16CD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30920" y="795680"/>
                  <a:ext cx="8172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B15B54D-3C3F-5748-660A-472D34BEFBE2}"/>
                    </a:ext>
                  </a:extLst>
                </p14:cNvPr>
                <p14:cNvContentPartPr/>
                <p14:nvPr/>
              </p14:nvContentPartPr>
              <p14:xfrm>
                <a:off x="6070080" y="650960"/>
                <a:ext cx="218880" cy="727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B15B54D-3C3F-5748-660A-472D34BEFB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61440" y="596960"/>
                  <a:ext cx="23652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3A6745-F293-3E2C-0596-6B1E6F066BFA}"/>
                    </a:ext>
                  </a:extLst>
                </p14:cNvPr>
                <p14:cNvContentPartPr/>
                <p14:nvPr/>
              </p14:nvContentPartPr>
              <p14:xfrm>
                <a:off x="6212280" y="2044520"/>
                <a:ext cx="580320" cy="274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3A6745-F293-3E2C-0596-6B1E6F066BF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03640" y="1990520"/>
                  <a:ext cx="5979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54BA39-CF87-09E1-F34A-13F3C672C683}"/>
                    </a:ext>
                  </a:extLst>
                </p14:cNvPr>
                <p14:cNvContentPartPr/>
                <p14:nvPr/>
              </p14:nvContentPartPr>
              <p14:xfrm>
                <a:off x="6385440" y="1691360"/>
                <a:ext cx="494640" cy="759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54BA39-CF87-09E1-F34A-13F3C672C68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6440" y="1637720"/>
                  <a:ext cx="512280" cy="86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3EB5FD2-1E14-9436-36EF-F823FDFB2621}"/>
              </a:ext>
            </a:extLst>
          </p:cNvPr>
          <p:cNvGrpSpPr/>
          <p:nvPr/>
        </p:nvGrpSpPr>
        <p:grpSpPr>
          <a:xfrm>
            <a:off x="6706560" y="2844440"/>
            <a:ext cx="864360" cy="2370240"/>
            <a:chOff x="6706560" y="2844440"/>
            <a:chExt cx="864360" cy="23702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744ED4C-F3DC-9B9C-751D-80321A1375FC}"/>
                    </a:ext>
                  </a:extLst>
                </p14:cNvPr>
                <p14:cNvContentPartPr/>
                <p14:nvPr/>
              </p14:nvContentPartPr>
              <p14:xfrm>
                <a:off x="6706560" y="2990600"/>
                <a:ext cx="364320" cy="497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744ED4C-F3DC-9B9C-751D-80321A1375F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97560" y="2936600"/>
                  <a:ext cx="3819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8954F7-1A53-7BD5-E556-D17AC43265AF}"/>
                    </a:ext>
                  </a:extLst>
                </p14:cNvPr>
                <p14:cNvContentPartPr/>
                <p14:nvPr/>
              </p14:nvContentPartPr>
              <p14:xfrm>
                <a:off x="6850920" y="2844440"/>
                <a:ext cx="276840" cy="851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8954F7-1A53-7BD5-E556-D17AC43265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41920" y="2790440"/>
                  <a:ext cx="294480" cy="9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349AC61-9E46-C3D0-3F81-B1FD39333423}"/>
                    </a:ext>
                  </a:extLst>
                </p14:cNvPr>
                <p14:cNvContentPartPr/>
                <p14:nvPr/>
              </p14:nvContentPartPr>
              <p14:xfrm>
                <a:off x="6970080" y="4266440"/>
                <a:ext cx="538560" cy="243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349AC61-9E46-C3D0-3F81-B1FD3933342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61080" y="4212800"/>
                  <a:ext cx="5562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089585-D2EE-9063-6915-296F67AC4EB0}"/>
                    </a:ext>
                  </a:extLst>
                </p14:cNvPr>
                <p14:cNvContentPartPr/>
                <p14:nvPr/>
              </p14:nvContentPartPr>
              <p14:xfrm>
                <a:off x="7098600" y="4292000"/>
                <a:ext cx="140040" cy="545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089585-D2EE-9063-6915-296F67AC4EB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89960" y="4238000"/>
                  <a:ext cx="15768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9D78A05-A259-DC0A-F4E0-B5F4D6999068}"/>
                    </a:ext>
                  </a:extLst>
                </p14:cNvPr>
                <p14:cNvContentPartPr/>
                <p14:nvPr/>
              </p14:nvContentPartPr>
              <p14:xfrm>
                <a:off x="7081320" y="4045040"/>
                <a:ext cx="489600" cy="1169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9D78A05-A259-DC0A-F4E0-B5F4D699906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72680" y="3991040"/>
                  <a:ext cx="507240" cy="127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135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1667121"/>
            <a:ext cx="7223760" cy="4868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Before you write code, you can use a flowchart to create a diagram of the steps in your algorithm.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flowchart shows the structure of decisions and tasks to solve a problem, linked to indicate flow of control.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Flowchart Diagrams advantages: Decomposition: breaking down a problem into smaller sub problems.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Algorithm design: the ability to build a step-by- step process to solve a particular problem.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 Solving: Flowchart Diagrams</a:t>
            </a:r>
          </a:p>
        </p:txBody>
      </p:sp>
    </p:spTree>
    <p:extLst>
      <p:ext uri="{BB962C8B-B14F-4D97-AF65-F5344CB8AC3E}">
        <p14:creationId xmlns:p14="http://schemas.microsoft.com/office/powerpoint/2010/main" val="113250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 Solving: Flowchart Diagrams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A130A4-6470-0640-45E8-B25CF50B3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966668"/>
              </p:ext>
            </p:extLst>
          </p:nvPr>
        </p:nvGraphicFramePr>
        <p:xfrm>
          <a:off x="889571" y="1894063"/>
          <a:ext cx="10515600" cy="3966411"/>
        </p:xfrm>
        <a:graphic>
          <a:graphicData uri="http://schemas.openxmlformats.org/drawingml/2006/table">
            <a:tbl>
              <a:tblPr/>
              <a:tblGrid>
                <a:gridCol w="1678969">
                  <a:extLst>
                    <a:ext uri="{9D8B030D-6E8A-4147-A177-3AD203B41FA5}">
                      <a16:colId xmlns:a16="http://schemas.microsoft.com/office/drawing/2014/main" val="2869604723"/>
                    </a:ext>
                  </a:extLst>
                </a:gridCol>
                <a:gridCol w="4206333">
                  <a:extLst>
                    <a:ext uri="{9D8B030D-6E8A-4147-A177-3AD203B41FA5}">
                      <a16:colId xmlns:a16="http://schemas.microsoft.com/office/drawing/2014/main" val="1244523025"/>
                    </a:ext>
                  </a:extLst>
                </a:gridCol>
                <a:gridCol w="4630298">
                  <a:extLst>
                    <a:ext uri="{9D8B030D-6E8A-4147-A177-3AD203B41FA5}">
                      <a16:colId xmlns:a16="http://schemas.microsoft.com/office/drawing/2014/main" val="3318445809"/>
                    </a:ext>
                  </a:extLst>
                </a:gridCol>
              </a:tblGrid>
              <a:tr h="382724">
                <a:tc>
                  <a:txBody>
                    <a:bodyPr/>
                    <a:lstStyle/>
                    <a:p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</a:rPr>
                        <a:t>Symbol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</a:rPr>
                        <a:t>Purpose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effectLst/>
                          <a:latin typeface="Calibri" panose="020F0502020204030204" pitchFamily="34" charset="0"/>
                        </a:rPr>
                        <a:t>Description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46169"/>
                  </a:ext>
                </a:extLst>
              </a:tr>
              <a:tr h="661069"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Flow line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Used to indicate the flow of logic by</a:t>
                      </a:r>
                    </a:p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 connecting symbols.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1237"/>
                  </a:ext>
                </a:extLst>
              </a:tr>
              <a:tr h="661069"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Terminal(Stop/Start)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Calibri" panose="020F0502020204030204" pitchFamily="34" charset="0"/>
                        </a:rPr>
                        <a:t>Used to represent start and end of flowchart.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5982"/>
                  </a:ext>
                </a:extLst>
              </a:tr>
              <a:tr h="661069"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Process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Used for arithmetic operations and </a:t>
                      </a:r>
                    </a:p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data- manipulations.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852693"/>
                  </a:ext>
                </a:extLst>
              </a:tr>
              <a:tr h="939411"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Decision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Used to represent the operation in which there are two alternatives, true and false.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220244"/>
                  </a:ext>
                </a:extLst>
              </a:tr>
              <a:tr h="661069"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effectLst/>
                          <a:latin typeface="Calibri" panose="020F0502020204030204" pitchFamily="34" charset="0"/>
                        </a:rPr>
                        <a:t>Input/Output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effectLst/>
                          <a:latin typeface="Calibri" panose="020F0502020204030204" pitchFamily="34" charset="0"/>
                        </a:rPr>
                        <a:t>Used for input and output operation (optional)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8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677036"/>
                  </a:ext>
                </a:extLst>
              </a:tr>
            </a:tbl>
          </a:graphicData>
        </a:graphic>
      </p:graphicFrame>
      <p:pic>
        <p:nvPicPr>
          <p:cNvPr id="1025" name="Picture 1" descr="page10image59625744">
            <a:extLst>
              <a:ext uri="{FF2B5EF4-FFF2-40B4-BE49-F238E27FC236}">
                <a16:creationId xmlns:a16="http://schemas.microsoft.com/office/drawing/2014/main" id="{5B5AC747-DD21-4F97-64E7-87AA784BE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588" y="2508628"/>
            <a:ext cx="906653" cy="13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10image42836848">
            <a:extLst>
              <a:ext uri="{FF2B5EF4-FFF2-40B4-BE49-F238E27FC236}">
                <a16:creationId xmlns:a16="http://schemas.microsoft.com/office/drawing/2014/main" id="{37843CFE-68A3-9ADC-354B-DC9220EEC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175" y="2942960"/>
            <a:ext cx="1213993" cy="46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10image59626368">
            <a:extLst>
              <a:ext uri="{FF2B5EF4-FFF2-40B4-BE49-F238E27FC236}">
                <a16:creationId xmlns:a16="http://schemas.microsoft.com/office/drawing/2014/main" id="{A2AEAB85-1EEB-C428-BD9A-257376F80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65" y="3526860"/>
            <a:ext cx="1137158" cy="59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0image59626576">
            <a:extLst>
              <a:ext uri="{FF2B5EF4-FFF2-40B4-BE49-F238E27FC236}">
                <a16:creationId xmlns:a16="http://schemas.microsoft.com/office/drawing/2014/main" id="{764244C5-D835-A1DB-11D9-3CD3FA8E1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29" y="4288237"/>
            <a:ext cx="1301585" cy="57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page10image59626784">
            <a:extLst>
              <a:ext uri="{FF2B5EF4-FFF2-40B4-BE49-F238E27FC236}">
                <a16:creationId xmlns:a16="http://schemas.microsoft.com/office/drawing/2014/main" id="{9E0D4855-B687-F6E9-99AB-846AF7CB8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894" y="5080003"/>
            <a:ext cx="1115644" cy="57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1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Flowchart Examples</a:t>
            </a:r>
          </a:p>
        </p:txBody>
      </p:sp>
      <p:pic>
        <p:nvPicPr>
          <p:cNvPr id="5121" name="Picture 1" descr="page13image59753488">
            <a:extLst>
              <a:ext uri="{FF2B5EF4-FFF2-40B4-BE49-F238E27FC236}">
                <a16:creationId xmlns:a16="http://schemas.microsoft.com/office/drawing/2014/main" id="{29C907A6-9FBA-7EE4-18A3-AF848F1F0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842" y="2229335"/>
            <a:ext cx="40386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73564A-AE2D-5A36-2067-9D6C72F8B07B}"/>
              </a:ext>
            </a:extLst>
          </p:cNvPr>
          <p:cNvSpPr txBox="1">
            <a:spLocks/>
          </p:cNvSpPr>
          <p:nvPr/>
        </p:nvSpPr>
        <p:spPr>
          <a:xfrm>
            <a:off x="1669472" y="1566851"/>
            <a:ext cx="2279073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A21FFD-9035-25EE-3973-CE7629E1D646}"/>
              </a:ext>
            </a:extLst>
          </p:cNvPr>
          <p:cNvSpPr txBox="1">
            <a:spLocks/>
          </p:cNvSpPr>
          <p:nvPr/>
        </p:nvSpPr>
        <p:spPr>
          <a:xfrm>
            <a:off x="6172199" y="1566168"/>
            <a:ext cx="2279073" cy="929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Example 2</a:t>
            </a:r>
          </a:p>
        </p:txBody>
      </p:sp>
      <p:pic>
        <p:nvPicPr>
          <p:cNvPr id="5131" name="Picture 11" descr="page13image59753488">
            <a:extLst>
              <a:ext uri="{FF2B5EF4-FFF2-40B4-BE49-F238E27FC236}">
                <a16:creationId xmlns:a16="http://schemas.microsoft.com/office/drawing/2014/main" id="{9653C29E-8A6C-8B6A-1E44-8DD048D82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709" y="2189018"/>
            <a:ext cx="40386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page13image59755776">
            <a:extLst>
              <a:ext uri="{FF2B5EF4-FFF2-40B4-BE49-F238E27FC236}">
                <a16:creationId xmlns:a16="http://schemas.microsoft.com/office/drawing/2014/main" id="{2F25E09C-A6D9-B4FF-B7EC-4B0310184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709" y="2189018"/>
            <a:ext cx="40386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926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 types and expressions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0E142A-2BB1-6CEA-CCD8-A06AA3118698}"/>
              </a:ext>
            </a:extLst>
          </p:cNvPr>
          <p:cNvSpPr txBox="1"/>
          <p:nvPr/>
        </p:nvSpPr>
        <p:spPr>
          <a:xfrm>
            <a:off x="1483879" y="1791422"/>
            <a:ext cx="84928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Python provides the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type that can be either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set to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True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False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E.g., </a:t>
            </a:r>
            <a:r>
              <a:rPr lang="en-GB" sz="24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finished = True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We will use the Boolean type during the later loop lecture.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</a:t>
            </a:r>
            <a:r>
              <a:rPr lang="en-GB" sz="24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expression evaluates to one of two states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# the operator == tests if two values are equal 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400" dirty="0"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print(5 == 5) # produces True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print(5 == 6) # produces False </a:t>
            </a:r>
            <a:endParaRPr lang="en-GB" sz="2400" dirty="0">
              <a:effectLst/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16004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1155953"/>
            <a:ext cx="9235902" cy="58906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dirty="0">
              <a:effectLst/>
            </a:endParaRP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Sometimes we only want a program to execute code </a:t>
            </a:r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under certain circumstances.</a:t>
            </a:r>
            <a:endParaRPr lang="en-GB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 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give us the ability to write programs that do different things based on different conditions. </a:t>
            </a:r>
          </a:p>
          <a:p>
            <a:pPr algn="l"/>
            <a:r>
              <a:rPr lang="en-GB" dirty="0">
                <a:effectLst/>
                <a:latin typeface="ArialMT"/>
              </a:rPr>
              <a:t>–   </a:t>
            </a:r>
            <a:r>
              <a:rPr lang="en-GB" dirty="0">
                <a:effectLst/>
                <a:latin typeface="CourierNewPSMT" panose="02070309020205020404" pitchFamily="49" charset="0"/>
              </a:rPr>
              <a:t>if</a:t>
            </a:r>
            <a:br>
              <a:rPr lang="en-GB" dirty="0">
                <a:effectLst/>
                <a:latin typeface="CourierNewPSMT" panose="02070309020205020404" pitchFamily="49" charset="0"/>
              </a:rPr>
            </a:br>
            <a:r>
              <a:rPr lang="en-GB" dirty="0">
                <a:effectLst/>
                <a:latin typeface="ArialMT"/>
              </a:rPr>
              <a:t>–   </a:t>
            </a:r>
            <a:r>
              <a:rPr lang="en-GB" dirty="0">
                <a:effectLst/>
                <a:latin typeface="CourierNewPSMT" panose="02070309020205020404" pitchFamily="49" charset="0"/>
              </a:rPr>
              <a:t>if-else </a:t>
            </a:r>
          </a:p>
          <a:p>
            <a:pPr algn="l"/>
            <a:r>
              <a:rPr lang="en-GB" dirty="0">
                <a:effectLst/>
                <a:latin typeface="ArialMT"/>
              </a:rPr>
              <a:t>–   </a:t>
            </a:r>
            <a:r>
              <a:rPr lang="en-GB" dirty="0" err="1">
                <a:effectLst/>
                <a:latin typeface="CourierNewPSMT" panose="02070309020205020404" pitchFamily="49" charset="0"/>
              </a:rPr>
              <a:t>elif</a:t>
            </a:r>
            <a:r>
              <a:rPr lang="en-GB" dirty="0">
                <a:effectLst/>
                <a:latin typeface="CourierNewPSMT" panose="02070309020205020404" pitchFamily="49" charset="0"/>
              </a:rPr>
              <a:t> </a:t>
            </a:r>
            <a:endParaRPr lang="en-GB" dirty="0">
              <a:effectLst/>
            </a:endParaRP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Note: You may have used a switch case statement in other programming languages. </a:t>
            </a:r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Python does not have a switch case statement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 </a:t>
            </a:r>
          </a:p>
          <a:p>
            <a:pPr algn="l"/>
            <a:endParaRPr lang="en-GB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41638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556E629-A092-313A-245F-87CCA20EFE1C}"/>
              </a:ext>
            </a:extLst>
          </p:cNvPr>
          <p:cNvSpPr txBox="1">
            <a:spLocks/>
          </p:cNvSpPr>
          <p:nvPr/>
        </p:nvSpPr>
        <p:spPr>
          <a:xfrm>
            <a:off x="1681480" y="1597846"/>
            <a:ext cx="9235902" cy="4868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 - 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simplest form is if: </a:t>
            </a:r>
          </a:p>
          <a:p>
            <a:pPr algn="l"/>
            <a:endParaRPr lang="en-GB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if x &gt; 0: </a:t>
            </a:r>
          </a:p>
          <a:p>
            <a:pPr algn="l"/>
            <a:r>
              <a:rPr lang="en-GB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	print('x is positive’) </a:t>
            </a:r>
          </a:p>
          <a:p>
            <a:pPr algn="l"/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 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the </a:t>
            </a:r>
            <a:r>
              <a:rPr lang="en-GB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expression after if. • If it is true, the indented statement runs.</a:t>
            </a:r>
            <a:b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If not true, nothing happens. </a:t>
            </a:r>
          </a:p>
          <a:p>
            <a:pPr algn="l"/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Indent </a:t>
            </a:r>
            <a:r>
              <a:rPr lang="en-GB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 print statement so that the program knows that it is part of the if statement. 4-spaces is common choice.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</a:t>
            </a:r>
          </a:p>
        </p:txBody>
      </p:sp>
    </p:spTree>
    <p:extLst>
      <p:ext uri="{BB962C8B-B14F-4D97-AF65-F5344CB8AC3E}">
        <p14:creationId xmlns:p14="http://schemas.microsoft.com/office/powerpoint/2010/main" val="384047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14F17-B6C3-F21A-5A33-9B5A9BA7061A}"/>
              </a:ext>
            </a:extLst>
          </p:cNvPr>
          <p:cNvSpPr txBox="1"/>
          <p:nvPr/>
        </p:nvSpPr>
        <p:spPr>
          <a:xfrm>
            <a:off x="2854039" y="1993240"/>
            <a:ext cx="86452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800" dirty="0">
              <a:effectLst/>
              <a:latin typeface="CourierNewPSMT" panose="02070309020205020404" pitchFamily="49" charset="0"/>
            </a:endParaRPr>
          </a:p>
          <a:p>
            <a:endParaRPr lang="en-GB" dirty="0">
              <a:latin typeface="CourierNewPSMT" panose="02070309020205020404" pitchFamily="49" charset="0"/>
            </a:endParaRPr>
          </a:p>
          <a:p>
            <a:endParaRPr lang="en-GB" sz="1800" dirty="0">
              <a:effectLst/>
              <a:latin typeface="CourierNewPSMT" panose="02070309020205020404" pitchFamily="49" charset="0"/>
            </a:endParaRPr>
          </a:p>
          <a:p>
            <a:endParaRPr lang="en-GB" sz="1800" dirty="0">
              <a:effectLst/>
              <a:latin typeface="CourierNewPSMT" panose="02070309020205020404" pitchFamily="49" charset="0"/>
            </a:endParaRPr>
          </a:p>
          <a:p>
            <a:endParaRPr lang="en-GB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letter = “a”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letter == “a”: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print(“Letter is a”) </a:t>
            </a:r>
          </a:p>
          <a:p>
            <a:endParaRPr lang="en-GB" dirty="0">
              <a:effectLst/>
            </a:endParaRPr>
          </a:p>
          <a:p>
            <a:endParaRPr lang="en-GB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37E5B-0624-C739-9B92-C15E00F4BFB4}"/>
              </a:ext>
            </a:extLst>
          </p:cNvPr>
          <p:cNvSpPr txBox="1"/>
          <p:nvPr/>
        </p:nvSpPr>
        <p:spPr>
          <a:xfrm>
            <a:off x="5846622" y="2094918"/>
            <a:ext cx="4003963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Using one = is setting a variable!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06F49A-2BA7-12E7-703A-3A5B5E302D30}"/>
              </a:ext>
            </a:extLst>
          </p:cNvPr>
          <p:cNvSpPr txBox="1"/>
          <p:nvPr/>
        </p:nvSpPr>
        <p:spPr>
          <a:xfrm>
            <a:off x="7010404" y="2682471"/>
            <a:ext cx="3366655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Using two == tests for equality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114F32-6A38-DB49-5737-972B5C92546A}"/>
              </a:ext>
            </a:extLst>
          </p:cNvPr>
          <p:cNvSpPr txBox="1"/>
          <p:nvPr/>
        </p:nvSpPr>
        <p:spPr>
          <a:xfrm>
            <a:off x="3823857" y="4699107"/>
            <a:ext cx="3103418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must </a:t>
            </a:r>
            <a:r>
              <a:rPr lang="en-GB" sz="18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indent </a:t>
            </a:r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 print statement so that it is part of the </a:t>
            </a:r>
            <a:r>
              <a:rPr lang="en-GB" sz="18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statement block </a:t>
            </a:r>
            <a:endParaRPr lang="en-GB" sz="18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FDAE25-DF7B-7DFF-7DD5-8DE434491F72}"/>
              </a:ext>
            </a:extLst>
          </p:cNvPr>
          <p:cNvSpPr txBox="1"/>
          <p:nvPr/>
        </p:nvSpPr>
        <p:spPr>
          <a:xfrm>
            <a:off x="1482440" y="2219144"/>
            <a:ext cx="3144981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GB" sz="18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</a:t>
            </a:r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must be in </a:t>
            </a:r>
            <a:r>
              <a:rPr lang="en-GB" sz="18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lower case. </a:t>
            </a:r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must add a </a:t>
            </a:r>
            <a:r>
              <a:rPr lang="en-GB" sz="18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colon </a:t>
            </a:r>
            <a:r>
              <a:rPr lang="en-GB" sz="1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the end of the statement.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2F0003-B0D7-C9F3-2B29-67EC4D63DF4E}"/>
              </a:ext>
            </a:extLst>
          </p:cNvPr>
          <p:cNvCxnSpPr>
            <a:cxnSpLocks/>
          </p:cNvCxnSpPr>
          <p:nvPr/>
        </p:nvCxnSpPr>
        <p:spPr>
          <a:xfrm>
            <a:off x="2008912" y="3200400"/>
            <a:ext cx="943552" cy="7758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521426-3FA4-C546-7583-9C4E34932A22}"/>
              </a:ext>
            </a:extLst>
          </p:cNvPr>
          <p:cNvCxnSpPr>
            <a:cxnSpLocks/>
          </p:cNvCxnSpPr>
          <p:nvPr/>
        </p:nvCxnSpPr>
        <p:spPr>
          <a:xfrm flipH="1">
            <a:off x="4378039" y="2479963"/>
            <a:ext cx="1898073" cy="983673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5ADE16-CB4C-E12B-1FA0-EC3B588DF0AD}"/>
              </a:ext>
            </a:extLst>
          </p:cNvPr>
          <p:cNvCxnSpPr>
            <a:cxnSpLocks/>
          </p:cNvCxnSpPr>
          <p:nvPr/>
        </p:nvCxnSpPr>
        <p:spPr>
          <a:xfrm flipH="1">
            <a:off x="5056912" y="2895598"/>
            <a:ext cx="1898073" cy="983673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own Arrow 30">
            <a:extLst>
              <a:ext uri="{FF2B5EF4-FFF2-40B4-BE49-F238E27FC236}">
                <a16:creationId xmlns:a16="http://schemas.microsoft.com/office/drawing/2014/main" id="{C165D481-7BF4-8A4A-F3F6-E3A5BE961335}"/>
              </a:ext>
            </a:extLst>
          </p:cNvPr>
          <p:cNvSpPr/>
          <p:nvPr/>
        </p:nvSpPr>
        <p:spPr>
          <a:xfrm rot="16200000" flipH="1">
            <a:off x="3291541" y="3929570"/>
            <a:ext cx="194684" cy="8422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C4D344-528C-CF86-A669-E3B23B2A243A}"/>
              </a:ext>
            </a:extLst>
          </p:cNvPr>
          <p:cNvSpPr txBox="1"/>
          <p:nvPr/>
        </p:nvSpPr>
        <p:spPr>
          <a:xfrm>
            <a:off x="845127" y="12908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- Example 2a </a:t>
            </a:r>
          </a:p>
        </p:txBody>
      </p:sp>
    </p:spTree>
    <p:extLst>
      <p:ext uri="{BB962C8B-B14F-4D97-AF65-F5344CB8AC3E}">
        <p14:creationId xmlns:p14="http://schemas.microsoft.com/office/powerpoint/2010/main" val="166964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Conditional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14F17-B6C3-F21A-5A33-9B5A9BA7061A}"/>
              </a:ext>
            </a:extLst>
          </p:cNvPr>
          <p:cNvSpPr txBox="1"/>
          <p:nvPr/>
        </p:nvSpPr>
        <p:spPr>
          <a:xfrm>
            <a:off x="1497733" y="2367312"/>
            <a:ext cx="86452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Now if we change the program 2a slightly: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letter = “b”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letter == “a”: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print(“Letter is a”) </a:t>
            </a: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ArialMT"/>
              </a:rPr>
              <a:t>•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Because the answer is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false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does not print anything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C4D344-528C-CF86-A669-E3B23B2A243A}"/>
              </a:ext>
            </a:extLst>
          </p:cNvPr>
          <p:cNvSpPr txBox="1"/>
          <p:nvPr/>
        </p:nvSpPr>
        <p:spPr>
          <a:xfrm>
            <a:off x="845127" y="129084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- Example 2b </a:t>
            </a:r>
          </a:p>
        </p:txBody>
      </p:sp>
    </p:spTree>
    <p:extLst>
      <p:ext uri="{BB962C8B-B14F-4D97-AF65-F5344CB8AC3E}">
        <p14:creationId xmlns:p14="http://schemas.microsoft.com/office/powerpoint/2010/main" val="3567472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 of Indentation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14F17-B6C3-F21A-5A33-9B5A9BA7061A}"/>
              </a:ext>
            </a:extLst>
          </p:cNvPr>
          <p:cNvSpPr txBox="1"/>
          <p:nvPr/>
        </p:nvSpPr>
        <p:spPr>
          <a:xfrm>
            <a:off x="1677844" y="1799275"/>
            <a:ext cx="86452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letter = “a” </a:t>
            </a: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letter == “a”: 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print(“Letter is a”) </a:t>
            </a:r>
          </a:p>
          <a:p>
            <a:r>
              <a:rPr lang="en-GB" sz="2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print(“Prints if letter is a”) print(“Always prints as not in if block”)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E4139-5699-F787-C8CE-B63F2463204D}"/>
              </a:ext>
            </a:extLst>
          </p:cNvPr>
          <p:cNvSpPr txBox="1"/>
          <p:nvPr/>
        </p:nvSpPr>
        <p:spPr>
          <a:xfrm>
            <a:off x="1774825" y="4297371"/>
            <a:ext cx="6096000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print statement needs to be indented to be applied to the </a:t>
            </a:r>
            <a:r>
              <a:rPr lang="en-GB" sz="20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statement block. </a:t>
            </a:r>
            <a:endParaRPr lang="en-GB" sz="20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0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If not indented it is not part of the if block. </a:t>
            </a:r>
          </a:p>
        </p:txBody>
      </p:sp>
    </p:spTree>
    <p:extLst>
      <p:ext uri="{BB962C8B-B14F-4D97-AF65-F5344CB8AC3E}">
        <p14:creationId xmlns:p14="http://schemas.microsoft.com/office/powerpoint/2010/main" val="3977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Relational Operators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64ACCE-57CF-29B4-630F-92B169DDF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112389"/>
              </p:ext>
            </p:extLst>
          </p:nvPr>
        </p:nvGraphicFramePr>
        <p:xfrm>
          <a:off x="930667" y="2311024"/>
          <a:ext cx="7494142" cy="3627120"/>
        </p:xfrm>
        <a:graphic>
          <a:graphicData uri="http://schemas.openxmlformats.org/drawingml/2006/table">
            <a:tbl>
              <a:tblPr/>
              <a:tblGrid>
                <a:gridCol w="1980010">
                  <a:extLst>
                    <a:ext uri="{9D8B030D-6E8A-4147-A177-3AD203B41FA5}">
                      <a16:colId xmlns:a16="http://schemas.microsoft.com/office/drawing/2014/main" val="3588270010"/>
                    </a:ext>
                  </a:extLst>
                </a:gridCol>
                <a:gridCol w="5514132">
                  <a:extLst>
                    <a:ext uri="{9D8B030D-6E8A-4147-A177-3AD203B41FA5}">
                      <a16:colId xmlns:a16="http://schemas.microsoft.com/office/drawing/2014/main" val="3174981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Operator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Meaning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38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==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Equal to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083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!=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Not equal to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02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&lt;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Less than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7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&gt;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Greater than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70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&lt;=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Less than or equal to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608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&gt;=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Greater than or equal to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433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F1EEFC-2B6D-AFFA-8234-32C2E637F2B5}"/>
              </a:ext>
            </a:extLst>
          </p:cNvPr>
          <p:cNvSpPr txBox="1"/>
          <p:nvPr/>
        </p:nvSpPr>
        <p:spPr>
          <a:xfrm>
            <a:off x="690625" y="1585278"/>
            <a:ext cx="9894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Conditional expressions can be formed using the following operators: </a:t>
            </a:r>
          </a:p>
        </p:txBody>
      </p:sp>
    </p:spTree>
    <p:extLst>
      <p:ext uri="{BB962C8B-B14F-4D97-AF65-F5344CB8AC3E}">
        <p14:creationId xmlns:p14="http://schemas.microsoft.com/office/powerpoint/2010/main" val="322113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Relational Operators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1EEFC-2B6D-AFFA-8234-32C2E637F2B5}"/>
              </a:ext>
            </a:extLst>
          </p:cNvPr>
          <p:cNvSpPr txBox="1"/>
          <p:nvPr/>
        </p:nvSpPr>
        <p:spPr>
          <a:xfrm>
            <a:off x="690625" y="1585278"/>
            <a:ext cx="9894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Conditional expressions can be formed using the following operators: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CEA36BC-2A29-6AC5-B888-9DB14DF99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231316"/>
              </p:ext>
            </p:extLst>
          </p:nvPr>
        </p:nvGraphicFramePr>
        <p:xfrm>
          <a:off x="1018309" y="2255622"/>
          <a:ext cx="4966856" cy="3657600"/>
        </p:xfrm>
        <a:graphic>
          <a:graphicData uri="http://schemas.openxmlformats.org/drawingml/2006/table">
            <a:tbl>
              <a:tblPr/>
              <a:tblGrid>
                <a:gridCol w="561109">
                  <a:extLst>
                    <a:ext uri="{9D8B030D-6E8A-4147-A177-3AD203B41FA5}">
                      <a16:colId xmlns:a16="http://schemas.microsoft.com/office/drawing/2014/main" val="588119035"/>
                    </a:ext>
                  </a:extLst>
                </a:gridCol>
                <a:gridCol w="2189018">
                  <a:extLst>
                    <a:ext uri="{9D8B030D-6E8A-4147-A177-3AD203B41FA5}">
                      <a16:colId xmlns:a16="http://schemas.microsoft.com/office/drawing/2014/main" val="2125438561"/>
                    </a:ext>
                  </a:extLst>
                </a:gridCol>
                <a:gridCol w="2216729">
                  <a:extLst>
                    <a:ext uri="{9D8B030D-6E8A-4147-A177-3AD203B41FA5}">
                      <a16:colId xmlns:a16="http://schemas.microsoft.com/office/drawing/2014/main" val="19627371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Expression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True or False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90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3 &lt;= 4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936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b)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3 =&lt; 4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3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c)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3&gt;4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151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4&lt;4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300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4 &lt;=4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95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f)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3 == 5 - 2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287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g)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effectLst/>
                          <a:latin typeface="Calibri" panose="020F0502020204030204" pitchFamily="34" charset="0"/>
                        </a:rPr>
                        <a:t>3!= 5-1 </a:t>
                      </a:r>
                      <a:endParaRPr lang="en-GB" sz="24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641027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501732AB-CDCF-88DA-7ADF-53AD96F8D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09" y="2254184"/>
            <a:ext cx="4966855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Expression is True or False? </a:t>
            </a:r>
          </a:p>
        </p:txBody>
      </p:sp>
    </p:spTree>
    <p:extLst>
      <p:ext uri="{BB962C8B-B14F-4D97-AF65-F5344CB8AC3E}">
        <p14:creationId xmlns:p14="http://schemas.microsoft.com/office/powerpoint/2010/main" val="2330159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1EEFC-2B6D-AFFA-8234-32C2E637F2B5}"/>
              </a:ext>
            </a:extLst>
          </p:cNvPr>
          <p:cNvSpPr txBox="1"/>
          <p:nvPr/>
        </p:nvSpPr>
        <p:spPr>
          <a:xfrm>
            <a:off x="690624" y="1585278"/>
            <a:ext cx="103237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number a user enters is stored in a variable called 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number</a:t>
            </a:r>
            <a:r>
              <a:rPr lang="en-GB" sz="2800" dirty="0">
                <a:effectLst/>
                <a:latin typeface="Calibri" panose="020F0502020204030204" pitchFamily="34" charset="0"/>
              </a:rPr>
              <a:t>. </a:t>
            </a:r>
            <a:endParaRPr lang="en-GB" sz="2800" dirty="0">
              <a:effectLst/>
              <a:latin typeface="ArialM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8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Check if </a:t>
            </a:r>
            <a:r>
              <a:rPr lang="en-GB" sz="2800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number</a:t>
            </a: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equal to 10.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Calibri" panose="020F0502020204030204" pitchFamily="34" charset="0"/>
              </a:rPr>
              <a:t> If true, display message…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800" dirty="0">
              <a:latin typeface="Calibri" panose="020F0502020204030204" pitchFamily="34" charset="0"/>
            </a:endParaRPr>
          </a:p>
          <a:p>
            <a:r>
              <a:rPr lang="en-GB" sz="2800" dirty="0">
                <a:effectLst/>
                <a:latin typeface="Calibri" panose="020F0502020204030204" pitchFamily="34" charset="0"/>
              </a:rPr>
              <a:t>‘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number is equal to 10</a:t>
            </a:r>
            <a:r>
              <a:rPr lang="en-GB" sz="2800" dirty="0">
                <a:effectLst/>
                <a:latin typeface="Calibri" panose="020F0502020204030204" pitchFamily="34" charset="0"/>
              </a:rPr>
              <a:t>’. </a:t>
            </a:r>
            <a:endParaRPr lang="en-GB" sz="2800" dirty="0">
              <a:effectLst/>
              <a:latin typeface="ArialMT"/>
            </a:endParaRPr>
          </a:p>
          <a:p>
            <a:pPr lvl="1"/>
            <a:endParaRPr lang="en-GB" sz="2800" dirty="0">
              <a:effectLst/>
              <a:latin typeface="Calibri" panose="020F0502020204030204" pitchFamily="34" charset="0"/>
            </a:endParaRPr>
          </a:p>
          <a:p>
            <a:pPr lvl="1"/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a)  Draw the flowchart first. </a:t>
            </a:r>
          </a:p>
          <a:p>
            <a:pPr lvl="1"/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b)  Then write the program. </a:t>
            </a:r>
          </a:p>
        </p:txBody>
      </p:sp>
    </p:spTree>
    <p:extLst>
      <p:ext uri="{BB962C8B-B14F-4D97-AF65-F5344CB8AC3E}">
        <p14:creationId xmlns:p14="http://schemas.microsoft.com/office/powerpoint/2010/main" val="271873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Exercise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379C8-6E5C-FC2C-E0F1-D92D40475B7C}"/>
              </a:ext>
            </a:extLst>
          </p:cNvPr>
          <p:cNvSpPr txBox="1"/>
          <p:nvPr/>
        </p:nvSpPr>
        <p:spPr>
          <a:xfrm>
            <a:off x="914399" y="173144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the final value of </a:t>
            </a:r>
            <a:r>
              <a:rPr lang="en-GB" sz="2400" i="1" dirty="0">
                <a:effectLst/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b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957407" y="2440955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a=3</a:t>
            </a:r>
            <a:b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a==3 : </a:t>
            </a:r>
          </a:p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b=a*2 </a:t>
            </a:r>
          </a:p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a &lt; 4: </a:t>
            </a:r>
          </a:p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b=a+2 </a:t>
            </a:r>
          </a:p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a &gt; 2: </a:t>
            </a:r>
          </a:p>
          <a:p>
            <a:r>
              <a:rPr lang="en-GB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b=a*2 </a:t>
            </a:r>
          </a:p>
        </p:txBody>
      </p:sp>
    </p:spTree>
    <p:extLst>
      <p:ext uri="{BB962C8B-B14F-4D97-AF65-F5344CB8AC3E}">
        <p14:creationId xmlns:p14="http://schemas.microsoft.com/office/powerpoint/2010/main" val="334695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Exercises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915844" y="1775936"/>
            <a:ext cx="74384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Calibri" panose="020F0502020204030204" pitchFamily="34" charset="0"/>
              </a:rPr>
              <a:t>Which are true if </a:t>
            </a:r>
            <a:r>
              <a:rPr lang="en-GB" sz="2400" i="1" dirty="0">
                <a:effectLst/>
                <a:latin typeface="Calibri" panose="020F0502020204030204" pitchFamily="34" charset="0"/>
              </a:rPr>
              <a:t>a </a:t>
            </a:r>
            <a:r>
              <a:rPr lang="en-GB" sz="2400" dirty="0">
                <a:effectLst/>
                <a:latin typeface="Calibri" panose="020F0502020204030204" pitchFamily="34" charset="0"/>
              </a:rPr>
              <a:t>is 3 and </a:t>
            </a:r>
            <a:r>
              <a:rPr lang="en-GB" sz="2400" i="1" dirty="0">
                <a:effectLst/>
                <a:latin typeface="Calibri" panose="020F0502020204030204" pitchFamily="34" charset="0"/>
              </a:rPr>
              <a:t>b </a:t>
            </a:r>
            <a:r>
              <a:rPr lang="en-GB" sz="2400" dirty="0">
                <a:effectLst/>
                <a:latin typeface="Calibri" panose="020F0502020204030204" pitchFamily="34" charset="0"/>
              </a:rPr>
              <a:t>is 4? </a:t>
            </a: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a) a + 1 &lt;= b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b) a + 1 &gt;= b </a:t>
            </a: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c) a + 1 != b </a:t>
            </a:r>
            <a:endParaRPr lang="en-GB" sz="2400" dirty="0">
              <a:effectLst/>
            </a:endParaRPr>
          </a:p>
          <a:p>
            <a:endParaRPr lang="en-GB" sz="2400" dirty="0">
              <a:effectLst/>
              <a:latin typeface="Calibri" panose="020F0502020204030204" pitchFamily="34" charset="0"/>
            </a:endParaRPr>
          </a:p>
          <a:p>
            <a:r>
              <a:rPr lang="en-GB" sz="2400" dirty="0">
                <a:effectLst/>
                <a:latin typeface="Calibri" panose="020F0502020204030204" pitchFamily="34" charset="0"/>
              </a:rPr>
              <a:t>What is the error in this statement: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scoreA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=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scoreB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print(“Tie”)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66531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Tutorial Question (1b)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915844" y="1775936"/>
            <a:ext cx="743844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Calibri" panose="020F0502020204030204" pitchFamily="34" charset="0"/>
              </a:rPr>
              <a:t>Write a program to read in someone’s age. Display ‘can vote’ if they are old enough. </a:t>
            </a:r>
          </a:p>
          <a:p>
            <a:endParaRPr lang="en-GB" sz="2800" dirty="0">
              <a:effectLst/>
            </a:endParaRPr>
          </a:p>
          <a:p>
            <a:pPr marL="457200" indent="-457200">
              <a:buAutoNum type="alphaLcParenR"/>
            </a:pPr>
            <a:r>
              <a:rPr lang="en-GB" sz="2400" dirty="0">
                <a:effectLst/>
                <a:latin typeface="Calibri" panose="020F0502020204030204" pitchFamily="34" charset="0"/>
              </a:rPr>
              <a:t>First create the flowchart (lecture) </a:t>
            </a:r>
          </a:p>
          <a:p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457200" indent="-457200">
              <a:buAutoNum type="alphaLcParenR"/>
            </a:pPr>
            <a:r>
              <a:rPr lang="en-GB" sz="2400" dirty="0">
                <a:effectLst/>
                <a:latin typeface="Calibri" panose="020F0502020204030204" pitchFamily="34" charset="0"/>
              </a:rPr>
              <a:t>Write the program (tutorial)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93605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 – else statements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8267" y="1802830"/>
            <a:ext cx="74384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Two Outcomes - Get the program to do something if statement is false. </a:t>
            </a:r>
          </a:p>
          <a:p>
            <a:endParaRPr lang="en-GB" sz="28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Flow chart: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8203E-E71C-25C7-8D17-FC8C0DE17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036" y="2662518"/>
            <a:ext cx="5187142" cy="4195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Tutorial Example 1b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3649" y="1821984"/>
            <a:ext cx="116168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Get the program to do something if statement is false using “else” keyword.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a = int(input('Enter number: ‘))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a == 10: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print('a is equal to ten’)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print('a is not equal to ten’) </a:t>
            </a:r>
            <a:endParaRPr lang="en-GB" sz="2400" dirty="0">
              <a:effectLst/>
            </a:endParaRP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print('Not in the if or else block’)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Print first message if expression is true, otherwise print second message. </a:t>
            </a:r>
          </a:p>
          <a:p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9445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If-else Example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3649" y="1821984"/>
            <a:ext cx="116168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Get the program to do something if statement is false using “else” keyword.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a = int(input('Enter number: ‘))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a == 10: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	print('a is equal to ten’)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print('a is not equal to ten’) </a:t>
            </a:r>
            <a:endParaRPr lang="en-GB" sz="2400" dirty="0">
              <a:effectLst/>
            </a:endParaRPr>
          </a:p>
          <a:p>
            <a:endParaRPr lang="en-GB" sz="2400" dirty="0"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print('Not in the if or else block’)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Print first message if expression is true, otherwise print second message. </a:t>
            </a:r>
          </a:p>
          <a:p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2024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If-else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92074" y="1821984"/>
            <a:ext cx="1161681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Remember </a:t>
            </a:r>
            <a:r>
              <a:rPr lang="en-GB" sz="2400" b="1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ZeroDivisionError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  <a:b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Error if attempt to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divide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 zero.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Here is an example solution.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b = int(input("Number for division: "))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b != 0 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x = 100/b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print("Could not divide by zero")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89880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Tutorial Q2b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92074" y="1821984"/>
            <a:ext cx="94849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/>
                <a:latin typeface="ArialMT"/>
              </a:rPr>
              <a:t>• </a:t>
            </a:r>
            <a:r>
              <a:rPr lang="en-GB" sz="2800" dirty="0">
                <a:effectLst/>
                <a:latin typeface="Calibri" panose="020F0502020204030204" pitchFamily="34" charset="0"/>
              </a:rPr>
              <a:t>Tutorial Q2b. Write a program to display “FAIL” if the mark entered is less than 40, otherwise it should display “PASS”. </a:t>
            </a:r>
          </a:p>
          <a:p>
            <a:endParaRPr lang="en-GB" sz="2800" dirty="0">
              <a:latin typeface="Calibri" panose="020F0502020204030204" pitchFamily="34" charset="0"/>
            </a:endParaRPr>
          </a:p>
          <a:p>
            <a:endParaRPr lang="en-GB" sz="2800" dirty="0">
              <a:effectLst/>
            </a:endParaRPr>
          </a:p>
          <a:p>
            <a:pPr marL="457200" indent="-457200">
              <a:buAutoNum type="alphaLcParenR"/>
            </a:pPr>
            <a:r>
              <a:rPr lang="en-GB" sz="2800" dirty="0">
                <a:effectLst/>
                <a:latin typeface="Calibri" panose="020F0502020204030204" pitchFamily="34" charset="0"/>
              </a:rPr>
              <a:t>Create the flowchart (lecture). </a:t>
            </a:r>
          </a:p>
          <a:p>
            <a:endParaRPr lang="en-GB" sz="2800" dirty="0">
              <a:effectLst/>
              <a:latin typeface="Calibri" panose="020F0502020204030204" pitchFamily="34" charset="0"/>
            </a:endParaRPr>
          </a:p>
          <a:p>
            <a:pPr marL="457200" indent="-457200">
              <a:buAutoNum type="alphaLcParenR"/>
            </a:pPr>
            <a:r>
              <a:rPr lang="en-GB" sz="2800" dirty="0">
                <a:effectLst/>
                <a:latin typeface="Calibri" panose="020F0502020204030204" pitchFamily="34" charset="0"/>
              </a:rPr>
              <a:t> Then write the code (tutorial). </a:t>
            </a:r>
            <a:endParaRPr lang="en-GB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73619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elif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Additional Conditions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72196" y="1816723"/>
            <a:ext cx="33823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Give the program additional conditions.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See general flowchart on the right.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B5DBA-B626-CAF5-82AF-0B94DA7DE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53" y="1403626"/>
            <a:ext cx="40132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042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elif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Example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72195" y="1816723"/>
            <a:ext cx="1007301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800" dirty="0" err="1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elif</a:t>
            </a: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allows you to give the program another condition to try. </a:t>
            </a:r>
          </a:p>
          <a:p>
            <a:endParaRPr lang="en-GB" sz="28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If none match then run else-block (optional) </a:t>
            </a:r>
          </a:p>
          <a:p>
            <a:endParaRPr lang="en-GB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letter=“c”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if letter == “a”: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 (“Letter is a”) </a:t>
            </a:r>
          </a:p>
          <a:p>
            <a:r>
              <a:rPr lang="en-GB" sz="2400" dirty="0" err="1">
                <a:effectLst/>
                <a:latin typeface="CourierNewPSMT" panose="02070309020205020404" pitchFamily="49" charset="0"/>
              </a:rPr>
              <a:t>elif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letter == “b”: 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print(“Letter is b”)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400" dirty="0">
                <a:latin typeface="CourierNewPSMT" panose="02070309020205020404" pitchFamily="49" charset="0"/>
              </a:rPr>
              <a:t>	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print(“Letter is not a or b”) </a:t>
            </a:r>
            <a:endParaRPr lang="en-GB" sz="2400" dirty="0">
              <a:effectLst/>
            </a:endParaRP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044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elif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39036" y="5153915"/>
            <a:ext cx="107801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</a:rPr>
              <a:t>Can use multiple </a:t>
            </a:r>
            <a:r>
              <a:rPr lang="en-GB" sz="2000" dirty="0" err="1">
                <a:effectLst/>
                <a:latin typeface="CourierNewPSMT" panose="02070309020205020404" pitchFamily="49" charset="0"/>
              </a:rPr>
              <a:t>elif</a:t>
            </a:r>
            <a:r>
              <a:rPr lang="en-GB" sz="2000" dirty="0" err="1">
                <a:effectLst/>
                <a:latin typeface="Calibri" panose="020F0502020204030204" pitchFamily="34" charset="0"/>
              </a:rPr>
              <a:t>’s</a:t>
            </a:r>
            <a:r>
              <a:rPr lang="en-GB" sz="2000" dirty="0">
                <a:effectLst/>
                <a:latin typeface="Calibri" panose="020F0502020204030204" pitchFamily="34" charset="0"/>
              </a:rPr>
              <a:t>. </a:t>
            </a:r>
            <a:endParaRPr lang="en-GB" sz="2000" dirty="0">
              <a:effectLst/>
              <a:latin typeface="Aria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</a:rPr>
              <a:t>Test conditions for the first match. Only the </a:t>
            </a:r>
            <a:r>
              <a:rPr lang="en-GB" sz="2000" b="1" dirty="0">
                <a:effectLst/>
                <a:latin typeface="Calibri" panose="020F0502020204030204" pitchFamily="34" charset="0"/>
              </a:rPr>
              <a:t>first </a:t>
            </a:r>
            <a:r>
              <a:rPr lang="en-GB" sz="2000" dirty="0">
                <a:effectLst/>
                <a:latin typeface="Calibri" panose="020F0502020204030204" pitchFamily="34" charset="0"/>
              </a:rPr>
              <a:t>true branch runs (even if other conditions true). </a:t>
            </a:r>
            <a:endParaRPr lang="en-GB" sz="2000" dirty="0">
              <a:effectLst/>
              <a:latin typeface="Aria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effectLst/>
                <a:latin typeface="Calibri" panose="020F0502020204030204" pitchFamily="34" charset="0"/>
              </a:rPr>
              <a:t>If none match then run else-block (optional). </a:t>
            </a:r>
            <a:endParaRPr lang="en-GB" sz="2000" dirty="0">
              <a:effectLst/>
              <a:latin typeface="ArialMT"/>
            </a:endParaRPr>
          </a:p>
          <a:p>
            <a:endParaRPr lang="en-GB" sz="20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1" descr="page33image59116800">
            <a:extLst>
              <a:ext uri="{FF2B5EF4-FFF2-40B4-BE49-F238E27FC236}">
                <a16:creationId xmlns:a16="http://schemas.microsoft.com/office/drawing/2014/main" id="{C35C27E6-7A83-F999-637F-A1A22C329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25" y="1652330"/>
            <a:ext cx="7772400" cy="33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5488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Quiz Question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911225" y="1853366"/>
            <a:ext cx="108163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effectLst/>
                <a:latin typeface="CourierNewPSMT" panose="02070309020205020404" pitchFamily="49" charset="0"/>
              </a:rPr>
              <a:t>mark = int(input('Enter Mark’)) </a:t>
            </a: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if mark &gt;= 40: 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print('Satisfactory result’) </a:t>
            </a: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	print('You have failed’)</a:t>
            </a: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 </a:t>
            </a:r>
            <a:endParaRPr lang="en-GB" sz="2800" dirty="0">
              <a:effectLst/>
            </a:endParaRPr>
          </a:p>
          <a:p>
            <a:r>
              <a:rPr lang="en-GB" sz="2800" dirty="0">
                <a:effectLst/>
                <a:latin typeface="ArialMT"/>
              </a:rPr>
              <a:t>• </a:t>
            </a:r>
            <a:r>
              <a:rPr lang="en-GB" sz="2800" dirty="0">
                <a:effectLst/>
                <a:latin typeface="Calibri" panose="020F0502020204030204" pitchFamily="34" charset="0"/>
              </a:rPr>
              <a:t>Amend the above to display a message for high marks (70 or above)..... Two options on next slide. </a:t>
            </a:r>
            <a:endParaRPr lang="en-GB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9884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Quiz Question- Which is correct?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417739" y="1621138"/>
            <a:ext cx="112807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</a:rPr>
              <a:t>       </a:t>
            </a:r>
            <a:r>
              <a:rPr lang="en-GB" sz="2400" dirty="0">
                <a:effectLst/>
                <a:latin typeface="Calibri" panose="020F0502020204030204" pitchFamily="34" charset="0"/>
              </a:rPr>
              <a:t>#1  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if mark &gt;= 70: </a:t>
            </a:r>
          </a:p>
          <a:p>
            <a:pPr lvl="1"/>
            <a:r>
              <a:rPr lang="en-GB" sz="2400" dirty="0">
                <a:latin typeface="CourierNewPSMT" panose="02070309020205020404" pitchFamily="49" charset="0"/>
              </a:rPr>
              <a:t>	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print(’Exceptional result’) </a:t>
            </a: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  if mark &gt;= 40: </a:t>
            </a: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	  print(’Satisfactory result’) </a:t>
            </a: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  else:</a:t>
            </a:r>
          </a:p>
          <a:p>
            <a:pPr lvl="1"/>
            <a:r>
              <a:rPr lang="en-GB" sz="2400" dirty="0">
                <a:latin typeface="CourierNewPSMT" panose="02070309020205020404" pitchFamily="49" charset="0"/>
              </a:rPr>
              <a:t>	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print(’You have failed’) </a:t>
            </a:r>
            <a:endParaRPr lang="en-GB" sz="2400" dirty="0"/>
          </a:p>
          <a:p>
            <a:pPr lvl="1"/>
            <a:endParaRPr lang="en-GB" sz="2400" dirty="0">
              <a:latin typeface="CourierNewPSMT" panose="02070309020205020404" pitchFamily="49" charset="0"/>
            </a:endParaRPr>
          </a:p>
          <a:p>
            <a:pPr lvl="1"/>
            <a:r>
              <a:rPr lang="en-GB" sz="2400" dirty="0">
                <a:effectLst/>
                <a:latin typeface="Calibri" panose="020F0502020204030204" pitchFamily="34" charset="0"/>
              </a:rPr>
              <a:t>#2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if mark &gt;= 70:</a:t>
            </a:r>
          </a:p>
          <a:p>
            <a:pPr lvl="1"/>
            <a:r>
              <a:rPr lang="en-GB" sz="2400" dirty="0">
                <a:latin typeface="CourierNewPSMT" panose="02070309020205020404" pitchFamily="49" charset="0"/>
              </a:rPr>
              <a:t>	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print(’Exceptional result’) </a:t>
            </a:r>
            <a:endParaRPr lang="en-GB" sz="2400" dirty="0">
              <a:effectLst/>
              <a:latin typeface="Calibri" panose="020F0502020204030204" pitchFamily="34" charset="0"/>
            </a:endParaRP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  </a:t>
            </a:r>
            <a:r>
              <a:rPr lang="en-GB" sz="2400" dirty="0" err="1">
                <a:effectLst/>
                <a:latin typeface="CourierNewPSMT" panose="02070309020205020404" pitchFamily="49" charset="0"/>
              </a:rPr>
              <a:t>elif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 mark &gt;= 40: </a:t>
            </a:r>
          </a:p>
          <a:p>
            <a:pPr lvl="1"/>
            <a:r>
              <a:rPr lang="en-GB" sz="2400" dirty="0">
                <a:latin typeface="CourierNewPSMT" panose="02070309020205020404" pitchFamily="49" charset="0"/>
              </a:rPr>
              <a:t>	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print(’Satisfactory result’) </a:t>
            </a:r>
          </a:p>
          <a:p>
            <a:pPr lvl="1"/>
            <a:r>
              <a:rPr lang="en-GB" sz="2400" dirty="0">
                <a:effectLst/>
                <a:latin typeface="CourierNewPSMT" panose="02070309020205020404" pitchFamily="49" charset="0"/>
              </a:rPr>
              <a:t>  else:</a:t>
            </a:r>
          </a:p>
          <a:p>
            <a:pPr lvl="1"/>
            <a:r>
              <a:rPr lang="en-GB" sz="2400" dirty="0">
                <a:latin typeface="CourierNewPSMT" panose="02070309020205020404" pitchFamily="49" charset="0"/>
              </a:rPr>
              <a:t>	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print(’You have failed’) </a:t>
            </a: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8300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Practice Quiz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95110" y="1577595"/>
            <a:ext cx="112807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Add an additional condition at the start of the program to check if the exam mark is invalid (less than 0 or greater than 100):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if mark &gt;= 70: 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print(’Exceptional result!’) </a:t>
            </a:r>
          </a:p>
          <a:p>
            <a:r>
              <a:rPr lang="en-GB" sz="2800" dirty="0" err="1">
                <a:effectLst/>
                <a:latin typeface="CourierNewPSMT" panose="02070309020205020404" pitchFamily="49" charset="0"/>
              </a:rPr>
              <a:t>elif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 mark &gt;= 40: 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print(’Satisfactory result!’) 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e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lse: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print(’You have failed.’) </a:t>
            </a:r>
            <a:endParaRPr lang="en-GB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55173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795111" y="1577595"/>
            <a:ext cx="101922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Testing your programs</a:t>
            </a:r>
          </a:p>
          <a:p>
            <a:b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Include a test of the boundary of your program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decisions.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E.g., if a decision checks whether an input is less than 100, test with an input of 99 and 100. </a:t>
            </a:r>
          </a:p>
        </p:txBody>
      </p:sp>
    </p:spTree>
    <p:extLst>
      <p:ext uri="{BB962C8B-B14F-4D97-AF65-F5344CB8AC3E}">
        <p14:creationId xmlns:p14="http://schemas.microsoft.com/office/powerpoint/2010/main" val="1605273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312667" cy="534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Boolian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Values (and)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9625" y="1201620"/>
            <a:ext cx="10192204" cy="253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Evaluate two expressions. Evaluates to True if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both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two values are True.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x = 10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y = 20</a:t>
            </a:r>
            <a:br>
              <a:rPr lang="en-GB" sz="2400" dirty="0">
                <a:effectLst/>
                <a:latin typeface="CourierNewPSMT" panose="02070309020205020404" pitchFamily="49" charset="0"/>
              </a:rPr>
            </a:br>
            <a:r>
              <a:rPr lang="en-GB" sz="2400" dirty="0">
                <a:effectLst/>
                <a:latin typeface="CourierNewPSMT" panose="02070309020205020404" pitchFamily="49" charset="0"/>
              </a:rPr>
              <a:t>print(x == 10 </a:t>
            </a:r>
            <a:r>
              <a:rPr lang="en-GB" sz="2400" b="1" dirty="0">
                <a:effectLst/>
                <a:latin typeface="CourierNewPS"/>
              </a:rPr>
              <a:t>and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y == 20) #True </a:t>
            </a:r>
            <a:endParaRPr lang="en-GB" sz="2400" dirty="0"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C9F372-8760-2478-18CF-C56E440BB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7760"/>
              </p:ext>
            </p:extLst>
          </p:nvPr>
        </p:nvGraphicFramePr>
        <p:xfrm>
          <a:off x="911225" y="3750927"/>
          <a:ext cx="5592082" cy="2590800"/>
        </p:xfrm>
        <a:graphic>
          <a:graphicData uri="http://schemas.openxmlformats.org/drawingml/2006/table">
            <a:tbl>
              <a:tblPr/>
              <a:tblGrid>
                <a:gridCol w="2585584">
                  <a:extLst>
                    <a:ext uri="{9D8B030D-6E8A-4147-A177-3AD203B41FA5}">
                      <a16:colId xmlns:a16="http://schemas.microsoft.com/office/drawing/2014/main" val="1459992481"/>
                    </a:ext>
                  </a:extLst>
                </a:gridCol>
                <a:gridCol w="3006498">
                  <a:extLst>
                    <a:ext uri="{9D8B030D-6E8A-4147-A177-3AD203B41FA5}">
                      <a16:colId xmlns:a16="http://schemas.microsoft.com/office/drawing/2014/main" val="3315585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 and B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Evaluates to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04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and 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57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True and 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False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97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False and 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938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False and 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734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70406E-A637-3B03-0F86-B0D266D49F99}"/>
              </a:ext>
            </a:extLst>
          </p:cNvPr>
          <p:cNvSpPr txBox="1"/>
          <p:nvPr/>
        </p:nvSpPr>
        <p:spPr>
          <a:xfrm>
            <a:off x="838655" y="6343528"/>
            <a:ext cx="172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dirty="0">
                <a:effectLst/>
                <a:latin typeface="Calibri" panose="020F0502020204030204" pitchFamily="34" charset="0"/>
              </a:rPr>
              <a:t>Truth table: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62304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312667" cy="534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Boolian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Values (and)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9624" y="1201620"/>
            <a:ext cx="119774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This program validates user input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x=int(input(“Enter a number between 1 and 100:”)) </a:t>
            </a:r>
          </a:p>
          <a:p>
            <a:endParaRPr lang="en-GB" sz="2800" dirty="0">
              <a:latin typeface="CourierNewPSMT" panose="02070309020205020404" pitchFamily="49" charset="0"/>
            </a:endParaRP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if x&gt;=1 and x&lt;=100: 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print(“Valid number”) </a:t>
            </a: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else:</a:t>
            </a:r>
          </a:p>
          <a:p>
            <a:r>
              <a:rPr lang="en-GB" sz="2800" dirty="0">
                <a:latin typeface="CourierNewPSMT" panose="02070309020205020404" pitchFamily="49" charset="0"/>
              </a:rPr>
              <a:t>	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print(“Your number is not valid”)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Trace which lines would be printed for x: </a:t>
            </a:r>
            <a:r>
              <a:rPr lang="en-GB" sz="2400" b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0, 1, 100, 101</a:t>
            </a:r>
            <a:br>
              <a:rPr lang="en-GB" sz="2400" b="1" dirty="0">
                <a:effectLst/>
                <a:latin typeface="Calibri" panose="020F0502020204030204" pitchFamily="34" charset="0"/>
              </a:rPr>
            </a:br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0126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312667" cy="534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Boolian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Values (or)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809624" y="1100022"/>
            <a:ext cx="1197746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Evaluate two expressions. Evaluates to True if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either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 </a:t>
            </a: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two values is True. </a:t>
            </a:r>
          </a:p>
          <a:p>
            <a:endParaRPr lang="en-GB" sz="2400" dirty="0">
              <a:effectLst/>
            </a:endParaRPr>
          </a:p>
          <a:p>
            <a:r>
              <a:rPr lang="en-GB" sz="2800" dirty="0">
                <a:effectLst/>
                <a:latin typeface="CourierNewPSMT" panose="02070309020205020404" pitchFamily="49" charset="0"/>
              </a:rPr>
              <a:t>x = 10</a:t>
            </a:r>
            <a:br>
              <a:rPr lang="en-GB" sz="2800" dirty="0">
                <a:effectLst/>
                <a:latin typeface="CourierNewPSMT" panose="02070309020205020404" pitchFamily="49" charset="0"/>
              </a:rPr>
            </a:br>
            <a:r>
              <a:rPr lang="en-GB" sz="2800" dirty="0">
                <a:effectLst/>
                <a:latin typeface="CourierNewPSMT" panose="02070309020205020404" pitchFamily="49" charset="0"/>
              </a:rPr>
              <a:t>y = 20</a:t>
            </a:r>
            <a:br>
              <a:rPr lang="en-GB" sz="2800" dirty="0">
                <a:effectLst/>
                <a:latin typeface="CourierNewPSMT" panose="02070309020205020404" pitchFamily="49" charset="0"/>
              </a:rPr>
            </a:br>
            <a:r>
              <a:rPr lang="en-GB" sz="2800" dirty="0">
                <a:effectLst/>
                <a:latin typeface="CourierNewPSMT" panose="02070309020205020404" pitchFamily="49" charset="0"/>
              </a:rPr>
              <a:t>print(x == 3 </a:t>
            </a:r>
            <a:r>
              <a:rPr lang="en-GB" sz="2800" b="1" dirty="0">
                <a:effectLst/>
                <a:latin typeface="CourierNewPS"/>
              </a:rPr>
              <a:t>or </a:t>
            </a:r>
            <a:r>
              <a:rPr lang="en-GB" sz="2800" dirty="0">
                <a:effectLst/>
                <a:latin typeface="CourierNewPSMT" panose="02070309020205020404" pitchFamily="49" charset="0"/>
              </a:rPr>
              <a:t>y == 20) #True </a:t>
            </a:r>
            <a:endParaRPr lang="en-GB" sz="2800" dirty="0"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2F5993-164E-7EBB-3E8A-42B97A5E0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895250"/>
              </p:ext>
            </p:extLst>
          </p:nvPr>
        </p:nvGraphicFramePr>
        <p:xfrm>
          <a:off x="911225" y="3765439"/>
          <a:ext cx="5605689" cy="2590800"/>
        </p:xfrm>
        <a:graphic>
          <a:graphicData uri="http://schemas.openxmlformats.org/drawingml/2006/table">
            <a:tbl>
              <a:tblPr/>
              <a:tblGrid>
                <a:gridCol w="2499632">
                  <a:extLst>
                    <a:ext uri="{9D8B030D-6E8A-4147-A177-3AD203B41FA5}">
                      <a16:colId xmlns:a16="http://schemas.microsoft.com/office/drawing/2014/main" val="1564964383"/>
                    </a:ext>
                  </a:extLst>
                </a:gridCol>
                <a:gridCol w="3106057">
                  <a:extLst>
                    <a:ext uri="{9D8B030D-6E8A-4147-A177-3AD203B41FA5}">
                      <a16:colId xmlns:a16="http://schemas.microsoft.com/office/drawing/2014/main" val="24273114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8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 or B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Evaluates to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73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or 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True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9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or False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89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False or 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90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False or 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False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6808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857AAD-98CF-AA25-0CCA-B2966547239D}"/>
              </a:ext>
            </a:extLst>
          </p:cNvPr>
          <p:cNvSpPr txBox="1"/>
          <p:nvPr/>
        </p:nvSpPr>
        <p:spPr>
          <a:xfrm>
            <a:off x="838655" y="6343528"/>
            <a:ext cx="172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dirty="0">
                <a:effectLst/>
                <a:latin typeface="Calibri" panose="020F0502020204030204" pitchFamily="34" charset="0"/>
              </a:rPr>
              <a:t>Truth table: 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69237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9"/>
            <a:ext cx="9312667" cy="534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Boolian</a:t>
            </a:r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Values (not)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F05A0-9F25-FCC2-A253-65D641B7794C}"/>
              </a:ext>
            </a:extLst>
          </p:cNvPr>
          <p:cNvSpPr txBox="1"/>
          <p:nvPr/>
        </p:nvSpPr>
        <p:spPr>
          <a:xfrm>
            <a:off x="664484" y="1100022"/>
            <a:ext cx="1049700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ArialMT"/>
              </a:rPr>
              <a:t>•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 operator evaluates to the opposite Boolean value </a:t>
            </a:r>
            <a:r>
              <a:rPr lang="en-GB" sz="2400" dirty="0">
                <a:solidFill>
                  <a:srgbClr val="191919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– Inverts a condition.</a:t>
            </a:r>
          </a:p>
          <a:p>
            <a:r>
              <a:rPr lang="en-GB" sz="2400" dirty="0">
                <a:solidFill>
                  <a:srgbClr val="191919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True expressions </a:t>
            </a:r>
            <a:r>
              <a:rPr lang="en-GB" sz="2400" dirty="0">
                <a:effectLst/>
                <a:latin typeface="Calibri" panose="020F0502020204030204" pitchFamily="34" charset="0"/>
              </a:rPr>
              <a:t>evaluate to False </a:t>
            </a:r>
            <a:r>
              <a:rPr lang="en-GB" sz="2400" dirty="0">
                <a:effectLst/>
                <a:latin typeface="ArialMT"/>
              </a:rPr>
              <a:t>• </a:t>
            </a:r>
            <a:r>
              <a:rPr lang="en-GB" sz="2400" dirty="0">
                <a:effectLst/>
                <a:latin typeface="Calibri" panose="020F0502020204030204" pitchFamily="34" charset="0"/>
              </a:rPr>
              <a:t>False expressions evaluate to True. </a:t>
            </a:r>
            <a:endParaRPr lang="en-GB" sz="2400" dirty="0">
              <a:effectLst/>
            </a:endParaRPr>
          </a:p>
          <a:p>
            <a:endParaRPr lang="en-GB" sz="2400" dirty="0">
              <a:effectLst/>
              <a:latin typeface="CourierNewPSMT" panose="02070309020205020404" pitchFamily="49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x = 10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print(not x == 10)   #False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print(not x == 3) </a:t>
            </a:r>
            <a:r>
              <a:rPr lang="en-GB" sz="2400" i="1" dirty="0">
                <a:effectLst/>
                <a:latin typeface="Calibri" panose="020F0502020204030204" pitchFamily="34" charset="0"/>
              </a:rPr>
              <a:t>: </a:t>
            </a:r>
            <a:r>
              <a:rPr lang="en-GB" sz="2400" i="1" dirty="0"/>
              <a:t>      </a:t>
            </a:r>
            <a:r>
              <a:rPr lang="en-GB" sz="2400" dirty="0">
                <a:effectLst/>
                <a:latin typeface="CourierNewPSMT" panose="02070309020205020404" pitchFamily="49" charset="0"/>
              </a:rPr>
              <a:t>#True </a:t>
            </a:r>
            <a:endParaRPr lang="en-GB" sz="24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57AAD-98CF-AA25-0CCA-B2966547239D}"/>
              </a:ext>
            </a:extLst>
          </p:cNvPr>
          <p:cNvSpPr txBox="1"/>
          <p:nvPr/>
        </p:nvSpPr>
        <p:spPr>
          <a:xfrm>
            <a:off x="838655" y="5821014"/>
            <a:ext cx="172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1" dirty="0">
                <a:effectLst/>
                <a:latin typeface="Calibri" panose="020F0502020204030204" pitchFamily="34" charset="0"/>
              </a:rPr>
              <a:t>Truth table: </a:t>
            </a:r>
            <a:endParaRPr lang="en-GB" dirty="0">
              <a:effectLst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C01F67-E225-BFA6-0039-AB5F3B8D0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03282"/>
              </p:ext>
            </p:extLst>
          </p:nvPr>
        </p:nvGraphicFramePr>
        <p:xfrm>
          <a:off x="911225" y="4167483"/>
          <a:ext cx="4474030" cy="1554480"/>
        </p:xfrm>
        <a:graphic>
          <a:graphicData uri="http://schemas.openxmlformats.org/drawingml/2006/table">
            <a:tbl>
              <a:tblPr/>
              <a:tblGrid>
                <a:gridCol w="2237015">
                  <a:extLst>
                    <a:ext uri="{9D8B030D-6E8A-4147-A177-3AD203B41FA5}">
                      <a16:colId xmlns:a16="http://schemas.microsoft.com/office/drawing/2014/main" val="3027909888"/>
                    </a:ext>
                  </a:extLst>
                </a:gridCol>
                <a:gridCol w="2237015">
                  <a:extLst>
                    <a:ext uri="{9D8B030D-6E8A-4147-A177-3AD203B41FA5}">
                      <a16:colId xmlns:a16="http://schemas.microsoft.com/office/drawing/2014/main" val="150581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not A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Evaluates to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09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not True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False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22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800">
                          <a:effectLst/>
                          <a:latin typeface="Calibri" panose="020F0502020204030204" pitchFamily="34" charset="0"/>
                        </a:rPr>
                        <a:t>not False </a:t>
                      </a:r>
                      <a:endParaRPr lang="en-GB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effectLst/>
                          <a:latin typeface="Calibri" panose="020F0502020204030204" pitchFamily="34" charset="0"/>
                        </a:rPr>
                        <a:t>True 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895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850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3F3E2-EF0C-DD60-7C29-2D13C930E4B5}"/>
              </a:ext>
            </a:extLst>
          </p:cNvPr>
          <p:cNvSpPr/>
          <p:nvPr/>
        </p:nvSpPr>
        <p:spPr>
          <a:xfrm>
            <a:off x="0" y="4099389"/>
            <a:ext cx="375920" cy="22709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519C99-AA9F-E95C-13AB-EA3546581D88}"/>
              </a:ext>
            </a:extLst>
          </p:cNvPr>
          <p:cNvSpPr txBox="1"/>
          <p:nvPr/>
        </p:nvSpPr>
        <p:spPr>
          <a:xfrm rot="16200000">
            <a:off x="-930350" y="5043232"/>
            <a:ext cx="2246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Software Development 1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4381F4-C384-7795-00CC-E8F968D916B6}"/>
              </a:ext>
            </a:extLst>
          </p:cNvPr>
          <p:cNvSpPr txBox="1">
            <a:spLocks/>
          </p:cNvSpPr>
          <p:nvPr/>
        </p:nvSpPr>
        <p:spPr>
          <a:xfrm>
            <a:off x="838199" y="583178"/>
            <a:ext cx="9312667" cy="8449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Boolean Variable/ Operators: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9813B3-227B-FC0A-6816-7D59301A859C}"/>
              </a:ext>
            </a:extLst>
          </p:cNvPr>
          <p:cNvSpPr txBox="1"/>
          <p:nvPr/>
        </p:nvSpPr>
        <p:spPr>
          <a:xfrm>
            <a:off x="792074" y="1821984"/>
            <a:ext cx="94849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• This tests whether both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zero: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x == 0 and y == 0 </a:t>
            </a:r>
          </a:p>
          <a:p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1. Now state how you test whether at least one of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x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</a:t>
            </a:r>
            <a:r>
              <a:rPr lang="en-GB" sz="2400" i="1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 </a:t>
            </a:r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zero. </a:t>
            </a:r>
          </a:p>
          <a:p>
            <a:endParaRPr lang="en-GB" sz="2400" dirty="0">
              <a:effectLst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2400" dirty="0"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2. Which is correct- a, b or c? </a:t>
            </a: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a)  age &lt; 17 or &gt; 150   	 	 #don’t drive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b)  age &lt; 17 or age &gt; 150 	 #don’t drive </a:t>
            </a:r>
            <a:endParaRPr lang="en-GB" sz="2400" dirty="0">
              <a:effectLst/>
            </a:endParaRPr>
          </a:p>
          <a:p>
            <a:r>
              <a:rPr lang="en-GB" sz="2400" dirty="0">
                <a:effectLst/>
                <a:latin typeface="CourierNewPSMT" panose="02070309020205020404" pitchFamily="49" charset="0"/>
              </a:rPr>
              <a:t>c)  age &lt; 17 and age &gt; 150 	 #don’t drive </a:t>
            </a:r>
          </a:p>
          <a:p>
            <a:endParaRPr lang="en-GB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715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_24_25" id="{E6E68DDE-B17D-BD4B-A1A6-9E243C91552E}" vid="{5DC93068-F8FE-8845-96F9-B5F116FF86B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2019</Words>
  <Application>Microsoft Macintosh PowerPoint</Application>
  <PresentationFormat>Widescreen</PresentationFormat>
  <Paragraphs>359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Aptos ExtraBold</vt:lpstr>
      <vt:lpstr>Arial</vt:lpstr>
      <vt:lpstr>ArialMT</vt:lpstr>
      <vt:lpstr>Calibri</vt:lpstr>
      <vt:lpstr>Calibri Light</vt:lpstr>
      <vt:lpstr>Courier New</vt:lpstr>
      <vt:lpstr>CourierNewPS</vt:lpstr>
      <vt:lpstr>CourierNewPSMT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Sean Roberts</dc:creator>
  <cp:lastModifiedBy>Nimuthu 20250244</cp:lastModifiedBy>
  <cp:revision>17</cp:revision>
  <dcterms:created xsi:type="dcterms:W3CDTF">2024-10-04T10:19:12Z</dcterms:created>
  <dcterms:modified xsi:type="dcterms:W3CDTF">2025-10-13T05:45:35Z</dcterms:modified>
</cp:coreProperties>
</file>